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Before rework</c:v>
                </c:pt>
              </c:strCache>
            </c:strRef>
          </c:tx>
          <c:spPr>
            <a:solidFill>
              <a:srgbClr val="D0D0D0"/>
            </a:solidFill>
            <a:effectLst/>
          </c:spPr>
          <c:invertIfNegative val="0"/>
          <c:dLbls>
            <c:numFmt formatCode="0" sourceLinked="0"/>
            <c:txPr>
              <a:bodyPr/>
              <a:lstStyle/>
              <a:p>
                <a:pPr>
                  <a:defRPr b="0" i="0" strike="noStrike" sz="900" u="none">
                    <a:solidFill>
                      <a:srgbClr val="051C2C"/>
                    </a:solidFill>
                    <a:latin typeface="Arial"/>
                  </a:defRPr>
                </a:pPr>
              </a:p>
            </c:txPr>
            <c:showLegendKey val="0"/>
            <c:showVal val="1"/>
            <c:showCatName val="0"/>
            <c:showSerName val="0"/>
            <c:showPercent val="0"/>
            <c:showBubbleSize val="0"/>
            <c:showLeaderLines val="0"/>
          </c:dLbls>
          <c:cat>
            <c:multiLvlStrRef>
              <c:f>Sheet1!$A$2:$A$10</c:f>
              <c:multiLvlStrCache>
                <c:ptCount val="9"/>
                <c:lvl>
                  <c:pt idx="0">
                    <c:v>Other</c:v>
                  </c:pt>
                  <c:pt idx="1">
                    <c:v>Notices &amp; admin</c:v>
                  </c:pt>
                  <c:pt idx="2">
                    <c:v>Club events</c:v>
                  </c:pt>
                  <c:pt idx="3">
                    <c:v>Talks &amp; seminars</c:v>
                  </c:pt>
                  <c:pt idx="4">
                    <c:v>Workshops</c:v>
                  </c:pt>
                  <c:pt idx="5">
                    <c:v>Placement</c:v>
                  </c:pt>
                  <c:pt idx="6">
                    <c:v>Classes</c:v>
                  </c:pt>
                  <c:pt idx="7">
                    <c:v>Assignments</c:v>
                  </c:pt>
                  <c:pt idx="8">
                    <c:v>Exams &amp; quizzes</c:v>
                  </c:pt>
                </c:lvl>
              </c:multiLvlStrCache>
            </c:multiLvlStrRef>
          </c:cat>
          <c:val>
            <c:numRef>
              <c:f>Sheet1!$B$2:$B$10</c:f>
              <c:numCache>
                <c:formatCode>General</c:formatCode>
                <c:ptCount val="9"/>
                <c:pt idx="0">
                  <c:v>118</c:v>
                </c:pt>
                <c:pt idx="1">
                  <c:v>1</c:v>
                </c:pt>
                <c:pt idx="2">
                  <c:v>5</c:v>
                </c:pt>
                <c:pt idx="3">
                  <c:v>0</c:v>
                </c:pt>
                <c:pt idx="4">
                  <c:v>3</c:v>
                </c:pt>
                <c:pt idx="5">
                  <c:v>0</c:v>
                </c:pt>
                <c:pt idx="6">
                  <c:v>5</c:v>
                </c:pt>
                <c:pt idx="7">
                  <c:v>0</c:v>
                </c:pt>
                <c:pt idx="8">
                  <c:v>0</c:v>
                </c:pt>
              </c:numCache>
            </c:numRef>
          </c:val>
        </c:ser>
        <c:ser>
          <c:idx val="1"/>
          <c:order val="1"/>
          <c:tx>
            <c:strRef>
              <c:f>Sheet1!$C$1</c:f>
              <c:strCache>
                <c:ptCount val="1"/>
                <c:pt idx="0">
                  <c:v>After rework</c:v>
                </c:pt>
              </c:strCache>
            </c:strRef>
          </c:tx>
          <c:spPr>
            <a:solidFill>
              <a:srgbClr val="00A9F4"/>
            </a:solidFill>
            <a:effectLst/>
          </c:spPr>
          <c:invertIfNegative val="0"/>
          <c:dLbls>
            <c:numFmt formatCode="0" sourceLinked="0"/>
            <c:txPr>
              <a:bodyPr/>
              <a:lstStyle/>
              <a:p>
                <a:pPr>
                  <a:defRPr b="0" i="0" strike="noStrike" sz="900" u="none">
                    <a:solidFill>
                      <a:srgbClr val="051C2C"/>
                    </a:solidFill>
                    <a:latin typeface="Arial"/>
                  </a:defRPr>
                </a:pPr>
              </a:p>
            </c:txPr>
            <c:showLegendKey val="0"/>
            <c:showVal val="1"/>
            <c:showCatName val="0"/>
            <c:showSerName val="0"/>
            <c:showPercent val="0"/>
            <c:showBubbleSize val="0"/>
            <c:showLeaderLines val="0"/>
          </c:dLbls>
          <c:cat>
            <c:multiLvlStrRef>
              <c:f>Sheet1!$A$2:$A$10</c:f>
              <c:multiLvlStrCache>
                <c:ptCount val="9"/>
                <c:lvl>
                  <c:pt idx="0">
                    <c:v>Other</c:v>
                  </c:pt>
                  <c:pt idx="1">
                    <c:v>Notices &amp; admin</c:v>
                  </c:pt>
                  <c:pt idx="2">
                    <c:v>Club events</c:v>
                  </c:pt>
                  <c:pt idx="3">
                    <c:v>Talks &amp; seminars</c:v>
                  </c:pt>
                  <c:pt idx="4">
                    <c:v>Workshops</c:v>
                  </c:pt>
                  <c:pt idx="5">
                    <c:v>Placement</c:v>
                  </c:pt>
                  <c:pt idx="6">
                    <c:v>Classes</c:v>
                  </c:pt>
                  <c:pt idx="7">
                    <c:v>Assignments</c:v>
                  </c:pt>
                  <c:pt idx="8">
                    <c:v>Exams &amp; quizzes</c:v>
                  </c:pt>
                </c:lvl>
              </c:multiLvlStrCache>
            </c:multiLvlStrRef>
          </c:cat>
          <c:val>
            <c:numRef>
              <c:f>Sheet1!$C$2:$C$10</c:f>
              <c:numCache>
                <c:formatCode>General</c:formatCode>
                <c:ptCount val="9"/>
                <c:pt idx="0">
                  <c:v>30</c:v>
                </c:pt>
                <c:pt idx="1">
                  <c:v>23</c:v>
                </c:pt>
                <c:pt idx="2">
                  <c:v>9</c:v>
                </c:pt>
                <c:pt idx="3">
                  <c:v>6</c:v>
                </c:pt>
                <c:pt idx="4">
                  <c:v>4</c:v>
                </c:pt>
                <c:pt idx="5">
                  <c:v>3</c:v>
                </c:pt>
                <c:pt idx="6">
                  <c:v>47</c:v>
                </c:pt>
                <c:pt idx="7">
                  <c:v>8</c:v>
                </c:pt>
                <c:pt idx="8">
                  <c:v>3</c:v>
                </c:pt>
              </c:numCache>
            </c:numRef>
          </c:val>
        </c:ser>
        <c:dLbls>
          <c:numFmt formatCode="0" sourceLinked="0"/>
          <c:txPr>
            <a:bodyPr/>
            <a:lstStyle/>
            <a:p>
              <a:pPr>
                <a:defRPr b="0" i="0" strike="noStrike" sz="900" u="none">
                  <a:solidFill>
                    <a:srgbClr val="051C2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051C2C"/>
                </a:solidFill>
                <a:latin typeface="Arial"/>
              </a:defRPr>
            </a:pPr>
            <a:endParaRPr lang="en-US"/>
          </a:p>
        </c:txPr>
        <c:crossAx val="2094734552"/>
        <c:crosses val="autoZero"/>
        <c:auto val="1"/>
        <c:lblAlgn val="ctr"/>
        <c:noMultiLvlLbl val="1"/>
      </c:catAx>
      <c:valAx>
        <c:axId val="2094734552"/>
        <c:scaling>
          <c:orientation val="minMax"/>
          <c:max val="130"/>
          <c:min val="0"/>
        </c:scaling>
        <c:delete val="0"/>
        <c:axPos val="b"/>
        <c:majorGridlines>
          <c:spPr>
            <a:ln w="6350" cap="flat">
              <a:solidFill>
                <a:srgbClr val="EDEDED"/>
              </a:solidFill>
              <a:prstDash val="solid"/>
              <a:round/>
            </a:ln>
          </c:spPr>
        </c:majorGridlines>
        <c:numFmt formatCode="General" sourceLinked="0"/>
        <c:majorTickMark val="out"/>
        <c:minorTickMark val="none"/>
        <c:tickLblPos val="low"/>
        <c:spPr>
          <a:ln w="12700" cap="flat">
            <a:noFill/>
            <a:prstDash val="solid"/>
            <a:round/>
          </a:ln>
        </c:spPr>
        <c:txPr>
          <a:bodyPr/>
          <a:lstStyle/>
          <a:p>
            <a:pPr>
              <a:defRPr sz="900" b="0" i="0" u="none" strike="noStrike">
                <a:solidFill>
                  <a:srgbClr val="7F7F7F"/>
                </a:solidFill>
                <a:latin typeface="Arial"/>
              </a:defRPr>
            </a:pPr>
            <a:endParaRPr lang="en-US"/>
          </a:p>
        </c:txPr>
        <c:crossAx val="2094734554"/>
        <c:crosses val="autoZero"/>
        <c:crossBetween val="between"/>
      </c:valAx>
      <c:spPr>
        <a:noFill/>
        <a:ln w="12700" cap="flat">
          <a:solidFill>
            <a:srgbClr val="FFFFFF"/>
          </a:solidFill>
        </a:ln>
        <a:effectLst/>
      </c:spPr>
    </c:plotArea>
    <c:legend>
      <c:legendPos val="t"/>
      <c:overlay val="0"/>
      <c:txPr>
        <a:bodyPr/>
        <a:lstStyle/>
        <a:p>
          <a:pPr>
            <a:defRPr sz="950">
              <a:solidFill>
                <a:srgbClr val="7F7F7F"/>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governing thought: campus information is not missing, it is scattered across email. CampusCal makes the inbox fill the calendar. It already runs on live IIMA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bold sentences alone are the argument. Land the 133 events and the 89% to 23%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timestamps down the right edge. Four and a half hours, 14 mails, four of them carrying a hard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complication slide. The gap is not tooling, it is the manual step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Emphasise that the same pipeline runs on login, on Load more, and every 45 seconds while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two-layer design comes straight from the original Agile CCC application answer. Routing is by source label, then overridden by personal-intent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down the six. The stat rail on the right is the proof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will probe. Explain why two axes: colour must stay readable, provenance must stay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tiers. The key defensive point: the fallback refuses to guess, which is why Other still exists at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story. The gate is why the calendar is trustworthy; the fallback to manual add is why nothing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one slide, both shown in the product. The register button removes the search-the-inbox step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slide. Classes and Notices absorb most of the reclassification, because the Google Calendar import was previously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status section. Every row is demonstrable live if the panel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status section visually. Emphasise that students read mail on the phone, so the phone view is the primary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governing thought and hand over to the future plans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1C2C"/>
        </a:solidFill>
      </p:bgPr>
    </p:bg>
    <p:spTree>
      <p:nvGrpSpPr>
        <p:cNvPr id="1" name=""/>
        <p:cNvGrpSpPr/>
        <p:nvPr/>
      </p:nvGrpSpPr>
      <p:grpSpPr>
        <a:xfrm>
          <a:off x="0" y="0"/>
          <a:ext cx="0" cy="0"/>
          <a:chOff x="0" y="0"/>
          <a:chExt cx="0" cy="0"/>
        </a:xfrm>
      </p:grpSpPr>
      <p:sp>
        <p:nvSpPr>
          <p:cNvPr id="2" name="Shape 0"/>
          <p:cNvSpPr/>
          <p:nvPr/>
        </p:nvSpPr>
        <p:spPr>
          <a:xfrm rot="3720000">
            <a:off x="6949440" y="365760"/>
            <a:ext cx="2194560" cy="0"/>
          </a:xfrm>
          <a:prstGeom prst="line">
            <a:avLst/>
          </a:prstGeom>
          <a:noFill/>
          <a:ln w="9525">
            <a:solidFill>
              <a:srgbClr val="00A9F4">
                <a:alpha val="45000"/>
              </a:srgbClr>
            </a:solidFill>
            <a:prstDash val="solid"/>
          </a:ln>
        </p:spPr>
      </p:sp>
      <p:sp>
        <p:nvSpPr>
          <p:cNvPr id="3" name="Shape 1"/>
          <p:cNvSpPr/>
          <p:nvPr/>
        </p:nvSpPr>
        <p:spPr>
          <a:xfrm rot="3720000">
            <a:off x="7205472" y="365760"/>
            <a:ext cx="2139696" cy="0"/>
          </a:xfrm>
          <a:prstGeom prst="line">
            <a:avLst/>
          </a:prstGeom>
          <a:noFill/>
          <a:ln w="9525">
            <a:solidFill>
              <a:srgbClr val="2251FF">
                <a:alpha val="45000"/>
              </a:srgbClr>
            </a:solidFill>
            <a:prstDash val="solid"/>
          </a:ln>
        </p:spPr>
      </p:sp>
      <p:sp>
        <p:nvSpPr>
          <p:cNvPr id="4" name="Shape 2"/>
          <p:cNvSpPr/>
          <p:nvPr/>
        </p:nvSpPr>
        <p:spPr>
          <a:xfrm rot="3720000">
            <a:off x="7461504" y="365760"/>
            <a:ext cx="2084832" cy="0"/>
          </a:xfrm>
          <a:prstGeom prst="line">
            <a:avLst/>
          </a:prstGeom>
          <a:noFill/>
          <a:ln w="9525">
            <a:solidFill>
              <a:srgbClr val="2251FF">
                <a:alpha val="45000"/>
              </a:srgbClr>
            </a:solidFill>
            <a:prstDash val="solid"/>
          </a:ln>
        </p:spPr>
      </p:sp>
      <p:sp>
        <p:nvSpPr>
          <p:cNvPr id="5" name="Shape 3"/>
          <p:cNvSpPr/>
          <p:nvPr/>
        </p:nvSpPr>
        <p:spPr>
          <a:xfrm rot="3720000">
            <a:off x="7717536" y="365760"/>
            <a:ext cx="2029968" cy="0"/>
          </a:xfrm>
          <a:prstGeom prst="line">
            <a:avLst/>
          </a:prstGeom>
          <a:noFill/>
          <a:ln w="9525">
            <a:solidFill>
              <a:srgbClr val="00A9F4">
                <a:alpha val="45000"/>
              </a:srgbClr>
            </a:solidFill>
            <a:prstDash val="solid"/>
          </a:ln>
        </p:spPr>
      </p:sp>
      <p:sp>
        <p:nvSpPr>
          <p:cNvPr id="6" name="Shape 4"/>
          <p:cNvSpPr/>
          <p:nvPr/>
        </p:nvSpPr>
        <p:spPr>
          <a:xfrm rot="3720000">
            <a:off x="7973568" y="365760"/>
            <a:ext cx="1975104" cy="0"/>
          </a:xfrm>
          <a:prstGeom prst="line">
            <a:avLst/>
          </a:prstGeom>
          <a:noFill/>
          <a:ln w="9525">
            <a:solidFill>
              <a:srgbClr val="2251FF">
                <a:alpha val="45000"/>
              </a:srgbClr>
            </a:solidFill>
            <a:prstDash val="solid"/>
          </a:ln>
        </p:spPr>
      </p:sp>
      <p:sp>
        <p:nvSpPr>
          <p:cNvPr id="7" name="Shape 5"/>
          <p:cNvSpPr/>
          <p:nvPr/>
        </p:nvSpPr>
        <p:spPr>
          <a:xfrm rot="3720000">
            <a:off x="8229600" y="365760"/>
            <a:ext cx="1920240" cy="0"/>
          </a:xfrm>
          <a:prstGeom prst="line">
            <a:avLst/>
          </a:prstGeom>
          <a:noFill/>
          <a:ln w="9525">
            <a:solidFill>
              <a:srgbClr val="2251FF">
                <a:alpha val="45000"/>
              </a:srgbClr>
            </a:solidFill>
            <a:prstDash val="solid"/>
          </a:ln>
        </p:spPr>
      </p:sp>
      <p:sp>
        <p:nvSpPr>
          <p:cNvPr id="8" name="Shape 6"/>
          <p:cNvSpPr/>
          <p:nvPr/>
        </p:nvSpPr>
        <p:spPr>
          <a:xfrm rot="3720000">
            <a:off x="8485632" y="365760"/>
            <a:ext cx="1865376" cy="0"/>
          </a:xfrm>
          <a:prstGeom prst="line">
            <a:avLst/>
          </a:prstGeom>
          <a:noFill/>
          <a:ln w="9525">
            <a:solidFill>
              <a:srgbClr val="00A9F4">
                <a:alpha val="45000"/>
              </a:srgbClr>
            </a:solidFill>
            <a:prstDash val="solid"/>
          </a:ln>
        </p:spPr>
      </p:sp>
      <p:sp>
        <p:nvSpPr>
          <p:cNvPr id="9" name="Shape 7"/>
          <p:cNvSpPr/>
          <p:nvPr/>
        </p:nvSpPr>
        <p:spPr>
          <a:xfrm rot="3720000">
            <a:off x="8741664" y="365760"/>
            <a:ext cx="1810512" cy="0"/>
          </a:xfrm>
          <a:prstGeom prst="line">
            <a:avLst/>
          </a:prstGeom>
          <a:noFill/>
          <a:ln w="9525">
            <a:solidFill>
              <a:srgbClr val="2251FF">
                <a:alpha val="45000"/>
              </a:srgbClr>
            </a:solidFill>
            <a:prstDash val="solid"/>
          </a:ln>
        </p:spPr>
      </p:sp>
      <p:sp>
        <p:nvSpPr>
          <p:cNvPr id="10" name="Shape 8"/>
          <p:cNvSpPr/>
          <p:nvPr/>
        </p:nvSpPr>
        <p:spPr>
          <a:xfrm rot="3720000">
            <a:off x="8997696" y="365760"/>
            <a:ext cx="1755648" cy="0"/>
          </a:xfrm>
          <a:prstGeom prst="line">
            <a:avLst/>
          </a:prstGeom>
          <a:noFill/>
          <a:ln w="9525">
            <a:solidFill>
              <a:srgbClr val="2251FF">
                <a:alpha val="45000"/>
              </a:srgbClr>
            </a:solidFill>
            <a:prstDash val="solid"/>
          </a:ln>
        </p:spPr>
      </p:sp>
      <p:sp>
        <p:nvSpPr>
          <p:cNvPr id="11" name="Shape 9"/>
          <p:cNvSpPr/>
          <p:nvPr/>
        </p:nvSpPr>
        <p:spPr>
          <a:xfrm rot="3720000">
            <a:off x="9253728" y="365760"/>
            <a:ext cx="1700784" cy="0"/>
          </a:xfrm>
          <a:prstGeom prst="line">
            <a:avLst/>
          </a:prstGeom>
          <a:noFill/>
          <a:ln w="9525">
            <a:solidFill>
              <a:srgbClr val="00A9F4">
                <a:alpha val="45000"/>
              </a:srgbClr>
            </a:solidFill>
            <a:prstDash val="solid"/>
          </a:ln>
        </p:spPr>
      </p:sp>
      <p:sp>
        <p:nvSpPr>
          <p:cNvPr id="12" name="Shape 10"/>
          <p:cNvSpPr/>
          <p:nvPr/>
        </p:nvSpPr>
        <p:spPr>
          <a:xfrm rot="3720000">
            <a:off x="9509760" y="365760"/>
            <a:ext cx="1645920" cy="0"/>
          </a:xfrm>
          <a:prstGeom prst="line">
            <a:avLst/>
          </a:prstGeom>
          <a:noFill/>
          <a:ln w="9525">
            <a:solidFill>
              <a:srgbClr val="2251FF">
                <a:alpha val="45000"/>
              </a:srgbClr>
            </a:solidFill>
            <a:prstDash val="solid"/>
          </a:ln>
        </p:spPr>
      </p:sp>
      <p:sp>
        <p:nvSpPr>
          <p:cNvPr id="13" name="Shape 11"/>
          <p:cNvSpPr/>
          <p:nvPr/>
        </p:nvSpPr>
        <p:spPr>
          <a:xfrm rot="3720000">
            <a:off x="9765792" y="365760"/>
            <a:ext cx="1591056" cy="0"/>
          </a:xfrm>
          <a:prstGeom prst="line">
            <a:avLst/>
          </a:prstGeom>
          <a:noFill/>
          <a:ln w="9525">
            <a:solidFill>
              <a:srgbClr val="2251FF">
                <a:alpha val="45000"/>
              </a:srgbClr>
            </a:solidFill>
            <a:prstDash val="solid"/>
          </a:ln>
        </p:spPr>
      </p:sp>
      <p:sp>
        <p:nvSpPr>
          <p:cNvPr id="14" name="Shape 12"/>
          <p:cNvSpPr/>
          <p:nvPr/>
        </p:nvSpPr>
        <p:spPr>
          <a:xfrm rot="3720000">
            <a:off x="10021824" y="365760"/>
            <a:ext cx="1536192" cy="0"/>
          </a:xfrm>
          <a:prstGeom prst="line">
            <a:avLst/>
          </a:prstGeom>
          <a:noFill/>
          <a:ln w="9525">
            <a:solidFill>
              <a:srgbClr val="00A9F4">
                <a:alpha val="45000"/>
              </a:srgbClr>
            </a:solidFill>
            <a:prstDash val="solid"/>
          </a:ln>
        </p:spPr>
      </p:sp>
      <p:sp>
        <p:nvSpPr>
          <p:cNvPr id="15" name="Shape 13"/>
          <p:cNvSpPr/>
          <p:nvPr/>
        </p:nvSpPr>
        <p:spPr>
          <a:xfrm rot="3720000">
            <a:off x="10277856" y="365760"/>
            <a:ext cx="1481328" cy="0"/>
          </a:xfrm>
          <a:prstGeom prst="line">
            <a:avLst/>
          </a:prstGeom>
          <a:noFill/>
          <a:ln w="9525">
            <a:solidFill>
              <a:srgbClr val="2251FF">
                <a:alpha val="45000"/>
              </a:srgbClr>
            </a:solidFill>
            <a:prstDash val="solid"/>
          </a:ln>
        </p:spPr>
      </p:sp>
      <p:sp>
        <p:nvSpPr>
          <p:cNvPr id="16" name="Shape 14"/>
          <p:cNvSpPr/>
          <p:nvPr/>
        </p:nvSpPr>
        <p:spPr>
          <a:xfrm>
            <a:off x="7498080" y="3429000"/>
            <a:ext cx="4023360" cy="0"/>
          </a:xfrm>
          <a:prstGeom prst="line">
            <a:avLst/>
          </a:prstGeom>
          <a:noFill/>
          <a:ln w="12700">
            <a:solidFill>
              <a:srgbClr val="00A9F4"/>
            </a:solidFill>
            <a:prstDash val="solid"/>
          </a:ln>
        </p:spPr>
      </p:sp>
      <p:sp>
        <p:nvSpPr>
          <p:cNvPr id="17" name="Text 15"/>
          <p:cNvSpPr/>
          <p:nvPr/>
        </p:nvSpPr>
        <p:spPr>
          <a:xfrm>
            <a:off x="822960" y="2029968"/>
            <a:ext cx="6583680" cy="868680"/>
          </a:xfrm>
          <a:prstGeom prst="rect">
            <a:avLst/>
          </a:prstGeom>
          <a:noFill/>
          <a:ln/>
        </p:spPr>
        <p:txBody>
          <a:bodyPr wrap="square" lIns="0" tIns="0" rIns="0" bIns="0" rtlCol="0" anchor="ctr"/>
          <a:lstStyle/>
          <a:p>
            <a:pPr indent="0" marL="0">
              <a:buNone/>
            </a:pPr>
            <a:r>
              <a:rPr lang="en-US" sz="4600" b="1" dirty="0">
                <a:solidFill>
                  <a:srgbClr val="FFFFFF"/>
                </a:solidFill>
                <a:latin typeface="Georgia" pitchFamily="34" charset="0"/>
                <a:ea typeface="Georgia" pitchFamily="34" charset="-122"/>
                <a:cs typeface="Georgia" pitchFamily="34" charset="-120"/>
              </a:rPr>
              <a:t>CampusCal</a:t>
            </a:r>
            <a:endParaRPr lang="en-US" sz="4600" dirty="0"/>
          </a:p>
        </p:txBody>
      </p:sp>
      <p:sp>
        <p:nvSpPr>
          <p:cNvPr id="18" name="Text 16"/>
          <p:cNvSpPr/>
          <p:nvPr/>
        </p:nvSpPr>
        <p:spPr>
          <a:xfrm>
            <a:off x="822960" y="2907792"/>
            <a:ext cx="6400800" cy="1005840"/>
          </a:xfrm>
          <a:prstGeom prst="rect">
            <a:avLst/>
          </a:prstGeom>
          <a:noFill/>
          <a:ln/>
        </p:spPr>
        <p:txBody>
          <a:bodyPr wrap="square" lIns="0" tIns="0" rIns="0" bIns="0" rtlCol="0" anchor="ctr"/>
          <a:lstStyle/>
          <a:p>
            <a:pPr indent="0" marL="0">
              <a:lnSpc>
                <a:spcPct val="115000"/>
              </a:lnSpc>
              <a:buNone/>
            </a:pPr>
            <a:r>
              <a:rPr lang="en-US" sz="2100" dirty="0">
                <a:solidFill>
                  <a:srgbClr val="AAE6F0"/>
                </a:solidFill>
                <a:latin typeface="Georgia" pitchFamily="34" charset="0"/>
                <a:ea typeface="Georgia" pitchFamily="34" charset="-122"/>
                <a:cs typeface="Georgia" pitchFamily="34" charset="-120"/>
              </a:rPr>
              <a:t>Turning the campus inbox into a calendar that fills itself</a:t>
            </a:r>
            <a:endParaRPr lang="en-US" sz="2100" dirty="0"/>
          </a:p>
        </p:txBody>
      </p:sp>
      <p:sp>
        <p:nvSpPr>
          <p:cNvPr id="19" name="Shape 17"/>
          <p:cNvSpPr/>
          <p:nvPr/>
        </p:nvSpPr>
        <p:spPr>
          <a:xfrm>
            <a:off x="841248" y="4041648"/>
            <a:ext cx="1371600" cy="0"/>
          </a:xfrm>
          <a:prstGeom prst="line">
            <a:avLst/>
          </a:prstGeom>
          <a:noFill/>
          <a:ln w="19050">
            <a:solidFill>
              <a:srgbClr val="00A9F4"/>
            </a:solidFill>
            <a:prstDash val="solid"/>
          </a:ln>
        </p:spPr>
      </p:sp>
      <p:sp>
        <p:nvSpPr>
          <p:cNvPr id="20" name="Text 18"/>
          <p:cNvSpPr/>
          <p:nvPr/>
        </p:nvSpPr>
        <p:spPr>
          <a:xfrm>
            <a:off x="822960" y="4224528"/>
            <a:ext cx="6400800" cy="2743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Agile CCC Ideathon  |  Solutions Cell submission</a:t>
            </a:r>
            <a:endParaRPr lang="en-US" sz="1200" dirty="0"/>
          </a:p>
        </p:txBody>
      </p:sp>
      <p:sp>
        <p:nvSpPr>
          <p:cNvPr id="21" name="Text 19"/>
          <p:cNvSpPr/>
          <p:nvPr/>
        </p:nvSpPr>
        <p:spPr>
          <a:xfrm>
            <a:off x="822960" y="4535424"/>
            <a:ext cx="6400800" cy="274320"/>
          </a:xfrm>
          <a:prstGeom prst="rect">
            <a:avLst/>
          </a:prstGeom>
          <a:noFill/>
          <a:ln/>
        </p:spPr>
        <p:txBody>
          <a:bodyPr wrap="square" lIns="0" tIns="0" rIns="0" bIns="0" rtlCol="0" anchor="ctr"/>
          <a:lstStyle/>
          <a:p>
            <a:pPr indent="0" marL="0">
              <a:buNone/>
            </a:pPr>
            <a:r>
              <a:rPr lang="en-US" sz="1100" dirty="0">
                <a:solidFill>
                  <a:srgbClr val="AFC2CE"/>
                </a:solidFill>
                <a:latin typeface="Arial" pitchFamily="34" charset="0"/>
                <a:ea typeface="Arial" pitchFamily="34" charset="-122"/>
                <a:cs typeface="Arial" pitchFamily="34" charset="-120"/>
              </a:rPr>
              <a:t>Working prototype running on live IIMA Gmail  |  August 2026</a:t>
            </a:r>
            <a:endParaRPr lang="en-US" sz="1100" dirty="0"/>
          </a:p>
        </p:txBody>
      </p:sp>
      <p:sp>
        <p:nvSpPr>
          <p:cNvPr id="22" name="Text 20"/>
          <p:cNvSpPr/>
          <p:nvPr/>
        </p:nvSpPr>
        <p:spPr>
          <a:xfrm>
            <a:off x="822960" y="6144768"/>
            <a:ext cx="7680960" cy="274320"/>
          </a:xfrm>
          <a:prstGeom prst="rect">
            <a:avLst/>
          </a:prstGeom>
          <a:noFill/>
          <a:ln/>
        </p:spPr>
        <p:txBody>
          <a:bodyPr wrap="square" lIns="0" tIns="0" rIns="0" bIns="0" rtlCol="0" anchor="ctr"/>
          <a:lstStyle/>
          <a:p>
            <a:pPr indent="0" marL="0">
              <a:buNone/>
            </a:pPr>
            <a:r>
              <a:rPr lang="en-US" sz="750" dirty="0">
                <a:solidFill>
                  <a:srgbClr val="6E8794"/>
                </a:solidFill>
                <a:latin typeface="Arial" pitchFamily="34" charset="0"/>
                <a:ea typeface="Arial" pitchFamily="34" charset="-122"/>
                <a:cs typeface="Arial" pitchFamily="34" charset="-120"/>
              </a:rPr>
              <a:t>Prepared for the Agile CCC Ideathon. Screenshots are from the live prototype and show a real student inbox.</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CampusCal converts campus email into a calendar that fills itself, and it already runs on live IIMA mail</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Shape 2"/>
          <p:cNvSpPr/>
          <p:nvPr/>
        </p:nvSpPr>
        <p:spPr>
          <a:xfrm>
            <a:off x="512064" y="6400800"/>
            <a:ext cx="11173968" cy="0"/>
          </a:xfrm>
          <a:prstGeom prst="line">
            <a:avLst/>
          </a:prstGeom>
          <a:noFill/>
          <a:ln w="6350">
            <a:solidFill>
              <a:srgbClr val="D0D0D0"/>
            </a:solidFill>
            <a:prstDash val="solid"/>
          </a:ln>
        </p:spPr>
      </p:sp>
      <p:sp>
        <p:nvSpPr>
          <p:cNvPr id="5" name="Text 3"/>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prototype instrumentation, live Gmail account, 5 August 2026</a:t>
            </a:r>
            <a:endParaRPr lang="en-US" sz="800" dirty="0"/>
          </a:p>
        </p:txBody>
      </p:sp>
      <p:sp>
        <p:nvSpPr>
          <p:cNvPr id="6" name="Text 4"/>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a:t>
            </a:r>
            <a:endParaRPr lang="en-US" sz="900" dirty="0"/>
          </a:p>
        </p:txBody>
      </p:sp>
      <p:sp>
        <p:nvSpPr>
          <p:cNvPr id="8" name="Text 5"/>
          <p:cNvSpPr/>
          <p:nvPr/>
        </p:nvSpPr>
        <p:spPr>
          <a:xfrm>
            <a:off x="512064" y="1508760"/>
            <a:ext cx="10424160" cy="841248"/>
          </a:xfrm>
          <a:prstGeom prst="rect">
            <a:avLst/>
          </a:prstGeom>
          <a:noFill/>
          <a:ln/>
        </p:spPr>
        <p:txBody>
          <a:bodyPr wrap="square" lIns="0" tIns="0" rIns="0" bIns="0" rtlCol="0" anchor="ctr"/>
          <a:lstStyle/>
          <a:p>
            <a:pPr indent="0" marL="0">
              <a:lnSpc>
                <a:spcPct val="122000"/>
              </a:lnSpc>
              <a:buNone/>
            </a:pPr>
            <a:r>
              <a:rPr lang="en-US" sz="1150" b="1" dirty="0">
                <a:solidFill>
                  <a:srgbClr val="051C2C"/>
                </a:solidFill>
                <a:latin typeface="Arial" pitchFamily="34" charset="0"/>
                <a:ea typeface="Arial" pitchFamily="34" charset="-122"/>
                <a:cs typeface="Arial" pitchFamily="34" charset="-120"/>
              </a:rPr>
              <a:t>The problem is discovery, not information.</a:t>
            </a:r>
            <a:pPr indent="0" marL="0">
              <a:lnSpc>
                <a:spcPct val="122000"/>
              </a:lnSpc>
              <a:buNone/>
            </a:pPr>
            <a:r>
              <a:rPr lang="en-US" sz="1150" dirty="0">
                <a:solidFill>
                  <a:srgbClr val="333333"/>
                </a:solidFill>
                <a:latin typeface="Arial" pitchFamily="34" charset="0"/>
                <a:ea typeface="Arial" pitchFamily="34" charset="-122"/>
                <a:cs typeface="Arial" pitchFamily="34" charset="-120"/>
              </a:rPr>
              <a:t> Quizzes, deadlines, club events and placement notices all arrive by email. In one live student inbox, 14 mails landed in the four hours before capture, and the 100 most recent inbox mails span barely a week. Anything not read on the day is effectively lost.</a:t>
            </a:r>
            <a:endParaRPr lang="en-US" sz="1150" dirty="0"/>
          </a:p>
        </p:txBody>
      </p:sp>
      <p:sp>
        <p:nvSpPr>
          <p:cNvPr id="9" name="Text 6"/>
          <p:cNvSpPr/>
          <p:nvPr/>
        </p:nvSpPr>
        <p:spPr>
          <a:xfrm>
            <a:off x="512064" y="2441448"/>
            <a:ext cx="10424160" cy="841248"/>
          </a:xfrm>
          <a:prstGeom prst="rect">
            <a:avLst/>
          </a:prstGeom>
          <a:noFill/>
          <a:ln/>
        </p:spPr>
        <p:txBody>
          <a:bodyPr wrap="square" lIns="0" tIns="0" rIns="0" bIns="0" rtlCol="0" anchor="ctr"/>
          <a:lstStyle/>
          <a:p>
            <a:pPr indent="0" marL="0">
              <a:lnSpc>
                <a:spcPct val="122000"/>
              </a:lnSpc>
              <a:buNone/>
            </a:pPr>
            <a:r>
              <a:rPr lang="en-US" sz="1150" b="1" dirty="0">
                <a:solidFill>
                  <a:srgbClr val="051C2C"/>
                </a:solidFill>
                <a:latin typeface="Arial" pitchFamily="34" charset="0"/>
                <a:ea typeface="Arial" pitchFamily="34" charset="-122"/>
                <a:cs typeface="Arial" pitchFamily="34" charset="-120"/>
              </a:rPr>
              <a:t>Every calendar tool assumes somebody types the event in. Nobody does.</a:t>
            </a:r>
            <a:pPr indent="0" marL="0">
              <a:lnSpc>
                <a:spcPct val="122000"/>
              </a:lnSpc>
              <a:buNone/>
            </a:pPr>
            <a:r>
              <a:rPr lang="en-US" sz="1150" dirty="0">
                <a:solidFill>
                  <a:srgbClr val="333333"/>
                </a:solidFill>
                <a:latin typeface="Arial" pitchFamily="34" charset="0"/>
                <a:ea typeface="Arial" pitchFamily="34" charset="-122"/>
                <a:cs typeface="Arial" pitchFamily="34" charset="-120"/>
              </a:rPr>
              <a:t> The gap is not tooling, it is manual entry. Students already own Google Calendar, they simply never populate it from 100 mails.</a:t>
            </a:r>
            <a:endParaRPr lang="en-US" sz="1150" dirty="0"/>
          </a:p>
        </p:txBody>
      </p:sp>
      <p:sp>
        <p:nvSpPr>
          <p:cNvPr id="10" name="Text 7"/>
          <p:cNvSpPr/>
          <p:nvPr/>
        </p:nvSpPr>
        <p:spPr>
          <a:xfrm>
            <a:off x="512064" y="3374136"/>
            <a:ext cx="10424160" cy="841248"/>
          </a:xfrm>
          <a:prstGeom prst="rect">
            <a:avLst/>
          </a:prstGeom>
          <a:noFill/>
          <a:ln/>
        </p:spPr>
        <p:txBody>
          <a:bodyPr wrap="square" lIns="0" tIns="0" rIns="0" bIns="0" rtlCol="0" anchor="ctr"/>
          <a:lstStyle/>
          <a:p>
            <a:pPr indent="0" marL="0">
              <a:lnSpc>
                <a:spcPct val="122000"/>
              </a:lnSpc>
              <a:buNone/>
            </a:pPr>
            <a:r>
              <a:rPr lang="en-US" sz="1150" b="1" dirty="0">
                <a:solidFill>
                  <a:srgbClr val="051C2C"/>
                </a:solidFill>
                <a:latin typeface="Arial" pitchFamily="34" charset="0"/>
                <a:ea typeface="Arial" pitchFamily="34" charset="-122"/>
                <a:cs typeface="Arial" pitchFamily="34" charset="-120"/>
              </a:rPr>
              <a:t>CampusCal reads the inbox and writes the calendar, in two layers.</a:t>
            </a:r>
            <a:pPr indent="0" marL="0">
              <a:lnSpc>
                <a:spcPct val="122000"/>
              </a:lnSpc>
              <a:buNone/>
            </a:pPr>
            <a:r>
              <a:rPr lang="en-US" sz="1150" dirty="0">
                <a:solidFill>
                  <a:srgbClr val="333333"/>
                </a:solidFill>
                <a:latin typeface="Arial" pitchFamily="34" charset="0"/>
                <a:ea typeface="Arial" pitchFamily="34" charset="-122"/>
                <a:cs typeface="Arial" pitchFamily="34" charset="-120"/>
              </a:rPr>
              <a:t> A shared campus layer captures what everyone may attend; a personal layer captures what is addressed to the individual student, such as quizzes, assignments and placement notices.</a:t>
            </a:r>
            <a:endParaRPr lang="en-US" sz="1150" dirty="0"/>
          </a:p>
        </p:txBody>
      </p:sp>
      <p:sp>
        <p:nvSpPr>
          <p:cNvPr id="11" name="Text 8"/>
          <p:cNvSpPr/>
          <p:nvPr/>
        </p:nvSpPr>
        <p:spPr>
          <a:xfrm>
            <a:off x="512064" y="4306824"/>
            <a:ext cx="10424160" cy="841248"/>
          </a:xfrm>
          <a:prstGeom prst="rect">
            <a:avLst/>
          </a:prstGeom>
          <a:noFill/>
          <a:ln/>
        </p:spPr>
        <p:txBody>
          <a:bodyPr wrap="square" lIns="0" tIns="0" rIns="0" bIns="0" rtlCol="0" anchor="ctr"/>
          <a:lstStyle/>
          <a:p>
            <a:pPr indent="0" marL="0">
              <a:lnSpc>
                <a:spcPct val="122000"/>
              </a:lnSpc>
              <a:buNone/>
            </a:pPr>
            <a:r>
              <a:rPr lang="en-US" sz="1150" b="1" dirty="0">
                <a:solidFill>
                  <a:srgbClr val="051C2C"/>
                </a:solidFill>
                <a:latin typeface="Arial" pitchFamily="34" charset="0"/>
                <a:ea typeface="Arial" pitchFamily="34" charset="-122"/>
                <a:cs typeface="Arial" pitchFamily="34" charset="-120"/>
              </a:rPr>
              <a:t>Segmentation is deterministic, tiered and auditable.</a:t>
            </a:r>
            <a:pPr indent="0" marL="0">
              <a:lnSpc>
                <a:spcPct val="122000"/>
              </a:lnSpc>
              <a:buNone/>
            </a:pPr>
            <a:r>
              <a:rPr lang="en-US" sz="1150" dirty="0">
                <a:solidFill>
                  <a:srgbClr val="333333"/>
                </a:solidFill>
                <a:latin typeface="Arial" pitchFamily="34" charset="0"/>
                <a:ea typeface="Arial" pitchFamily="34" charset="-122"/>
                <a:cs typeface="Arial" pitchFamily="34" charset="-120"/>
              </a:rPr>
              <a:t> 21 imported Gmail filter rules, 112 sender patterns, 9 generic sender rules and 237 weighted keywords route each mail onto one of 18 source labels and one of 9 calendar categories, with a keyword fallback that prefers Other over a wrong guess.</a:t>
            </a:r>
            <a:endParaRPr lang="en-US" sz="1150" dirty="0"/>
          </a:p>
        </p:txBody>
      </p:sp>
      <p:sp>
        <p:nvSpPr>
          <p:cNvPr id="12" name="Text 9"/>
          <p:cNvSpPr/>
          <p:nvPr/>
        </p:nvSpPr>
        <p:spPr>
          <a:xfrm>
            <a:off x="512064" y="5239512"/>
            <a:ext cx="10424160" cy="841248"/>
          </a:xfrm>
          <a:prstGeom prst="rect">
            <a:avLst/>
          </a:prstGeom>
          <a:noFill/>
          <a:ln/>
        </p:spPr>
        <p:txBody>
          <a:bodyPr wrap="square" lIns="0" tIns="0" rIns="0" bIns="0" rtlCol="0" anchor="ctr"/>
          <a:lstStyle/>
          <a:p>
            <a:pPr indent="0" marL="0">
              <a:lnSpc>
                <a:spcPct val="122000"/>
              </a:lnSpc>
              <a:buNone/>
            </a:pPr>
            <a:r>
              <a:rPr lang="en-US" sz="1150" b="1" dirty="0">
                <a:solidFill>
                  <a:srgbClr val="051C2C"/>
                </a:solidFill>
                <a:latin typeface="Arial" pitchFamily="34" charset="0"/>
                <a:ea typeface="Arial" pitchFamily="34" charset="-122"/>
                <a:cs typeface="Arial" pitchFamily="34" charset="-120"/>
              </a:rPr>
              <a:t>The prototype is complete end to end and measured.</a:t>
            </a:r>
            <a:pPr indent="0" marL="0">
              <a:lnSpc>
                <a:spcPct val="122000"/>
              </a:lnSpc>
              <a:buNone/>
            </a:pPr>
            <a:r>
              <a:rPr lang="en-US" sz="1150" dirty="0">
                <a:solidFill>
                  <a:srgbClr val="333333"/>
                </a:solidFill>
                <a:latin typeface="Arial" pitchFamily="34" charset="0"/>
                <a:ea typeface="Arial" pitchFamily="34" charset="-122"/>
                <a:cs typeface="Arial" pitchFamily="34" charset="-120"/>
              </a:rPr>
              <a:t> 133 events are live on the calendar today. Unclassified events fell from 89% to 23% after the segmentation rework, and 126 automated checks pass on every build.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12064" y="329184"/>
            <a:ext cx="8266176"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The information is not missing, it is scattered: 14 mails reached one student inbox in four hours</a:t>
            </a:r>
            <a:endParaRPr lang="en-US" sz="2300" dirty="0"/>
          </a:p>
        </p:txBody>
      </p:sp>
      <p:sp>
        <p:nvSpPr>
          <p:cNvPr id="3" name="Shape 1"/>
          <p:cNvSpPr/>
          <p:nvPr/>
        </p:nvSpPr>
        <p:spPr>
          <a:xfrm>
            <a:off x="512064" y="1216152"/>
            <a:ext cx="8266176"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Live student inbox, not a mock-up</a:t>
            </a:r>
            <a:endParaRPr lang="en-US" sz="900" dirty="0"/>
          </a:p>
        </p:txBody>
      </p:sp>
      <p:sp>
        <p:nvSpPr>
          <p:cNvPr id="5" name="Text 3"/>
          <p:cNvSpPr/>
          <p:nvPr/>
        </p:nvSpPr>
        <p:spPr>
          <a:xfrm>
            <a:off x="512064" y="6016752"/>
            <a:ext cx="8266176" cy="347472"/>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Timestamps read from the live inbox capture: 14 mails between 4:59 pm and 9:23 pm on 5 August 2026</a:t>
            </a:r>
            <a:endParaRPr lang="en-US" sz="800" dirty="0"/>
          </a:p>
          <a:p>
            <a:pPr indent="0" marL="0">
              <a:lnSpc>
                <a:spcPct val="105000"/>
              </a:lnSpc>
              <a:buNone/>
            </a:pPr>
            <a:r>
              <a:rPr lang="en-US" sz="800" dirty="0">
                <a:solidFill>
                  <a:srgbClr val="7F7F7F"/>
                </a:solidFill>
                <a:latin typeface="Arial" pitchFamily="34" charset="0"/>
                <a:ea typeface="Arial" pitchFamily="34" charset="-122"/>
                <a:cs typeface="Arial" pitchFamily="34" charset="-120"/>
              </a:rPr>
              <a:t>2. Only mails carrying a date, time or venue can become calendar entries; the rest are notices or newsletters</a:t>
            </a:r>
            <a:endParaRPr lang="en-US" sz="800" dirty="0"/>
          </a:p>
        </p:txBody>
      </p:sp>
      <p:sp>
        <p:nvSpPr>
          <p:cNvPr id="6" name="Shape 4"/>
          <p:cNvSpPr/>
          <p:nvPr/>
        </p:nvSpPr>
        <p:spPr>
          <a:xfrm>
            <a:off x="512064" y="6400800"/>
            <a:ext cx="8266176" cy="0"/>
          </a:xfrm>
          <a:prstGeom prst="line">
            <a:avLst/>
          </a:prstGeom>
          <a:noFill/>
          <a:ln w="6350">
            <a:solidFill>
              <a:srgbClr val="D0D0D0"/>
            </a:solidFill>
            <a:prstDash val="solid"/>
          </a:ln>
        </p:spPr>
      </p:sp>
      <p:sp>
        <p:nvSpPr>
          <p:cNvPr id="7" name="Text 5"/>
          <p:cNvSpPr/>
          <p:nvPr/>
        </p:nvSpPr>
        <p:spPr>
          <a:xfrm>
            <a:off x="512064" y="6455664"/>
            <a:ext cx="7534656"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inbox view, live IIMA Gmail account, 5 August 2026</a:t>
            </a:r>
            <a:endParaRPr lang="en-US" sz="800" dirty="0"/>
          </a:p>
        </p:txBody>
      </p:sp>
      <p:sp>
        <p:nvSpPr>
          <p:cNvPr id="8" name="Text 6"/>
          <p:cNvSpPr/>
          <p:nvPr/>
        </p:nvSpPr>
        <p:spPr>
          <a:xfrm>
            <a:off x="8138160"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2</a:t>
            </a:r>
            <a:endParaRPr lang="en-US" sz="900" dirty="0"/>
          </a:p>
        </p:txBody>
      </p:sp>
      <p:sp>
        <p:nvSpPr>
          <p:cNvPr id="10" name="Text 7"/>
          <p:cNvSpPr/>
          <p:nvPr/>
        </p:nvSpPr>
        <p:spPr>
          <a:xfrm>
            <a:off x="512064" y="1463040"/>
            <a:ext cx="402336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What arrives in a single evening</a:t>
            </a:r>
            <a:endParaRPr lang="en-US" sz="1200" dirty="0"/>
          </a:p>
        </p:txBody>
      </p:sp>
      <p:sp>
        <p:nvSpPr>
          <p:cNvPr id="11" name="Text 8"/>
          <p:cNvSpPr/>
          <p:nvPr/>
        </p:nvSpPr>
        <p:spPr>
          <a:xfrm>
            <a:off x="512064" y="1719072"/>
            <a:ext cx="4023360" cy="237744"/>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Inbox as captured, most recent first¹</a:t>
            </a:r>
            <a:endParaRPr lang="en-US" sz="950" dirty="0"/>
          </a:p>
        </p:txBody>
      </p:sp>
      <p:pic>
        <p:nvPicPr>
          <p:cNvPr id="12" name="Image 0" descr="/sessions/admiring-lucid-franklin/mnt/Demo/deck/img/s212850.png">    </p:cNvPr>
          <p:cNvPicPr>
            <a:picLocks noChangeAspect="1"/>
          </p:cNvPicPr>
          <p:nvPr/>
        </p:nvPicPr>
        <p:blipFill>
          <a:blip r:embed="rId1"/>
          <a:stretch>
            <a:fillRect/>
          </a:stretch>
        </p:blipFill>
        <p:spPr>
          <a:xfrm>
            <a:off x="876868" y="2029968"/>
            <a:ext cx="1647832" cy="3529584"/>
          </a:xfrm>
          <a:prstGeom prst="rect">
            <a:avLst/>
          </a:prstGeom>
        </p:spPr>
      </p:pic>
      <p:sp>
        <p:nvSpPr>
          <p:cNvPr id="13" name="Text 9"/>
          <p:cNvSpPr/>
          <p:nvPr/>
        </p:nvSpPr>
        <p:spPr>
          <a:xfrm>
            <a:off x="3246120" y="2029968"/>
            <a:ext cx="5394960" cy="292608"/>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Four of these 14 mails carried a dated commitment</a:t>
            </a:r>
            <a:endParaRPr lang="en-US" sz="1200" dirty="0"/>
          </a:p>
        </p:txBody>
      </p:sp>
      <p:sp>
        <p:nvSpPr>
          <p:cNvPr id="14" name="Shape 10"/>
          <p:cNvSpPr/>
          <p:nvPr/>
        </p:nvSpPr>
        <p:spPr>
          <a:xfrm>
            <a:off x="3246120" y="2377440"/>
            <a:ext cx="5394960" cy="0"/>
          </a:xfrm>
          <a:prstGeom prst="line">
            <a:avLst/>
          </a:prstGeom>
          <a:noFill/>
          <a:ln w="9525">
            <a:solidFill>
              <a:srgbClr val="051C2C"/>
            </a:solidFill>
            <a:prstDash val="solid"/>
          </a:ln>
        </p:spPr>
      </p:sp>
      <p:sp>
        <p:nvSpPr>
          <p:cNvPr id="15" name="Text 11"/>
          <p:cNvSpPr/>
          <p:nvPr/>
        </p:nvSpPr>
        <p:spPr>
          <a:xfrm>
            <a:off x="3246120" y="2487168"/>
            <a:ext cx="86868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9:23 pm</a:t>
            </a:r>
            <a:endParaRPr lang="en-US" sz="1000" dirty="0"/>
          </a:p>
        </p:txBody>
      </p:sp>
      <p:sp>
        <p:nvSpPr>
          <p:cNvPr id="16" name="Text 12"/>
          <p:cNvSpPr/>
          <p:nvPr/>
        </p:nvSpPr>
        <p:spPr>
          <a:xfrm>
            <a:off x="4142232" y="2487168"/>
            <a:ext cx="2487168" cy="27432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Ideathon case competition</a:t>
            </a:r>
            <a:endParaRPr lang="en-US" sz="1050" dirty="0"/>
          </a:p>
        </p:txBody>
      </p:sp>
      <p:sp>
        <p:nvSpPr>
          <p:cNvPr id="17" name="Text 13"/>
          <p:cNvSpPr/>
          <p:nvPr/>
        </p:nvSpPr>
        <p:spPr>
          <a:xfrm>
            <a:off x="6665976" y="2487168"/>
            <a:ext cx="1975104" cy="310896"/>
          </a:xfrm>
          <a:prstGeom prst="rect">
            <a:avLst/>
          </a:prstGeom>
          <a:noFill/>
          <a:ln/>
        </p:spPr>
        <p:txBody>
          <a:bodyPr wrap="square" lIns="0" tIns="0" rIns="0" bIns="0" rtlCol="0" anchor="ctr"/>
          <a:lstStyle/>
          <a:p>
            <a:pPr indent="0" marL="0">
              <a:lnSpc>
                <a:spcPct val="105000"/>
              </a:lnSpc>
              <a:buNone/>
            </a:pPr>
            <a:r>
              <a:rPr lang="en-US" sz="950" dirty="0">
                <a:solidFill>
                  <a:srgbClr val="444444"/>
                </a:solidFill>
                <a:latin typeface="Arial" pitchFamily="34" charset="0"/>
                <a:ea typeface="Arial" pitchFamily="34" charset="-122"/>
                <a:cs typeface="Arial" pitchFamily="34" charset="-120"/>
              </a:rPr>
              <a:t>Club event, registration link</a:t>
            </a:r>
            <a:endParaRPr lang="en-US" sz="950" dirty="0"/>
          </a:p>
        </p:txBody>
      </p:sp>
      <p:sp>
        <p:nvSpPr>
          <p:cNvPr id="18" name="Shape 14"/>
          <p:cNvSpPr/>
          <p:nvPr/>
        </p:nvSpPr>
        <p:spPr>
          <a:xfrm>
            <a:off x="3246120" y="2907792"/>
            <a:ext cx="5394960" cy="0"/>
          </a:xfrm>
          <a:prstGeom prst="line">
            <a:avLst/>
          </a:prstGeom>
          <a:noFill/>
          <a:ln w="6350">
            <a:solidFill>
              <a:srgbClr val="D0D0D0"/>
            </a:solidFill>
            <a:prstDash val="solid"/>
          </a:ln>
        </p:spPr>
      </p:sp>
      <p:sp>
        <p:nvSpPr>
          <p:cNvPr id="19" name="Text 15"/>
          <p:cNvSpPr/>
          <p:nvPr/>
        </p:nvSpPr>
        <p:spPr>
          <a:xfrm>
            <a:off x="3246120" y="2962656"/>
            <a:ext cx="86868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8:15 pm</a:t>
            </a:r>
            <a:endParaRPr lang="en-US" sz="1000" dirty="0"/>
          </a:p>
        </p:txBody>
      </p:sp>
      <p:sp>
        <p:nvSpPr>
          <p:cNvPr id="20" name="Text 16"/>
          <p:cNvSpPr/>
          <p:nvPr/>
        </p:nvSpPr>
        <p:spPr>
          <a:xfrm>
            <a:off x="4142232" y="2962656"/>
            <a:ext cx="2487168" cy="27432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Essay writing competition</a:t>
            </a:r>
            <a:endParaRPr lang="en-US" sz="1050" dirty="0"/>
          </a:p>
        </p:txBody>
      </p:sp>
      <p:sp>
        <p:nvSpPr>
          <p:cNvPr id="21" name="Text 17"/>
          <p:cNvSpPr/>
          <p:nvPr/>
        </p:nvSpPr>
        <p:spPr>
          <a:xfrm>
            <a:off x="6665976" y="2962656"/>
            <a:ext cx="1975104" cy="310896"/>
          </a:xfrm>
          <a:prstGeom prst="rect">
            <a:avLst/>
          </a:prstGeom>
          <a:noFill/>
          <a:ln/>
        </p:spPr>
        <p:txBody>
          <a:bodyPr wrap="square" lIns="0" tIns="0" rIns="0" bIns="0" rtlCol="0" anchor="ctr"/>
          <a:lstStyle/>
          <a:p>
            <a:pPr indent="0" marL="0">
              <a:lnSpc>
                <a:spcPct val="105000"/>
              </a:lnSpc>
              <a:buNone/>
            </a:pPr>
            <a:r>
              <a:rPr lang="en-US" sz="950" dirty="0">
                <a:solidFill>
                  <a:srgbClr val="444444"/>
                </a:solidFill>
                <a:latin typeface="Arial" pitchFamily="34" charset="0"/>
                <a:ea typeface="Arial" pitchFamily="34" charset="-122"/>
                <a:cs typeface="Arial" pitchFamily="34" charset="-120"/>
              </a:rPr>
              <a:t>Club event, results announced next day</a:t>
            </a:r>
            <a:endParaRPr lang="en-US" sz="950" dirty="0"/>
          </a:p>
        </p:txBody>
      </p:sp>
      <p:sp>
        <p:nvSpPr>
          <p:cNvPr id="22" name="Shape 18"/>
          <p:cNvSpPr/>
          <p:nvPr/>
        </p:nvSpPr>
        <p:spPr>
          <a:xfrm>
            <a:off x="3246120" y="3383280"/>
            <a:ext cx="5394960" cy="0"/>
          </a:xfrm>
          <a:prstGeom prst="line">
            <a:avLst/>
          </a:prstGeom>
          <a:noFill/>
          <a:ln w="6350">
            <a:solidFill>
              <a:srgbClr val="D0D0D0"/>
            </a:solidFill>
            <a:prstDash val="solid"/>
          </a:ln>
        </p:spPr>
      </p:sp>
      <p:sp>
        <p:nvSpPr>
          <p:cNvPr id="23" name="Text 19"/>
          <p:cNvSpPr/>
          <p:nvPr/>
        </p:nvSpPr>
        <p:spPr>
          <a:xfrm>
            <a:off x="3246120" y="3438144"/>
            <a:ext cx="86868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8:00 pm</a:t>
            </a:r>
            <a:endParaRPr lang="en-US" sz="1000" dirty="0"/>
          </a:p>
        </p:txBody>
      </p:sp>
      <p:sp>
        <p:nvSpPr>
          <p:cNvPr id="24" name="Text 20"/>
          <p:cNvSpPr/>
          <p:nvPr/>
        </p:nvSpPr>
        <p:spPr>
          <a:xfrm>
            <a:off x="4142232" y="3438144"/>
            <a:ext cx="2487168" cy="27432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Dorm representative elections</a:t>
            </a:r>
            <a:endParaRPr lang="en-US" sz="1050" dirty="0"/>
          </a:p>
        </p:txBody>
      </p:sp>
      <p:sp>
        <p:nvSpPr>
          <p:cNvPr id="25" name="Text 21"/>
          <p:cNvSpPr/>
          <p:nvPr/>
        </p:nvSpPr>
        <p:spPr>
          <a:xfrm>
            <a:off x="6665976" y="3438144"/>
            <a:ext cx="1975104" cy="310896"/>
          </a:xfrm>
          <a:prstGeom prst="rect">
            <a:avLst/>
          </a:prstGeom>
          <a:noFill/>
          <a:ln/>
        </p:spPr>
        <p:txBody>
          <a:bodyPr wrap="square" lIns="0" tIns="0" rIns="0" bIns="0" rtlCol="0" anchor="ctr"/>
          <a:lstStyle/>
          <a:p>
            <a:pPr indent="0" marL="0">
              <a:lnSpc>
                <a:spcPct val="105000"/>
              </a:lnSpc>
              <a:buNone/>
            </a:pPr>
            <a:r>
              <a:rPr lang="en-US" sz="950" dirty="0">
                <a:solidFill>
                  <a:srgbClr val="444444"/>
                </a:solidFill>
                <a:latin typeface="Arial" pitchFamily="34" charset="0"/>
                <a:ea typeface="Arial" pitchFamily="34" charset="-122"/>
                <a:cs typeface="Arial" pitchFamily="34" charset="-120"/>
              </a:rPr>
              <a:t>Notice, voting window</a:t>
            </a:r>
            <a:endParaRPr lang="en-US" sz="950" dirty="0"/>
          </a:p>
        </p:txBody>
      </p:sp>
      <p:sp>
        <p:nvSpPr>
          <p:cNvPr id="26" name="Shape 22"/>
          <p:cNvSpPr/>
          <p:nvPr/>
        </p:nvSpPr>
        <p:spPr>
          <a:xfrm>
            <a:off x="3246120" y="3858768"/>
            <a:ext cx="5394960" cy="0"/>
          </a:xfrm>
          <a:prstGeom prst="line">
            <a:avLst/>
          </a:prstGeom>
          <a:noFill/>
          <a:ln w="6350">
            <a:solidFill>
              <a:srgbClr val="D0D0D0"/>
            </a:solidFill>
            <a:prstDash val="solid"/>
          </a:ln>
        </p:spPr>
      </p:sp>
      <p:sp>
        <p:nvSpPr>
          <p:cNvPr id="27" name="Text 23"/>
          <p:cNvSpPr/>
          <p:nvPr/>
        </p:nvSpPr>
        <p:spPr>
          <a:xfrm>
            <a:off x="3246120" y="3913632"/>
            <a:ext cx="86868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5:00 pm</a:t>
            </a:r>
            <a:endParaRPr lang="en-US" sz="1000" dirty="0"/>
          </a:p>
        </p:txBody>
      </p:sp>
      <p:sp>
        <p:nvSpPr>
          <p:cNvPr id="28" name="Text 24"/>
          <p:cNvSpPr/>
          <p:nvPr/>
        </p:nvSpPr>
        <p:spPr>
          <a:xfrm>
            <a:off x="4142232" y="3913632"/>
            <a:ext cx="2487168" cy="27432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PLACECOM batch meet, 10 August</a:t>
            </a:r>
            <a:endParaRPr lang="en-US" sz="1050" dirty="0"/>
          </a:p>
        </p:txBody>
      </p:sp>
      <p:sp>
        <p:nvSpPr>
          <p:cNvPr id="29" name="Text 25"/>
          <p:cNvSpPr/>
          <p:nvPr/>
        </p:nvSpPr>
        <p:spPr>
          <a:xfrm>
            <a:off x="6665976" y="3913632"/>
            <a:ext cx="1975104" cy="310896"/>
          </a:xfrm>
          <a:prstGeom prst="rect">
            <a:avLst/>
          </a:prstGeom>
          <a:noFill/>
          <a:ln/>
        </p:spPr>
        <p:txBody>
          <a:bodyPr wrap="square" lIns="0" tIns="0" rIns="0" bIns="0" rtlCol="0" anchor="ctr"/>
          <a:lstStyle/>
          <a:p>
            <a:pPr indent="0" marL="0">
              <a:lnSpc>
                <a:spcPct val="105000"/>
              </a:lnSpc>
              <a:buNone/>
            </a:pPr>
            <a:r>
              <a:rPr lang="en-US" sz="950" dirty="0">
                <a:solidFill>
                  <a:srgbClr val="444444"/>
                </a:solidFill>
                <a:latin typeface="Arial" pitchFamily="34" charset="0"/>
                <a:ea typeface="Arial" pitchFamily="34" charset="-122"/>
                <a:cs typeface="Arial" pitchFamily="34" charset="-120"/>
              </a:rPr>
              <a:t>Placement, dated and compulsory</a:t>
            </a:r>
            <a:endParaRPr lang="en-US" sz="950" dirty="0"/>
          </a:p>
        </p:txBody>
      </p:sp>
      <p:sp>
        <p:nvSpPr>
          <p:cNvPr id="30" name="Shape 26"/>
          <p:cNvSpPr/>
          <p:nvPr/>
        </p:nvSpPr>
        <p:spPr>
          <a:xfrm>
            <a:off x="3246120" y="4334256"/>
            <a:ext cx="5394960" cy="0"/>
          </a:xfrm>
          <a:prstGeom prst="line">
            <a:avLst/>
          </a:prstGeom>
          <a:noFill/>
          <a:ln w="6350">
            <a:solidFill>
              <a:srgbClr val="D0D0D0"/>
            </a:solidFill>
            <a:prstDash val="solid"/>
          </a:ln>
        </p:spPr>
      </p:sp>
      <p:sp>
        <p:nvSpPr>
          <p:cNvPr id="31" name="Text 27"/>
          <p:cNvSpPr/>
          <p:nvPr/>
        </p:nvSpPr>
        <p:spPr>
          <a:xfrm>
            <a:off x="3246120" y="4498848"/>
            <a:ext cx="5394960" cy="365760"/>
          </a:xfrm>
          <a:prstGeom prst="rect">
            <a:avLst/>
          </a:prstGeom>
          <a:noFill/>
          <a:ln/>
        </p:spPr>
        <p:txBody>
          <a:bodyPr wrap="square" lIns="0" tIns="0" rIns="0" bIns="0" rtlCol="0" anchor="ctr"/>
          <a:lstStyle/>
          <a:p>
            <a:pPr indent="0" marL="0">
              <a:lnSpc>
                <a:spcPct val="115000"/>
              </a:lnSpc>
              <a:buNone/>
            </a:pPr>
            <a:r>
              <a:rPr lang="en-US" sz="1000" dirty="0">
                <a:solidFill>
                  <a:srgbClr val="7F7F7F"/>
                </a:solidFill>
                <a:latin typeface="Arial" pitchFamily="34" charset="0"/>
                <a:ea typeface="Arial" pitchFamily="34" charset="-122"/>
                <a:cs typeface="Arial" pitchFamily="34" charset="-120"/>
              </a:rPr>
              <a:t>The remaining 10 mails were notices, surveys and newsletters that must not reach a calendar²</a:t>
            </a:r>
            <a:endParaRPr lang="en-US" sz="1000" dirty="0"/>
          </a:p>
        </p:txBody>
      </p:sp>
      <p:sp>
        <p:nvSpPr>
          <p:cNvPr id="32" name="Text 28"/>
          <p:cNvSpPr/>
          <p:nvPr/>
        </p:nvSpPr>
        <p:spPr>
          <a:xfrm>
            <a:off x="3246120" y="5029200"/>
            <a:ext cx="1737360" cy="566928"/>
          </a:xfrm>
          <a:prstGeom prst="rect">
            <a:avLst/>
          </a:prstGeom>
          <a:noFill/>
          <a:ln/>
        </p:spPr>
        <p:txBody>
          <a:bodyPr wrap="square" lIns="0" tIns="0" rIns="0" bIns="0" rtlCol="0" anchor="ctr"/>
          <a:lstStyle/>
          <a:p>
            <a:pPr indent="0" marL="0">
              <a:buNone/>
            </a:pPr>
            <a:r>
              <a:rPr lang="en-US" sz="3000" b="1" dirty="0">
                <a:solidFill>
                  <a:srgbClr val="2251FF"/>
                </a:solidFill>
                <a:latin typeface="Georgia" pitchFamily="34" charset="0"/>
                <a:ea typeface="Georgia" pitchFamily="34" charset="-122"/>
                <a:cs typeface="Georgia" pitchFamily="34" charset="-120"/>
              </a:rPr>
              <a:t>14</a:t>
            </a:r>
            <a:endParaRPr lang="en-US" sz="3000" dirty="0"/>
          </a:p>
        </p:txBody>
      </p:sp>
      <p:sp>
        <p:nvSpPr>
          <p:cNvPr id="33" name="Text 29"/>
          <p:cNvSpPr/>
          <p:nvPr/>
        </p:nvSpPr>
        <p:spPr>
          <a:xfrm>
            <a:off x="3246120" y="5577840"/>
            <a:ext cx="1737360" cy="384048"/>
          </a:xfrm>
          <a:prstGeom prst="rect">
            <a:avLst/>
          </a:prstGeom>
          <a:noFill/>
          <a:ln/>
        </p:spPr>
        <p:txBody>
          <a:bodyPr wrap="square" lIns="0" tIns="0" rIns="0" bIns="0" rtlCol="0" anchor="ctr"/>
          <a:lstStyle/>
          <a:p>
            <a:pPr indent="0" marL="0">
              <a:lnSpc>
                <a:spcPct val="110000"/>
              </a:lnSpc>
              <a:buNone/>
            </a:pPr>
            <a:r>
              <a:rPr lang="en-US" sz="950" dirty="0">
                <a:solidFill>
                  <a:srgbClr val="7F7F7F"/>
                </a:solidFill>
                <a:latin typeface="Arial" pitchFamily="34" charset="0"/>
                <a:ea typeface="Arial" pitchFamily="34" charset="-122"/>
                <a:cs typeface="Arial" pitchFamily="34" charset="-120"/>
              </a:rPr>
              <a:t>mails in 4h 24m</a:t>
            </a:r>
            <a:endParaRPr lang="en-US" sz="950" dirty="0"/>
          </a:p>
        </p:txBody>
      </p:sp>
      <p:sp>
        <p:nvSpPr>
          <p:cNvPr id="34" name="Text 30"/>
          <p:cNvSpPr/>
          <p:nvPr/>
        </p:nvSpPr>
        <p:spPr>
          <a:xfrm>
            <a:off x="5074920" y="5029200"/>
            <a:ext cx="1737360" cy="566928"/>
          </a:xfrm>
          <a:prstGeom prst="rect">
            <a:avLst/>
          </a:prstGeom>
          <a:noFill/>
          <a:ln/>
        </p:spPr>
        <p:txBody>
          <a:bodyPr wrap="square" lIns="0" tIns="0" rIns="0" bIns="0" rtlCol="0" anchor="ctr"/>
          <a:lstStyle/>
          <a:p>
            <a:pPr indent="0" marL="0">
              <a:buNone/>
            </a:pPr>
            <a:r>
              <a:rPr lang="en-US" sz="3000" b="1" dirty="0">
                <a:solidFill>
                  <a:srgbClr val="2251FF"/>
                </a:solidFill>
                <a:latin typeface="Georgia" pitchFamily="34" charset="0"/>
                <a:ea typeface="Georgia" pitchFamily="34" charset="-122"/>
                <a:cs typeface="Georgia" pitchFamily="34" charset="-120"/>
              </a:rPr>
              <a:t>100</a:t>
            </a:r>
            <a:endParaRPr lang="en-US" sz="3000" dirty="0"/>
          </a:p>
        </p:txBody>
      </p:sp>
      <p:sp>
        <p:nvSpPr>
          <p:cNvPr id="35" name="Text 31"/>
          <p:cNvSpPr/>
          <p:nvPr/>
        </p:nvSpPr>
        <p:spPr>
          <a:xfrm>
            <a:off x="5074920" y="5577840"/>
            <a:ext cx="1737360" cy="384048"/>
          </a:xfrm>
          <a:prstGeom prst="rect">
            <a:avLst/>
          </a:prstGeom>
          <a:noFill/>
          <a:ln/>
        </p:spPr>
        <p:txBody>
          <a:bodyPr wrap="square" lIns="0" tIns="0" rIns="0" bIns="0" rtlCol="0" anchor="ctr"/>
          <a:lstStyle/>
          <a:p>
            <a:pPr indent="0" marL="0">
              <a:lnSpc>
                <a:spcPct val="110000"/>
              </a:lnSpc>
              <a:buNone/>
            </a:pPr>
            <a:r>
              <a:rPr lang="en-US" sz="950" dirty="0">
                <a:solidFill>
                  <a:srgbClr val="7F7F7F"/>
                </a:solidFill>
                <a:latin typeface="Arial" pitchFamily="34" charset="0"/>
                <a:ea typeface="Arial" pitchFamily="34" charset="-122"/>
                <a:cs typeface="Arial" pitchFamily="34" charset="-120"/>
              </a:rPr>
              <a:t>mails on the first inbox page</a:t>
            </a:r>
            <a:endParaRPr lang="en-US" sz="950" dirty="0"/>
          </a:p>
        </p:txBody>
      </p:sp>
      <p:sp>
        <p:nvSpPr>
          <p:cNvPr id="36" name="Text 32"/>
          <p:cNvSpPr/>
          <p:nvPr/>
        </p:nvSpPr>
        <p:spPr>
          <a:xfrm>
            <a:off x="6903720" y="5029200"/>
            <a:ext cx="1737360" cy="566928"/>
          </a:xfrm>
          <a:prstGeom prst="rect">
            <a:avLst/>
          </a:prstGeom>
          <a:noFill/>
          <a:ln/>
        </p:spPr>
        <p:txBody>
          <a:bodyPr wrap="square" lIns="0" tIns="0" rIns="0" bIns="0" rtlCol="0" anchor="ctr"/>
          <a:lstStyle/>
          <a:p>
            <a:pPr indent="0" marL="0">
              <a:buNone/>
            </a:pPr>
            <a:r>
              <a:rPr lang="en-US" sz="3000" b="1" dirty="0">
                <a:solidFill>
                  <a:srgbClr val="2251FF"/>
                </a:solidFill>
                <a:latin typeface="Georgia" pitchFamily="34" charset="0"/>
                <a:ea typeface="Georgia" pitchFamily="34" charset="-122"/>
                <a:cs typeface="Georgia" pitchFamily="34" charset="-120"/>
              </a:rPr>
              <a:t>7</a:t>
            </a:r>
            <a:endParaRPr lang="en-US" sz="3000" dirty="0"/>
          </a:p>
        </p:txBody>
      </p:sp>
      <p:sp>
        <p:nvSpPr>
          <p:cNvPr id="37" name="Text 33"/>
          <p:cNvSpPr/>
          <p:nvPr/>
        </p:nvSpPr>
        <p:spPr>
          <a:xfrm>
            <a:off x="6903720" y="5577840"/>
            <a:ext cx="1737360" cy="384048"/>
          </a:xfrm>
          <a:prstGeom prst="rect">
            <a:avLst/>
          </a:prstGeom>
          <a:noFill/>
          <a:ln/>
        </p:spPr>
        <p:txBody>
          <a:bodyPr wrap="square" lIns="0" tIns="0" rIns="0" bIns="0" rtlCol="0" anchor="ctr"/>
          <a:lstStyle/>
          <a:p>
            <a:pPr indent="0" marL="0">
              <a:lnSpc>
                <a:spcPct val="110000"/>
              </a:lnSpc>
              <a:buNone/>
            </a:pPr>
            <a:r>
              <a:rPr lang="en-US" sz="950" dirty="0">
                <a:solidFill>
                  <a:srgbClr val="7F7F7F"/>
                </a:solidFill>
                <a:latin typeface="Arial" pitchFamily="34" charset="0"/>
                <a:ea typeface="Arial" pitchFamily="34" charset="-122"/>
                <a:cs typeface="Arial" pitchFamily="34" charset="-120"/>
              </a:rPr>
              <a:t>unread at capture</a:t>
            </a:r>
            <a:endParaRPr lang="en-US" sz="950" dirty="0"/>
          </a:p>
        </p:txBody>
      </p:sp>
      <p:sp>
        <p:nvSpPr>
          <p:cNvPr id="38" name="Shape 34"/>
          <p:cNvSpPr/>
          <p:nvPr/>
        </p:nvSpPr>
        <p:spPr>
          <a:xfrm>
            <a:off x="9052560" y="0"/>
            <a:ext cx="3139135" cy="6858000"/>
          </a:xfrm>
          <a:prstGeom prst="rect">
            <a:avLst/>
          </a:prstGeom>
          <a:solidFill>
            <a:srgbClr val="051C2C"/>
          </a:solidFill>
          <a:ln w="12700">
            <a:solidFill>
              <a:srgbClr val="051C2C"/>
            </a:solidFill>
            <a:prstDash val="solid"/>
          </a:ln>
        </p:spPr>
      </p:sp>
      <p:sp>
        <p:nvSpPr>
          <p:cNvPr id="39" name="Shape 35"/>
          <p:cNvSpPr/>
          <p:nvPr/>
        </p:nvSpPr>
        <p:spPr>
          <a:xfrm>
            <a:off x="9436608" y="822960"/>
            <a:ext cx="566928" cy="0"/>
          </a:xfrm>
          <a:prstGeom prst="line">
            <a:avLst/>
          </a:prstGeom>
          <a:noFill/>
          <a:ln w="19050">
            <a:solidFill>
              <a:srgbClr val="FFFFFF"/>
            </a:solidFill>
            <a:prstDash val="solid"/>
          </a:ln>
        </p:spPr>
      </p:sp>
      <p:sp>
        <p:nvSpPr>
          <p:cNvPr id="40" name="Text 36"/>
          <p:cNvSpPr/>
          <p:nvPr/>
        </p:nvSpPr>
        <p:spPr>
          <a:xfrm>
            <a:off x="9436608" y="969264"/>
            <a:ext cx="2371039" cy="914400"/>
          </a:xfrm>
          <a:prstGeom prst="rect">
            <a:avLst/>
          </a:prstGeom>
          <a:noFill/>
          <a:ln/>
        </p:spPr>
        <p:txBody>
          <a:bodyPr wrap="square" lIns="0" tIns="0" rIns="0" bIns="0" rtlCol="0" anchor="ctr"/>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Students find out second hand, because reading everything on the day is the only way not to</a:t>
            </a:r>
            <a:endParaRPr lang="en-US" sz="1350" dirty="0"/>
          </a:p>
        </p:txBody>
      </p:sp>
      <p:sp>
        <p:nvSpPr>
          <p:cNvPr id="41" name="Text 37"/>
          <p:cNvSpPr/>
          <p:nvPr/>
        </p:nvSpPr>
        <p:spPr>
          <a:xfrm>
            <a:off x="9436608" y="1975104"/>
            <a:ext cx="2371039" cy="786384"/>
          </a:xfrm>
          <a:prstGeom prst="rect">
            <a:avLst/>
          </a:prstGeom>
          <a:noFill/>
          <a:ln/>
        </p:spPr>
        <p:txBody>
          <a:bodyPr wrap="square" lIns="0" tIns="0" rIns="0" bIns="0" rtlCol="0" anchor="ctr"/>
          <a:lstStyle/>
          <a:p>
            <a:pPr indent="0" marL="0">
              <a:lnSpc>
                <a:spcPct val="116000"/>
              </a:lnSpc>
              <a:buNone/>
            </a:pPr>
            <a:r>
              <a:rPr lang="en-US" sz="1050" dirty="0">
                <a:solidFill>
                  <a:srgbClr val="E8EEF2"/>
                </a:solidFill>
                <a:latin typeface="Arial" pitchFamily="34" charset="0"/>
                <a:ea typeface="Arial" pitchFamily="34" charset="-122"/>
                <a:cs typeface="Arial" pitchFamily="34" charset="-120"/>
              </a:rPr>
              <a:t>Mail volume is steady and unfiltered. A quiz notice and a food delivery receipt arrive in the same stream, with the same weight.</a:t>
            </a:r>
            <a:endParaRPr lang="en-US" sz="1050" dirty="0"/>
          </a:p>
        </p:txBody>
      </p:sp>
      <p:sp>
        <p:nvSpPr>
          <p:cNvPr id="42" name="Text 38"/>
          <p:cNvSpPr/>
          <p:nvPr/>
        </p:nvSpPr>
        <p:spPr>
          <a:xfrm>
            <a:off x="9436608" y="2834640"/>
            <a:ext cx="2371039" cy="786384"/>
          </a:xfrm>
          <a:prstGeom prst="rect">
            <a:avLst/>
          </a:prstGeom>
          <a:noFill/>
          <a:ln/>
        </p:spPr>
        <p:txBody>
          <a:bodyPr wrap="square" lIns="0" tIns="0" rIns="0" bIns="0" rtlCol="0" anchor="ctr"/>
          <a:lstStyle/>
          <a:p>
            <a:pPr indent="0" marL="0">
              <a:lnSpc>
                <a:spcPct val="116000"/>
              </a:lnSpc>
              <a:buNone/>
            </a:pPr>
            <a:r>
              <a:rPr lang="en-US" sz="1050" dirty="0">
                <a:solidFill>
                  <a:srgbClr val="E8EEF2"/>
                </a:solidFill>
                <a:latin typeface="Arial" pitchFamily="34" charset="0"/>
                <a:ea typeface="Arial" pitchFamily="34" charset="-122"/>
                <a:cs typeface="Arial" pitchFamily="34" charset="-120"/>
              </a:rPr>
              <a:t>The details are all there: date, time, venue, registration link. They simply never reach a calendar, because that step is manual.</a:t>
            </a:r>
            <a:endParaRPr lang="en-US" sz="1050" dirty="0"/>
          </a:p>
        </p:txBody>
      </p:sp>
      <p:sp>
        <p:nvSpPr>
          <p:cNvPr id="43" name="Text 39"/>
          <p:cNvSpPr/>
          <p:nvPr/>
        </p:nvSpPr>
        <p:spPr>
          <a:xfrm>
            <a:off x="9436608" y="3694176"/>
            <a:ext cx="2371039" cy="475488"/>
          </a:xfrm>
          <a:prstGeom prst="rect">
            <a:avLst/>
          </a:prstGeom>
          <a:noFill/>
          <a:ln/>
        </p:spPr>
        <p:txBody>
          <a:bodyPr wrap="square" lIns="0" tIns="0" rIns="0" bIns="0" rtlCol="0" anchor="ctr"/>
          <a:lstStyle/>
          <a:p>
            <a:pPr indent="0" marL="0">
              <a:buNone/>
            </a:pPr>
            <a:r>
              <a:rPr lang="en-US" sz="3000" b="1" dirty="0">
                <a:solidFill>
                  <a:srgbClr val="00A9F4"/>
                </a:solidFill>
                <a:latin typeface="Georgia" pitchFamily="34" charset="0"/>
                <a:ea typeface="Georgia" pitchFamily="34" charset="-122"/>
                <a:cs typeface="Georgia" pitchFamily="34" charset="-120"/>
              </a:rPr>
              <a:t>3 per hour</a:t>
            </a:r>
            <a:endParaRPr lang="en-US" sz="3000" dirty="0"/>
          </a:p>
        </p:txBody>
      </p:sp>
      <p:sp>
        <p:nvSpPr>
          <p:cNvPr id="44" name="Text 40"/>
          <p:cNvSpPr/>
          <p:nvPr/>
        </p:nvSpPr>
        <p:spPr>
          <a:xfrm>
            <a:off x="9436608" y="4151376"/>
            <a:ext cx="2371039" cy="365760"/>
          </a:xfrm>
          <a:prstGeom prst="rect">
            <a:avLst/>
          </a:prstGeom>
          <a:noFill/>
          <a:ln/>
        </p:spPr>
        <p:txBody>
          <a:bodyPr wrap="square" lIns="0" tIns="0" rIns="0" bIns="0" rtlCol="0" anchor="ctr"/>
          <a:lstStyle/>
          <a:p>
            <a:pPr indent="0" marL="0">
              <a:lnSpc>
                <a:spcPct val="110000"/>
              </a:lnSpc>
              <a:buNone/>
            </a:pPr>
            <a:r>
              <a:rPr lang="en-US" sz="950" dirty="0">
                <a:solidFill>
                  <a:srgbClr val="AFC2CE"/>
                </a:solidFill>
                <a:latin typeface="Arial" pitchFamily="34" charset="0"/>
                <a:ea typeface="Arial" pitchFamily="34" charset="-122"/>
                <a:cs typeface="Arial" pitchFamily="34" charset="-120"/>
              </a:rPr>
              <a:t>Average inbound rate over the captured window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Every existing tool assumes a student types the event in, which is exactly the step that never happens</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Illustrative, not exhaustive</a:t>
            </a:r>
            <a:endParaRPr lang="en-US" sz="900" dirty="0"/>
          </a:p>
        </p:txBody>
      </p:sp>
      <p:sp>
        <p:nvSpPr>
          <p:cNvPr id="5" name="Shape 3"/>
          <p:cNvSpPr/>
          <p:nvPr/>
        </p:nvSpPr>
        <p:spPr>
          <a:xfrm>
            <a:off x="512064" y="6400800"/>
            <a:ext cx="11173968" cy="0"/>
          </a:xfrm>
          <a:prstGeom prst="line">
            <a:avLst/>
          </a:prstGeom>
          <a:noFill/>
          <a:ln w="6350">
            <a:solidFill>
              <a:srgbClr val="D0D0D0"/>
            </a:solidFill>
            <a:prstDash val="solid"/>
          </a:ln>
        </p:spPr>
      </p:sp>
      <p:sp>
        <p:nvSpPr>
          <p:cNvPr id="6" name="Text 4"/>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problem definition, Agile CCC application response, July 2026</a:t>
            </a:r>
            <a:endParaRPr lang="en-US" sz="800" dirty="0"/>
          </a:p>
        </p:txBody>
      </p:sp>
      <p:sp>
        <p:nvSpPr>
          <p:cNvPr id="7" name="Text 5"/>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3</a:t>
            </a:r>
            <a:endParaRPr lang="en-US" sz="900" dirty="0"/>
          </a:p>
        </p:txBody>
      </p:sp>
      <p:sp>
        <p:nvSpPr>
          <p:cNvPr id="9" name="Text 6"/>
          <p:cNvSpPr/>
          <p:nvPr/>
        </p:nvSpPr>
        <p:spPr>
          <a:xfrm>
            <a:off x="512064" y="1463040"/>
            <a:ext cx="5029200" cy="292608"/>
          </a:xfrm>
          <a:prstGeom prst="rect">
            <a:avLst/>
          </a:prstGeom>
          <a:noFill/>
          <a:ln/>
        </p:spPr>
        <p:txBody>
          <a:bodyPr wrap="square" lIns="0" tIns="0" rIns="0" bIns="0" rtlCol="0" anchor="ctr"/>
          <a:lstStyle/>
          <a:p>
            <a:pPr indent="0" marL="0">
              <a:buNone/>
            </a:pPr>
            <a:r>
              <a:rPr lang="en-US" sz="1250" b="1" dirty="0">
                <a:solidFill>
                  <a:srgbClr val="7F7F7F"/>
                </a:solidFill>
                <a:latin typeface="Arial" pitchFamily="34" charset="0"/>
                <a:ea typeface="Arial" pitchFamily="34" charset="-122"/>
                <a:cs typeface="Arial" pitchFamily="34" charset="-120"/>
              </a:rPr>
              <a:t>What the current process assumes</a:t>
            </a:r>
            <a:endParaRPr lang="en-US" sz="1250" dirty="0"/>
          </a:p>
        </p:txBody>
      </p:sp>
      <p:sp>
        <p:nvSpPr>
          <p:cNvPr id="10" name="Text 7"/>
          <p:cNvSpPr/>
          <p:nvPr/>
        </p:nvSpPr>
        <p:spPr>
          <a:xfrm>
            <a:off x="6309360" y="1463040"/>
            <a:ext cx="5029200" cy="292608"/>
          </a:xfrm>
          <a:prstGeom prst="rect">
            <a:avLst/>
          </a:prstGeom>
          <a:noFill/>
          <a:ln/>
        </p:spPr>
        <p:txBody>
          <a:bodyPr wrap="square" lIns="0" tIns="0" rIns="0" bIns="0" rtlCol="0" anchor="ctr"/>
          <a:lstStyle/>
          <a:p>
            <a:pPr indent="0" marL="0">
              <a:buNone/>
            </a:pPr>
            <a:r>
              <a:rPr lang="en-US" sz="1250" b="1" dirty="0">
                <a:solidFill>
                  <a:srgbClr val="051C2C"/>
                </a:solidFill>
                <a:latin typeface="Arial" pitchFamily="34" charset="0"/>
                <a:ea typeface="Arial" pitchFamily="34" charset="-122"/>
                <a:cs typeface="Arial" pitchFamily="34" charset="-120"/>
              </a:rPr>
              <a:t>What actually happens</a:t>
            </a:r>
            <a:endParaRPr lang="en-US" sz="1250" dirty="0"/>
          </a:p>
        </p:txBody>
      </p:sp>
      <p:sp>
        <p:nvSpPr>
          <p:cNvPr id="11" name="Shape 8"/>
          <p:cNvSpPr/>
          <p:nvPr/>
        </p:nvSpPr>
        <p:spPr>
          <a:xfrm>
            <a:off x="512064" y="1773936"/>
            <a:ext cx="5029200" cy="0"/>
          </a:xfrm>
          <a:prstGeom prst="line">
            <a:avLst/>
          </a:prstGeom>
          <a:noFill/>
          <a:ln w="9525">
            <a:solidFill>
              <a:srgbClr val="D0D0D0"/>
            </a:solidFill>
            <a:prstDash val="solid"/>
          </a:ln>
        </p:spPr>
      </p:sp>
      <p:sp>
        <p:nvSpPr>
          <p:cNvPr id="12" name="Shape 9"/>
          <p:cNvSpPr/>
          <p:nvPr/>
        </p:nvSpPr>
        <p:spPr>
          <a:xfrm>
            <a:off x="6309360" y="1773936"/>
            <a:ext cx="5029200" cy="0"/>
          </a:xfrm>
          <a:prstGeom prst="line">
            <a:avLst/>
          </a:prstGeom>
          <a:noFill/>
          <a:ln w="9525">
            <a:solidFill>
              <a:srgbClr val="051C2C"/>
            </a:solidFill>
            <a:prstDash val="solid"/>
          </a:ln>
        </p:spPr>
      </p:sp>
      <p:sp>
        <p:nvSpPr>
          <p:cNvPr id="13" name="Shape 10"/>
          <p:cNvSpPr/>
          <p:nvPr/>
        </p:nvSpPr>
        <p:spPr>
          <a:xfrm>
            <a:off x="512064" y="2039112"/>
            <a:ext cx="237744" cy="237744"/>
          </a:xfrm>
          <a:prstGeom prst="ellipse">
            <a:avLst/>
          </a:prstGeom>
          <a:solidFill>
            <a:srgbClr val="051C2C"/>
          </a:solidFill>
          <a:ln w="12700">
            <a:solidFill>
              <a:srgbClr val="051C2C"/>
            </a:solidFill>
            <a:prstDash val="solid"/>
          </a:ln>
        </p:spPr>
      </p:sp>
      <p:sp>
        <p:nvSpPr>
          <p:cNvPr id="14" name="Text 11"/>
          <p:cNvSpPr/>
          <p:nvPr/>
        </p:nvSpPr>
        <p:spPr>
          <a:xfrm>
            <a:off x="512064" y="20391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5" name="Text 12"/>
          <p:cNvSpPr/>
          <p:nvPr/>
        </p:nvSpPr>
        <p:spPr>
          <a:xfrm>
            <a:off x="877824" y="1993392"/>
            <a:ext cx="4617720" cy="457200"/>
          </a:xfrm>
          <a:prstGeom prst="rect">
            <a:avLst/>
          </a:prstGeom>
          <a:noFill/>
          <a:ln/>
        </p:spPr>
        <p:txBody>
          <a:bodyPr wrap="square" lIns="0" tIns="0" rIns="0" bIns="0" rtlCol="0" anchor="ctr"/>
          <a:lstStyle/>
          <a:p>
            <a:pPr indent="0" marL="0">
              <a:lnSpc>
                <a:spcPct val="112000"/>
              </a:lnSpc>
              <a:buNone/>
            </a:pPr>
            <a:r>
              <a:rPr lang="en-US" sz="1100" dirty="0">
                <a:solidFill>
                  <a:srgbClr val="7F7F7F"/>
                </a:solidFill>
                <a:latin typeface="Arial" pitchFamily="34" charset="0"/>
                <a:ea typeface="Arial" pitchFamily="34" charset="-122"/>
                <a:cs typeface="Arial" pitchFamily="34" charset="-120"/>
              </a:rPr>
              <a:t>The student reads every mail on the day it arrives</a:t>
            </a:r>
            <a:endParaRPr lang="en-US" sz="1100" dirty="0"/>
          </a:p>
        </p:txBody>
      </p:sp>
      <p:sp>
        <p:nvSpPr>
          <p:cNvPr id="16" name="Text 13"/>
          <p:cNvSpPr/>
          <p:nvPr/>
        </p:nvSpPr>
        <p:spPr>
          <a:xfrm>
            <a:off x="6309360" y="1993392"/>
            <a:ext cx="5029200" cy="457200"/>
          </a:xfrm>
          <a:prstGeom prst="rect">
            <a:avLst/>
          </a:prstGeom>
          <a:noFill/>
          <a:ln/>
        </p:spPr>
        <p:txBody>
          <a:bodyPr wrap="square" lIns="0" tIns="0" rIns="0" bIns="0" rtlCol="0" anchor="ctr"/>
          <a:lstStyle/>
          <a:p>
            <a:pPr indent="0" marL="0">
              <a:lnSpc>
                <a:spcPct val="112000"/>
              </a:lnSpc>
              <a:buNone/>
            </a:pPr>
            <a:r>
              <a:rPr lang="en-US" sz="1100" b="1" dirty="0">
                <a:solidFill>
                  <a:srgbClr val="051C2C"/>
                </a:solidFill>
                <a:latin typeface="Arial" pitchFamily="34" charset="0"/>
                <a:ea typeface="Arial" pitchFamily="34" charset="-122"/>
                <a:cs typeface="Arial" pitchFamily="34" charset="-120"/>
              </a:rPr>
              <a:t>14 mails an evening; most are skimmed, many are never opened</a:t>
            </a:r>
            <a:endParaRPr lang="en-US" sz="1100" dirty="0"/>
          </a:p>
        </p:txBody>
      </p:sp>
      <p:sp>
        <p:nvSpPr>
          <p:cNvPr id="17" name="Shape 14"/>
          <p:cNvSpPr/>
          <p:nvPr/>
        </p:nvSpPr>
        <p:spPr>
          <a:xfrm>
            <a:off x="512064" y="2651760"/>
            <a:ext cx="10826496" cy="0"/>
          </a:xfrm>
          <a:prstGeom prst="line">
            <a:avLst/>
          </a:prstGeom>
          <a:noFill/>
          <a:ln w="6350">
            <a:solidFill>
              <a:srgbClr val="D0D0D0"/>
            </a:solidFill>
            <a:prstDash val="solid"/>
          </a:ln>
        </p:spPr>
      </p:sp>
      <p:sp>
        <p:nvSpPr>
          <p:cNvPr id="18" name="Shape 15"/>
          <p:cNvSpPr/>
          <p:nvPr/>
        </p:nvSpPr>
        <p:spPr>
          <a:xfrm>
            <a:off x="512064" y="2752344"/>
            <a:ext cx="237744" cy="237744"/>
          </a:xfrm>
          <a:prstGeom prst="ellipse">
            <a:avLst/>
          </a:prstGeom>
          <a:solidFill>
            <a:srgbClr val="051C2C"/>
          </a:solidFill>
          <a:ln w="12700">
            <a:solidFill>
              <a:srgbClr val="051C2C"/>
            </a:solidFill>
            <a:prstDash val="solid"/>
          </a:ln>
        </p:spPr>
      </p:sp>
      <p:sp>
        <p:nvSpPr>
          <p:cNvPr id="19" name="Text 16"/>
          <p:cNvSpPr/>
          <p:nvPr/>
        </p:nvSpPr>
        <p:spPr>
          <a:xfrm>
            <a:off x="512064" y="275234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20" name="Text 17"/>
          <p:cNvSpPr/>
          <p:nvPr/>
        </p:nvSpPr>
        <p:spPr>
          <a:xfrm>
            <a:off x="877824" y="2706624"/>
            <a:ext cx="4617720" cy="457200"/>
          </a:xfrm>
          <a:prstGeom prst="rect">
            <a:avLst/>
          </a:prstGeom>
          <a:noFill/>
          <a:ln/>
        </p:spPr>
        <p:txBody>
          <a:bodyPr wrap="square" lIns="0" tIns="0" rIns="0" bIns="0" rtlCol="0" anchor="ctr"/>
          <a:lstStyle/>
          <a:p>
            <a:pPr indent="0" marL="0">
              <a:lnSpc>
                <a:spcPct val="112000"/>
              </a:lnSpc>
              <a:buNone/>
            </a:pPr>
            <a:r>
              <a:rPr lang="en-US" sz="1100" dirty="0">
                <a:solidFill>
                  <a:srgbClr val="7F7F7F"/>
                </a:solidFill>
                <a:latin typeface="Arial" pitchFamily="34" charset="0"/>
                <a:ea typeface="Arial" pitchFamily="34" charset="-122"/>
                <a:cs typeface="Arial" pitchFamily="34" charset="-120"/>
              </a:rPr>
              <a:t>The student copies date, time and venue into a calendar</a:t>
            </a:r>
            <a:endParaRPr lang="en-US" sz="1100" dirty="0"/>
          </a:p>
        </p:txBody>
      </p:sp>
      <p:sp>
        <p:nvSpPr>
          <p:cNvPr id="21" name="Text 18"/>
          <p:cNvSpPr/>
          <p:nvPr/>
        </p:nvSpPr>
        <p:spPr>
          <a:xfrm>
            <a:off x="6309360" y="2706624"/>
            <a:ext cx="5029200" cy="457200"/>
          </a:xfrm>
          <a:prstGeom prst="rect">
            <a:avLst/>
          </a:prstGeom>
          <a:noFill/>
          <a:ln/>
        </p:spPr>
        <p:txBody>
          <a:bodyPr wrap="square" lIns="0" tIns="0" rIns="0" bIns="0" rtlCol="0" anchor="ctr"/>
          <a:lstStyle/>
          <a:p>
            <a:pPr indent="0" marL="0">
              <a:lnSpc>
                <a:spcPct val="112000"/>
              </a:lnSpc>
              <a:buNone/>
            </a:pPr>
            <a:r>
              <a:rPr lang="en-US" sz="1100" b="1" dirty="0">
                <a:solidFill>
                  <a:srgbClr val="051C2C"/>
                </a:solidFill>
                <a:latin typeface="Arial" pitchFamily="34" charset="0"/>
                <a:ea typeface="Arial" pitchFamily="34" charset="-122"/>
                <a:cs typeface="Arial" pitchFamily="34" charset="-120"/>
              </a:rPr>
              <a:t>Manual entry is the single step nobody performs, for any mail</a:t>
            </a:r>
            <a:endParaRPr lang="en-US" sz="1100" dirty="0"/>
          </a:p>
        </p:txBody>
      </p:sp>
      <p:sp>
        <p:nvSpPr>
          <p:cNvPr id="22" name="Shape 19"/>
          <p:cNvSpPr/>
          <p:nvPr/>
        </p:nvSpPr>
        <p:spPr>
          <a:xfrm>
            <a:off x="512064" y="3364992"/>
            <a:ext cx="10826496" cy="0"/>
          </a:xfrm>
          <a:prstGeom prst="line">
            <a:avLst/>
          </a:prstGeom>
          <a:noFill/>
          <a:ln w="6350">
            <a:solidFill>
              <a:srgbClr val="D0D0D0"/>
            </a:solidFill>
            <a:prstDash val="solid"/>
          </a:ln>
        </p:spPr>
      </p:sp>
      <p:sp>
        <p:nvSpPr>
          <p:cNvPr id="23" name="Shape 20"/>
          <p:cNvSpPr/>
          <p:nvPr/>
        </p:nvSpPr>
        <p:spPr>
          <a:xfrm>
            <a:off x="512064" y="3465576"/>
            <a:ext cx="237744" cy="237744"/>
          </a:xfrm>
          <a:prstGeom prst="ellipse">
            <a:avLst/>
          </a:prstGeom>
          <a:solidFill>
            <a:srgbClr val="051C2C"/>
          </a:solidFill>
          <a:ln w="12700">
            <a:solidFill>
              <a:srgbClr val="051C2C"/>
            </a:solidFill>
            <a:prstDash val="solid"/>
          </a:ln>
        </p:spPr>
      </p:sp>
      <p:sp>
        <p:nvSpPr>
          <p:cNvPr id="24" name="Text 21"/>
          <p:cNvSpPr/>
          <p:nvPr/>
        </p:nvSpPr>
        <p:spPr>
          <a:xfrm>
            <a:off x="512064" y="346557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5" name="Text 22"/>
          <p:cNvSpPr/>
          <p:nvPr/>
        </p:nvSpPr>
        <p:spPr>
          <a:xfrm>
            <a:off x="877824" y="3419856"/>
            <a:ext cx="4617720" cy="457200"/>
          </a:xfrm>
          <a:prstGeom prst="rect">
            <a:avLst/>
          </a:prstGeom>
          <a:noFill/>
          <a:ln/>
        </p:spPr>
        <p:txBody>
          <a:bodyPr wrap="square" lIns="0" tIns="0" rIns="0" bIns="0" rtlCol="0" anchor="ctr"/>
          <a:lstStyle/>
          <a:p>
            <a:pPr indent="0" marL="0">
              <a:lnSpc>
                <a:spcPct val="112000"/>
              </a:lnSpc>
              <a:buNone/>
            </a:pPr>
            <a:r>
              <a:rPr lang="en-US" sz="1100" dirty="0">
                <a:solidFill>
                  <a:srgbClr val="7F7F7F"/>
                </a:solidFill>
                <a:latin typeface="Arial" pitchFamily="34" charset="0"/>
                <a:ea typeface="Arial" pitchFamily="34" charset="-122"/>
                <a:cs typeface="Arial" pitchFamily="34" charset="-120"/>
              </a:rPr>
              <a:t>Clubs and offices publish to a shared campus calendar</a:t>
            </a:r>
            <a:endParaRPr lang="en-US" sz="1100" dirty="0"/>
          </a:p>
        </p:txBody>
      </p:sp>
      <p:sp>
        <p:nvSpPr>
          <p:cNvPr id="26" name="Text 23"/>
          <p:cNvSpPr/>
          <p:nvPr/>
        </p:nvSpPr>
        <p:spPr>
          <a:xfrm>
            <a:off x="6309360" y="3419856"/>
            <a:ext cx="5029200" cy="457200"/>
          </a:xfrm>
          <a:prstGeom prst="rect">
            <a:avLst/>
          </a:prstGeom>
          <a:noFill/>
          <a:ln/>
        </p:spPr>
        <p:txBody>
          <a:bodyPr wrap="square" lIns="0" tIns="0" rIns="0" bIns="0" rtlCol="0" anchor="ctr"/>
          <a:lstStyle/>
          <a:p>
            <a:pPr indent="0" marL="0">
              <a:lnSpc>
                <a:spcPct val="112000"/>
              </a:lnSpc>
              <a:buNone/>
            </a:pPr>
            <a:r>
              <a:rPr lang="en-US" sz="1100" b="1" dirty="0">
                <a:solidFill>
                  <a:srgbClr val="051C2C"/>
                </a:solidFill>
                <a:latin typeface="Arial" pitchFamily="34" charset="0"/>
                <a:ea typeface="Arial" pitchFamily="34" charset="-122"/>
                <a:cs typeface="Arial" pitchFamily="34" charset="-120"/>
              </a:rPr>
              <a:t>No shared calendar exists; each club broadcasts by email only</a:t>
            </a:r>
            <a:endParaRPr lang="en-US" sz="1100" dirty="0"/>
          </a:p>
        </p:txBody>
      </p:sp>
      <p:sp>
        <p:nvSpPr>
          <p:cNvPr id="27" name="Shape 24"/>
          <p:cNvSpPr/>
          <p:nvPr/>
        </p:nvSpPr>
        <p:spPr>
          <a:xfrm>
            <a:off x="512064" y="4078224"/>
            <a:ext cx="10826496" cy="0"/>
          </a:xfrm>
          <a:prstGeom prst="line">
            <a:avLst/>
          </a:prstGeom>
          <a:noFill/>
          <a:ln w="6350">
            <a:solidFill>
              <a:srgbClr val="D0D0D0"/>
            </a:solidFill>
            <a:prstDash val="solid"/>
          </a:ln>
        </p:spPr>
      </p:sp>
      <p:sp>
        <p:nvSpPr>
          <p:cNvPr id="28" name="Shape 25"/>
          <p:cNvSpPr/>
          <p:nvPr/>
        </p:nvSpPr>
        <p:spPr>
          <a:xfrm>
            <a:off x="512064" y="4178808"/>
            <a:ext cx="237744" cy="237744"/>
          </a:xfrm>
          <a:prstGeom prst="ellipse">
            <a:avLst/>
          </a:prstGeom>
          <a:solidFill>
            <a:srgbClr val="051C2C"/>
          </a:solidFill>
          <a:ln w="12700">
            <a:solidFill>
              <a:srgbClr val="051C2C"/>
            </a:solidFill>
            <a:prstDash val="solid"/>
          </a:ln>
        </p:spPr>
      </p:sp>
      <p:sp>
        <p:nvSpPr>
          <p:cNvPr id="29" name="Text 26"/>
          <p:cNvSpPr/>
          <p:nvPr/>
        </p:nvSpPr>
        <p:spPr>
          <a:xfrm>
            <a:off x="512064" y="417880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0" name="Text 27"/>
          <p:cNvSpPr/>
          <p:nvPr/>
        </p:nvSpPr>
        <p:spPr>
          <a:xfrm>
            <a:off x="877824" y="4133088"/>
            <a:ext cx="4617720" cy="457200"/>
          </a:xfrm>
          <a:prstGeom prst="rect">
            <a:avLst/>
          </a:prstGeom>
          <a:noFill/>
          <a:ln/>
        </p:spPr>
        <p:txBody>
          <a:bodyPr wrap="square" lIns="0" tIns="0" rIns="0" bIns="0" rtlCol="0" anchor="ctr"/>
          <a:lstStyle/>
          <a:p>
            <a:pPr indent="0" marL="0">
              <a:lnSpc>
                <a:spcPct val="112000"/>
              </a:lnSpc>
              <a:buNone/>
            </a:pPr>
            <a:r>
              <a:rPr lang="en-US" sz="1100" dirty="0">
                <a:solidFill>
                  <a:srgbClr val="7F7F7F"/>
                </a:solidFill>
                <a:latin typeface="Arial" pitchFamily="34" charset="0"/>
                <a:ea typeface="Arial" pitchFamily="34" charset="-122"/>
                <a:cs typeface="Arial" pitchFamily="34" charset="-120"/>
              </a:rPr>
              <a:t>Registration links are saved when the mail is read</a:t>
            </a:r>
            <a:endParaRPr lang="en-US" sz="1100" dirty="0"/>
          </a:p>
        </p:txBody>
      </p:sp>
      <p:sp>
        <p:nvSpPr>
          <p:cNvPr id="31" name="Text 28"/>
          <p:cNvSpPr/>
          <p:nvPr/>
        </p:nvSpPr>
        <p:spPr>
          <a:xfrm>
            <a:off x="6309360" y="4133088"/>
            <a:ext cx="5029200" cy="457200"/>
          </a:xfrm>
          <a:prstGeom prst="rect">
            <a:avLst/>
          </a:prstGeom>
          <a:noFill/>
          <a:ln/>
        </p:spPr>
        <p:txBody>
          <a:bodyPr wrap="square" lIns="0" tIns="0" rIns="0" bIns="0" rtlCol="0" anchor="ctr"/>
          <a:lstStyle/>
          <a:p>
            <a:pPr indent="0" marL="0">
              <a:lnSpc>
                <a:spcPct val="112000"/>
              </a:lnSpc>
              <a:buNone/>
            </a:pPr>
            <a:r>
              <a:rPr lang="en-US" sz="1100" b="1" dirty="0">
                <a:solidFill>
                  <a:srgbClr val="051C2C"/>
                </a:solidFill>
                <a:latin typeface="Arial" pitchFamily="34" charset="0"/>
                <a:ea typeface="Arial" pitchFamily="34" charset="-122"/>
                <a:cs typeface="Arial" pitchFamily="34" charset="-120"/>
              </a:rPr>
              <a:t>Links are buried in threads and re-found by searching the inbox</a:t>
            </a:r>
            <a:endParaRPr lang="en-US" sz="1100" dirty="0"/>
          </a:p>
        </p:txBody>
      </p:sp>
      <p:sp>
        <p:nvSpPr>
          <p:cNvPr id="32" name="Shape 29"/>
          <p:cNvSpPr/>
          <p:nvPr/>
        </p:nvSpPr>
        <p:spPr>
          <a:xfrm>
            <a:off x="512064" y="4791456"/>
            <a:ext cx="10826496" cy="0"/>
          </a:xfrm>
          <a:prstGeom prst="line">
            <a:avLst/>
          </a:prstGeom>
          <a:noFill/>
          <a:ln w="6350">
            <a:solidFill>
              <a:srgbClr val="D0D0D0"/>
            </a:solidFill>
            <a:prstDash val="solid"/>
          </a:ln>
        </p:spPr>
      </p:sp>
      <p:sp>
        <p:nvSpPr>
          <p:cNvPr id="33" name="Shape 30"/>
          <p:cNvSpPr/>
          <p:nvPr/>
        </p:nvSpPr>
        <p:spPr>
          <a:xfrm>
            <a:off x="512064" y="4892040"/>
            <a:ext cx="237744" cy="237744"/>
          </a:xfrm>
          <a:prstGeom prst="ellipse">
            <a:avLst/>
          </a:prstGeom>
          <a:solidFill>
            <a:srgbClr val="051C2C"/>
          </a:solidFill>
          <a:ln w="12700">
            <a:solidFill>
              <a:srgbClr val="051C2C"/>
            </a:solidFill>
            <a:prstDash val="solid"/>
          </a:ln>
        </p:spPr>
      </p:sp>
      <p:sp>
        <p:nvSpPr>
          <p:cNvPr id="34" name="Text 31"/>
          <p:cNvSpPr/>
          <p:nvPr/>
        </p:nvSpPr>
        <p:spPr>
          <a:xfrm>
            <a:off x="512064" y="4892040"/>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5" name="Text 32"/>
          <p:cNvSpPr/>
          <p:nvPr/>
        </p:nvSpPr>
        <p:spPr>
          <a:xfrm>
            <a:off x="877824" y="4846320"/>
            <a:ext cx="4617720" cy="457200"/>
          </a:xfrm>
          <a:prstGeom prst="rect">
            <a:avLst/>
          </a:prstGeom>
          <a:noFill/>
          <a:ln/>
        </p:spPr>
        <p:txBody>
          <a:bodyPr wrap="square" lIns="0" tIns="0" rIns="0" bIns="0" rtlCol="0" anchor="ctr"/>
          <a:lstStyle/>
          <a:p>
            <a:pPr indent="0" marL="0">
              <a:lnSpc>
                <a:spcPct val="112000"/>
              </a:lnSpc>
              <a:buNone/>
            </a:pPr>
            <a:r>
              <a:rPr lang="en-US" sz="1100" dirty="0">
                <a:solidFill>
                  <a:srgbClr val="7F7F7F"/>
                </a:solidFill>
                <a:latin typeface="Arial" pitchFamily="34" charset="0"/>
                <a:ea typeface="Arial" pitchFamily="34" charset="-122"/>
                <a:cs typeface="Arial" pitchFamily="34" charset="-120"/>
              </a:rPr>
              <a:t>Missing an event is an individual lapse</a:t>
            </a:r>
            <a:endParaRPr lang="en-US" sz="1100" dirty="0"/>
          </a:p>
        </p:txBody>
      </p:sp>
      <p:sp>
        <p:nvSpPr>
          <p:cNvPr id="36" name="Text 33"/>
          <p:cNvSpPr/>
          <p:nvPr/>
        </p:nvSpPr>
        <p:spPr>
          <a:xfrm>
            <a:off x="6309360" y="4846320"/>
            <a:ext cx="5029200" cy="457200"/>
          </a:xfrm>
          <a:prstGeom prst="rect">
            <a:avLst/>
          </a:prstGeom>
          <a:noFill/>
          <a:ln/>
        </p:spPr>
        <p:txBody>
          <a:bodyPr wrap="square" lIns="0" tIns="0" rIns="0" bIns="0" rtlCol="0" anchor="ctr"/>
          <a:lstStyle/>
          <a:p>
            <a:pPr indent="0" marL="0">
              <a:lnSpc>
                <a:spcPct val="112000"/>
              </a:lnSpc>
              <a:buNone/>
            </a:pPr>
            <a:r>
              <a:rPr lang="en-US" sz="1100" b="1" dirty="0">
                <a:solidFill>
                  <a:srgbClr val="051C2C"/>
                </a:solidFill>
                <a:latin typeface="Arial" pitchFamily="34" charset="0"/>
                <a:ea typeface="Arial" pitchFamily="34" charset="-122"/>
                <a:cs typeface="Arial" pitchFamily="34" charset="-120"/>
              </a:rPr>
              <a:t>Whole sections learn about deadlines second hand, from peers</a:t>
            </a:r>
            <a:endParaRPr lang="en-US" sz="1100" dirty="0"/>
          </a:p>
        </p:txBody>
      </p:sp>
      <p:sp>
        <p:nvSpPr>
          <p:cNvPr id="37" name="Shape 34"/>
          <p:cNvSpPr/>
          <p:nvPr/>
        </p:nvSpPr>
        <p:spPr>
          <a:xfrm>
            <a:off x="512064" y="5504688"/>
            <a:ext cx="10826496" cy="0"/>
          </a:xfrm>
          <a:prstGeom prst="line">
            <a:avLst/>
          </a:prstGeom>
          <a:noFill/>
          <a:ln w="6350">
            <a:solidFill>
              <a:srgbClr val="D0D0D0"/>
            </a:solidFill>
            <a:prstDash val="solid"/>
          </a:ln>
        </p:spPr>
      </p:sp>
      <p:sp>
        <p:nvSpPr>
          <p:cNvPr id="38" name="Text 35"/>
          <p:cNvSpPr/>
          <p:nvPr/>
        </p:nvSpPr>
        <p:spPr>
          <a:xfrm>
            <a:off x="512064" y="5705856"/>
            <a:ext cx="10826496" cy="365760"/>
          </a:xfrm>
          <a:prstGeom prst="rect">
            <a:avLst/>
          </a:prstGeom>
          <a:noFill/>
          <a:ln/>
        </p:spPr>
        <p:txBody>
          <a:bodyPr wrap="square" lIns="0" tIns="0" rIns="0" bIns="0" rtlCol="0" anchor="ctr"/>
          <a:lstStyle/>
          <a:p>
            <a:pPr indent="0" marL="0">
              <a:buNone/>
            </a:pPr>
            <a:r>
              <a:rPr lang="en-US" sz="1150" b="1" dirty="0">
                <a:solidFill>
                  <a:srgbClr val="051C2C"/>
                </a:solidFill>
                <a:latin typeface="Arial" pitchFamily="34" charset="0"/>
                <a:ea typeface="Arial" pitchFamily="34" charset="-122"/>
                <a:cs typeface="Arial" pitchFamily="34" charset="-120"/>
              </a:rPr>
              <a:t>The implication: </a:t>
            </a:r>
            <a:pPr indent="0" marL="0">
              <a:buNone/>
            </a:pPr>
            <a:r>
              <a:rPr lang="en-US" sz="1150" dirty="0">
                <a:solidFill>
                  <a:srgbClr val="333333"/>
                </a:solidFill>
                <a:latin typeface="Arial" pitchFamily="34" charset="0"/>
                <a:ea typeface="Arial" pitchFamily="34" charset="-122"/>
                <a:cs typeface="Arial" pitchFamily="34" charset="-120"/>
              </a:rPr>
              <a:t>automate the entry step and the rest of the problem disappears, because the data already exists in the mail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CampusCal removes that step: it ingests, classifies, extracts and publishes, with no manual entry at any point</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Shape 2"/>
          <p:cNvSpPr/>
          <p:nvPr/>
        </p:nvSpPr>
        <p:spPr>
          <a:xfrm>
            <a:off x="512064" y="6400800"/>
            <a:ext cx="11173968" cy="0"/>
          </a:xfrm>
          <a:prstGeom prst="line">
            <a:avLst/>
          </a:prstGeom>
          <a:noFill/>
          <a:ln w="6350">
            <a:solidFill>
              <a:srgbClr val="D0D0D0"/>
            </a:solidFill>
            <a:prstDash val="solid"/>
          </a:ln>
        </p:spPr>
      </p:sp>
      <p:sp>
        <p:nvSpPr>
          <p:cNvPr id="5" name="Text 3"/>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architecture, backend/parser.py and backend/main.py</a:t>
            </a:r>
            <a:endParaRPr lang="en-US" sz="800" dirty="0"/>
          </a:p>
        </p:txBody>
      </p:sp>
      <p:sp>
        <p:nvSpPr>
          <p:cNvPr id="6" name="Text 4"/>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4</a:t>
            </a:r>
            <a:endParaRPr lang="en-US" sz="900" dirty="0"/>
          </a:p>
        </p:txBody>
      </p:sp>
      <p:sp>
        <p:nvSpPr>
          <p:cNvPr id="8" name="Shape 5"/>
          <p:cNvSpPr/>
          <p:nvPr/>
        </p:nvSpPr>
        <p:spPr>
          <a:xfrm>
            <a:off x="512064" y="1554480"/>
            <a:ext cx="2615184" cy="713232"/>
          </a:xfrm>
          <a:prstGeom prst="chevron">
            <a:avLst/>
          </a:prstGeom>
          <a:solidFill>
            <a:srgbClr val="051C2C"/>
          </a:solidFill>
          <a:ln w="12700">
            <a:solidFill>
              <a:srgbClr val="051C2C"/>
            </a:solidFill>
            <a:prstDash val="solid"/>
          </a:ln>
        </p:spPr>
      </p:sp>
      <p:sp>
        <p:nvSpPr>
          <p:cNvPr id="9" name="Text 6"/>
          <p:cNvSpPr/>
          <p:nvPr/>
        </p:nvSpPr>
        <p:spPr>
          <a:xfrm>
            <a:off x="932688" y="1554480"/>
            <a:ext cx="1975104" cy="7132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 Ingest</a:t>
            </a:r>
            <a:endParaRPr lang="en-US" sz="1300" dirty="0"/>
          </a:p>
        </p:txBody>
      </p:sp>
      <p:sp>
        <p:nvSpPr>
          <p:cNvPr id="10" name="Shape 7"/>
          <p:cNvSpPr/>
          <p:nvPr/>
        </p:nvSpPr>
        <p:spPr>
          <a:xfrm>
            <a:off x="512064" y="2432304"/>
            <a:ext cx="2432304" cy="0"/>
          </a:xfrm>
          <a:prstGeom prst="line">
            <a:avLst/>
          </a:prstGeom>
          <a:noFill/>
          <a:ln w="6350">
            <a:solidFill>
              <a:srgbClr val="D0D0D0"/>
            </a:solidFill>
            <a:prstDash val="solid"/>
          </a:ln>
        </p:spPr>
      </p:sp>
      <p:sp>
        <p:nvSpPr>
          <p:cNvPr id="11" name="Text 8"/>
          <p:cNvSpPr/>
          <p:nvPr/>
        </p:nvSpPr>
        <p:spPr>
          <a:xfrm>
            <a:off x="512064" y="2487168"/>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Gmail API, read only</a:t>
            </a:r>
            <a:endParaRPr lang="en-US" sz="1050" dirty="0"/>
          </a:p>
        </p:txBody>
      </p:sp>
      <p:sp>
        <p:nvSpPr>
          <p:cNvPr id="12" name="Shape 9"/>
          <p:cNvSpPr/>
          <p:nvPr/>
        </p:nvSpPr>
        <p:spPr>
          <a:xfrm>
            <a:off x="512064" y="3035808"/>
            <a:ext cx="2432304" cy="0"/>
          </a:xfrm>
          <a:prstGeom prst="line">
            <a:avLst/>
          </a:prstGeom>
          <a:noFill/>
          <a:ln w="6350">
            <a:solidFill>
              <a:srgbClr val="D0D0D0"/>
            </a:solidFill>
            <a:prstDash val="solid"/>
          </a:ln>
        </p:spPr>
      </p:sp>
      <p:sp>
        <p:nvSpPr>
          <p:cNvPr id="13" name="Text 10"/>
          <p:cNvSpPr/>
          <p:nvPr/>
        </p:nvSpPr>
        <p:spPr>
          <a:xfrm>
            <a:off x="512064" y="3090672"/>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100 mails per page, 12 parallel fetches</a:t>
            </a:r>
            <a:endParaRPr lang="en-US" sz="1050" dirty="0"/>
          </a:p>
        </p:txBody>
      </p:sp>
      <p:sp>
        <p:nvSpPr>
          <p:cNvPr id="14" name="Shape 11"/>
          <p:cNvSpPr/>
          <p:nvPr/>
        </p:nvSpPr>
        <p:spPr>
          <a:xfrm>
            <a:off x="512064" y="3639312"/>
            <a:ext cx="2432304" cy="0"/>
          </a:xfrm>
          <a:prstGeom prst="line">
            <a:avLst/>
          </a:prstGeom>
          <a:noFill/>
          <a:ln w="6350">
            <a:solidFill>
              <a:srgbClr val="D0D0D0"/>
            </a:solidFill>
            <a:prstDash val="solid"/>
          </a:ln>
        </p:spPr>
      </p:sp>
      <p:sp>
        <p:nvSpPr>
          <p:cNvPr id="15" name="Text 12"/>
          <p:cNvSpPr/>
          <p:nvPr/>
        </p:nvSpPr>
        <p:spPr>
          <a:xfrm>
            <a:off x="512064" y="3694176"/>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Polls every 45 seconds while open</a:t>
            </a:r>
            <a:endParaRPr lang="en-US" sz="1050" dirty="0"/>
          </a:p>
        </p:txBody>
      </p:sp>
      <p:sp>
        <p:nvSpPr>
          <p:cNvPr id="16" name="Shape 13"/>
          <p:cNvSpPr/>
          <p:nvPr/>
        </p:nvSpPr>
        <p:spPr>
          <a:xfrm>
            <a:off x="3273552" y="1554480"/>
            <a:ext cx="2615184" cy="713232"/>
          </a:xfrm>
          <a:prstGeom prst="chevron">
            <a:avLst/>
          </a:prstGeom>
          <a:solidFill>
            <a:srgbClr val="051C2C"/>
          </a:solidFill>
          <a:ln w="12700">
            <a:solidFill>
              <a:srgbClr val="051C2C"/>
            </a:solidFill>
            <a:prstDash val="solid"/>
          </a:ln>
        </p:spPr>
      </p:sp>
      <p:sp>
        <p:nvSpPr>
          <p:cNvPr id="17" name="Text 14"/>
          <p:cNvSpPr/>
          <p:nvPr/>
        </p:nvSpPr>
        <p:spPr>
          <a:xfrm>
            <a:off x="3694176" y="1554480"/>
            <a:ext cx="1975104" cy="7132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 Classify</a:t>
            </a:r>
            <a:endParaRPr lang="en-US" sz="1300" dirty="0"/>
          </a:p>
        </p:txBody>
      </p:sp>
      <p:sp>
        <p:nvSpPr>
          <p:cNvPr id="18" name="Shape 15"/>
          <p:cNvSpPr/>
          <p:nvPr/>
        </p:nvSpPr>
        <p:spPr>
          <a:xfrm>
            <a:off x="3273552" y="2432304"/>
            <a:ext cx="2432304" cy="0"/>
          </a:xfrm>
          <a:prstGeom prst="line">
            <a:avLst/>
          </a:prstGeom>
          <a:noFill/>
          <a:ln w="6350">
            <a:solidFill>
              <a:srgbClr val="D0D0D0"/>
            </a:solidFill>
            <a:prstDash val="solid"/>
          </a:ln>
        </p:spPr>
      </p:sp>
      <p:sp>
        <p:nvSpPr>
          <p:cNvPr id="19" name="Text 16"/>
          <p:cNvSpPr/>
          <p:nvPr/>
        </p:nvSpPr>
        <p:spPr>
          <a:xfrm>
            <a:off x="3273552" y="2487168"/>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4 tiers, most certain first</a:t>
            </a:r>
            <a:endParaRPr lang="en-US" sz="1050" dirty="0"/>
          </a:p>
        </p:txBody>
      </p:sp>
      <p:sp>
        <p:nvSpPr>
          <p:cNvPr id="20" name="Shape 17"/>
          <p:cNvSpPr/>
          <p:nvPr/>
        </p:nvSpPr>
        <p:spPr>
          <a:xfrm>
            <a:off x="3273552" y="3035808"/>
            <a:ext cx="2432304" cy="0"/>
          </a:xfrm>
          <a:prstGeom prst="line">
            <a:avLst/>
          </a:prstGeom>
          <a:noFill/>
          <a:ln w="6350">
            <a:solidFill>
              <a:srgbClr val="D0D0D0"/>
            </a:solidFill>
            <a:prstDash val="solid"/>
          </a:ln>
        </p:spPr>
      </p:sp>
      <p:sp>
        <p:nvSpPr>
          <p:cNvPr id="21" name="Text 18"/>
          <p:cNvSpPr/>
          <p:nvPr/>
        </p:nvSpPr>
        <p:spPr>
          <a:xfrm>
            <a:off x="3273552" y="3090672"/>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18 source labels, 9 categories</a:t>
            </a:r>
            <a:endParaRPr lang="en-US" sz="1050" dirty="0"/>
          </a:p>
        </p:txBody>
      </p:sp>
      <p:sp>
        <p:nvSpPr>
          <p:cNvPr id="22" name="Shape 19"/>
          <p:cNvSpPr/>
          <p:nvPr/>
        </p:nvSpPr>
        <p:spPr>
          <a:xfrm>
            <a:off x="3273552" y="3639312"/>
            <a:ext cx="2432304" cy="0"/>
          </a:xfrm>
          <a:prstGeom prst="line">
            <a:avLst/>
          </a:prstGeom>
          <a:noFill/>
          <a:ln w="6350">
            <a:solidFill>
              <a:srgbClr val="D0D0D0"/>
            </a:solidFill>
            <a:prstDash val="solid"/>
          </a:ln>
        </p:spPr>
      </p:sp>
      <p:sp>
        <p:nvSpPr>
          <p:cNvPr id="23" name="Text 20"/>
          <p:cNvSpPr/>
          <p:nvPr/>
        </p:nvSpPr>
        <p:spPr>
          <a:xfrm>
            <a:off x="3273552" y="3694176"/>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Denylist blocks newsletters and receipts</a:t>
            </a:r>
            <a:endParaRPr lang="en-US" sz="1050" dirty="0"/>
          </a:p>
        </p:txBody>
      </p:sp>
      <p:sp>
        <p:nvSpPr>
          <p:cNvPr id="24" name="Shape 21"/>
          <p:cNvSpPr/>
          <p:nvPr/>
        </p:nvSpPr>
        <p:spPr>
          <a:xfrm>
            <a:off x="6035040" y="1554480"/>
            <a:ext cx="2615184" cy="713232"/>
          </a:xfrm>
          <a:prstGeom prst="chevron">
            <a:avLst/>
          </a:prstGeom>
          <a:solidFill>
            <a:srgbClr val="051C2C"/>
          </a:solidFill>
          <a:ln w="12700">
            <a:solidFill>
              <a:srgbClr val="051C2C"/>
            </a:solidFill>
            <a:prstDash val="solid"/>
          </a:ln>
        </p:spPr>
      </p:sp>
      <p:sp>
        <p:nvSpPr>
          <p:cNvPr id="25" name="Text 22"/>
          <p:cNvSpPr/>
          <p:nvPr/>
        </p:nvSpPr>
        <p:spPr>
          <a:xfrm>
            <a:off x="6455664" y="1554480"/>
            <a:ext cx="1975104" cy="7132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 Extract</a:t>
            </a:r>
            <a:endParaRPr lang="en-US" sz="1300" dirty="0"/>
          </a:p>
        </p:txBody>
      </p:sp>
      <p:sp>
        <p:nvSpPr>
          <p:cNvPr id="26" name="Shape 23"/>
          <p:cNvSpPr/>
          <p:nvPr/>
        </p:nvSpPr>
        <p:spPr>
          <a:xfrm>
            <a:off x="6035040" y="2432304"/>
            <a:ext cx="2432304" cy="0"/>
          </a:xfrm>
          <a:prstGeom prst="line">
            <a:avLst/>
          </a:prstGeom>
          <a:noFill/>
          <a:ln w="6350">
            <a:solidFill>
              <a:srgbClr val="D0D0D0"/>
            </a:solidFill>
            <a:prstDash val="solid"/>
          </a:ln>
        </p:spPr>
      </p:sp>
      <p:sp>
        <p:nvSpPr>
          <p:cNvPr id="27" name="Text 24"/>
          <p:cNvSpPr/>
          <p:nvPr/>
        </p:nvSpPr>
        <p:spPr>
          <a:xfrm>
            <a:off x="6035040" y="2487168"/>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Date, time, venue, links</a:t>
            </a:r>
            <a:endParaRPr lang="en-US" sz="1050" dirty="0"/>
          </a:p>
        </p:txBody>
      </p:sp>
      <p:sp>
        <p:nvSpPr>
          <p:cNvPr id="28" name="Shape 25"/>
          <p:cNvSpPr/>
          <p:nvPr/>
        </p:nvSpPr>
        <p:spPr>
          <a:xfrm>
            <a:off x="6035040" y="3035808"/>
            <a:ext cx="2432304" cy="0"/>
          </a:xfrm>
          <a:prstGeom prst="line">
            <a:avLst/>
          </a:prstGeom>
          <a:noFill/>
          <a:ln w="6350">
            <a:solidFill>
              <a:srgbClr val="D0D0D0"/>
            </a:solidFill>
            <a:prstDash val="solid"/>
          </a:ln>
        </p:spPr>
      </p:sp>
      <p:sp>
        <p:nvSpPr>
          <p:cNvPr id="29" name="Text 26"/>
          <p:cNvSpPr/>
          <p:nvPr/>
        </p:nvSpPr>
        <p:spPr>
          <a:xfrm>
            <a:off x="6035040" y="3090672"/>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Quoted reply text stripped first</a:t>
            </a:r>
            <a:endParaRPr lang="en-US" sz="1050" dirty="0"/>
          </a:p>
        </p:txBody>
      </p:sp>
      <p:sp>
        <p:nvSpPr>
          <p:cNvPr id="30" name="Shape 27"/>
          <p:cNvSpPr/>
          <p:nvPr/>
        </p:nvSpPr>
        <p:spPr>
          <a:xfrm>
            <a:off x="6035040" y="3639312"/>
            <a:ext cx="2432304" cy="0"/>
          </a:xfrm>
          <a:prstGeom prst="line">
            <a:avLst/>
          </a:prstGeom>
          <a:noFill/>
          <a:ln w="6350">
            <a:solidFill>
              <a:srgbClr val="D0D0D0"/>
            </a:solidFill>
            <a:prstDash val="solid"/>
          </a:ln>
        </p:spPr>
      </p:sp>
      <p:sp>
        <p:nvSpPr>
          <p:cNvPr id="31" name="Text 28"/>
          <p:cNvSpPr/>
          <p:nvPr/>
        </p:nvSpPr>
        <p:spPr>
          <a:xfrm>
            <a:off x="6035040" y="3694176"/>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Confidence score on every draft</a:t>
            </a:r>
            <a:endParaRPr lang="en-US" sz="1050" dirty="0"/>
          </a:p>
        </p:txBody>
      </p:sp>
      <p:sp>
        <p:nvSpPr>
          <p:cNvPr id="32" name="Shape 29"/>
          <p:cNvSpPr/>
          <p:nvPr/>
        </p:nvSpPr>
        <p:spPr>
          <a:xfrm>
            <a:off x="8796528" y="1554480"/>
            <a:ext cx="2615184" cy="713232"/>
          </a:xfrm>
          <a:prstGeom prst="chevron">
            <a:avLst/>
          </a:prstGeom>
          <a:solidFill>
            <a:srgbClr val="051C2C"/>
          </a:solidFill>
          <a:ln w="12700">
            <a:solidFill>
              <a:srgbClr val="051C2C"/>
            </a:solidFill>
            <a:prstDash val="solid"/>
          </a:ln>
        </p:spPr>
      </p:sp>
      <p:sp>
        <p:nvSpPr>
          <p:cNvPr id="33" name="Text 30"/>
          <p:cNvSpPr/>
          <p:nvPr/>
        </p:nvSpPr>
        <p:spPr>
          <a:xfrm>
            <a:off x="9217152" y="1554480"/>
            <a:ext cx="1975104" cy="71323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 Publish</a:t>
            </a:r>
            <a:endParaRPr lang="en-US" sz="1300" dirty="0"/>
          </a:p>
        </p:txBody>
      </p:sp>
      <p:sp>
        <p:nvSpPr>
          <p:cNvPr id="34" name="Shape 31"/>
          <p:cNvSpPr/>
          <p:nvPr/>
        </p:nvSpPr>
        <p:spPr>
          <a:xfrm>
            <a:off x="8796528" y="2432304"/>
            <a:ext cx="2432304" cy="0"/>
          </a:xfrm>
          <a:prstGeom prst="line">
            <a:avLst/>
          </a:prstGeom>
          <a:noFill/>
          <a:ln w="6350">
            <a:solidFill>
              <a:srgbClr val="D0D0D0"/>
            </a:solidFill>
            <a:prstDash val="solid"/>
          </a:ln>
        </p:spPr>
      </p:sp>
      <p:sp>
        <p:nvSpPr>
          <p:cNvPr id="35" name="Text 32"/>
          <p:cNvSpPr/>
          <p:nvPr/>
        </p:nvSpPr>
        <p:spPr>
          <a:xfrm>
            <a:off x="8796528" y="2487168"/>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Campus layer or personal layer</a:t>
            </a:r>
            <a:endParaRPr lang="en-US" sz="1050" dirty="0"/>
          </a:p>
        </p:txBody>
      </p:sp>
      <p:sp>
        <p:nvSpPr>
          <p:cNvPr id="36" name="Shape 33"/>
          <p:cNvSpPr/>
          <p:nvPr/>
        </p:nvSpPr>
        <p:spPr>
          <a:xfrm>
            <a:off x="8796528" y="3035808"/>
            <a:ext cx="2432304" cy="0"/>
          </a:xfrm>
          <a:prstGeom prst="line">
            <a:avLst/>
          </a:prstGeom>
          <a:noFill/>
          <a:ln w="6350">
            <a:solidFill>
              <a:srgbClr val="D0D0D0"/>
            </a:solidFill>
            <a:prstDash val="solid"/>
          </a:ln>
        </p:spPr>
      </p:sp>
      <p:sp>
        <p:nvSpPr>
          <p:cNvPr id="37" name="Text 34"/>
          <p:cNvSpPr/>
          <p:nvPr/>
        </p:nvSpPr>
        <p:spPr>
          <a:xfrm>
            <a:off x="8796528" y="3090672"/>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One click push to Google Calendar</a:t>
            </a:r>
            <a:endParaRPr lang="en-US" sz="1050" dirty="0"/>
          </a:p>
        </p:txBody>
      </p:sp>
      <p:sp>
        <p:nvSpPr>
          <p:cNvPr id="38" name="Shape 35"/>
          <p:cNvSpPr/>
          <p:nvPr/>
        </p:nvSpPr>
        <p:spPr>
          <a:xfrm>
            <a:off x="8796528" y="3639312"/>
            <a:ext cx="2432304" cy="0"/>
          </a:xfrm>
          <a:prstGeom prst="line">
            <a:avLst/>
          </a:prstGeom>
          <a:noFill/>
          <a:ln w="6350">
            <a:solidFill>
              <a:srgbClr val="D0D0D0"/>
            </a:solidFill>
            <a:prstDash val="solid"/>
          </a:ln>
        </p:spPr>
      </p:sp>
      <p:sp>
        <p:nvSpPr>
          <p:cNvPr id="39" name="Text 36"/>
          <p:cNvSpPr/>
          <p:nvPr/>
        </p:nvSpPr>
        <p:spPr>
          <a:xfrm>
            <a:off x="8796528" y="3694176"/>
            <a:ext cx="2395728" cy="512064"/>
          </a:xfrm>
          <a:prstGeom prst="rect">
            <a:avLst/>
          </a:prstGeom>
          <a:noFill/>
          <a:ln/>
        </p:spPr>
        <p:txBody>
          <a:bodyPr wrap="square" lIns="0" tIns="0" rIns="0" bIns="0" rtlCol="0" anchor="ctr"/>
          <a:lstStyle/>
          <a:p>
            <a:pPr indent="0" marL="0">
              <a:lnSpc>
                <a:spcPct val="114000"/>
              </a:lnSpc>
              <a:buNone/>
            </a:pPr>
            <a:r>
              <a:rPr lang="en-US" sz="1050" dirty="0">
                <a:solidFill>
                  <a:srgbClr val="333333"/>
                </a:solidFill>
                <a:latin typeface="Arial" pitchFamily="34" charset="0"/>
                <a:ea typeface="Arial" pitchFamily="34" charset="-122"/>
                <a:cs typeface="Arial" pitchFamily="34" charset="-120"/>
              </a:rPr>
              <a:t>Idempotent and fully reversible</a:t>
            </a:r>
            <a:endParaRPr lang="en-US" sz="1050" dirty="0"/>
          </a:p>
        </p:txBody>
      </p:sp>
      <p:sp>
        <p:nvSpPr>
          <p:cNvPr id="40" name="Shape 37"/>
          <p:cNvSpPr/>
          <p:nvPr/>
        </p:nvSpPr>
        <p:spPr>
          <a:xfrm>
            <a:off x="512064" y="4261104"/>
            <a:ext cx="10826496" cy="566928"/>
          </a:xfrm>
          <a:prstGeom prst="rect">
            <a:avLst/>
          </a:prstGeom>
          <a:solidFill>
            <a:srgbClr val="F2F5F7"/>
          </a:solidFill>
          <a:ln w="6350">
            <a:solidFill>
              <a:srgbClr val="D0D0D0"/>
            </a:solidFill>
            <a:prstDash val="solid"/>
          </a:ln>
        </p:spPr>
      </p:sp>
      <p:sp>
        <p:nvSpPr>
          <p:cNvPr id="41" name="Text 38"/>
          <p:cNvSpPr/>
          <p:nvPr/>
        </p:nvSpPr>
        <p:spPr>
          <a:xfrm>
            <a:off x="694944" y="4261104"/>
            <a:ext cx="10460736" cy="566928"/>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Student stays in control throughout:  </a:t>
            </a:r>
            <a:pPr indent="0" marL="0">
              <a:buNone/>
            </a:pPr>
            <a:r>
              <a:rPr lang="en-US" sz="1050" dirty="0">
                <a:solidFill>
                  <a:srgbClr val="333333"/>
                </a:solidFill>
                <a:latin typeface="Arial" pitchFamily="34" charset="0"/>
                <a:ea typeface="Arial" pitchFamily="34" charset="-122"/>
                <a:cs typeface="Arial" pitchFamily="34" charset="-120"/>
              </a:rPr>
              <a:t>every auto-added event links back to its source mail, every draft is editable before saving, and every push to Google Calendar can be undone in one click</a:t>
            </a:r>
            <a:endParaRPr lang="en-US" sz="1050" dirty="0"/>
          </a:p>
        </p:txBody>
      </p:sp>
      <p:sp>
        <p:nvSpPr>
          <p:cNvPr id="42" name="Text 39"/>
          <p:cNvSpPr/>
          <p:nvPr/>
        </p:nvSpPr>
        <p:spPr>
          <a:xfrm>
            <a:off x="512064" y="4937760"/>
            <a:ext cx="10826496"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Ingestion and classification run on sign-in, on each Load more, and on a 45 second poll while the app is open</a:t>
            </a:r>
            <a:endParaRPr lang="en-US" sz="1000" dirty="0"/>
          </a:p>
        </p:txBody>
      </p:sp>
      <p:sp>
        <p:nvSpPr>
          <p:cNvPr id="43" name="Text 40"/>
          <p:cNvSpPr/>
          <p:nvPr/>
        </p:nvSpPr>
        <p:spPr>
          <a:xfrm>
            <a:off x="512064" y="5358384"/>
            <a:ext cx="10826496" cy="384048"/>
          </a:xfrm>
          <a:prstGeom prst="rect">
            <a:avLst/>
          </a:prstGeom>
          <a:noFill/>
          <a:ln/>
        </p:spPr>
        <p:txBody>
          <a:bodyPr wrap="square" lIns="0" tIns="0" rIns="0" bIns="0" rtlCol="0" anchor="ctr"/>
          <a:lstStyle/>
          <a:p>
            <a:pPr indent="0" marL="0">
              <a:lnSpc>
                <a:spcPct val="112000"/>
              </a:lnSpc>
              <a:buNone/>
            </a:pPr>
            <a:r>
              <a:rPr lang="en-US" sz="1050" b="1" dirty="0">
                <a:solidFill>
                  <a:srgbClr val="051C2C"/>
                </a:solidFill>
                <a:latin typeface="Arial" pitchFamily="34" charset="0"/>
                <a:ea typeface="Arial" pitchFamily="34" charset="-122"/>
                <a:cs typeface="Arial" pitchFamily="34" charset="-120"/>
              </a:rPr>
              <a:t>No manual entry means no adoption barrier:  </a:t>
            </a:r>
            <a:pPr indent="0" marL="0">
              <a:lnSpc>
                <a:spcPct val="112000"/>
              </a:lnSpc>
              <a:buNone/>
            </a:pPr>
            <a:r>
              <a:rPr lang="en-US" sz="1050" dirty="0">
                <a:solidFill>
                  <a:srgbClr val="333333"/>
                </a:solidFill>
                <a:latin typeface="Arial" pitchFamily="34" charset="0"/>
                <a:ea typeface="Arial" pitchFamily="34" charset="-122"/>
                <a:cs typeface="Arial" pitchFamily="34" charset="-120"/>
              </a:rPr>
              <a:t>a student signs in once and the calendar is already populated, which is the difference between a tool that is tried and a tool that is used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Two layers separate what the whole campus may attend from what is addressed to the individual student</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Shape 2"/>
          <p:cNvSpPr/>
          <p:nvPr/>
        </p:nvSpPr>
        <p:spPr>
          <a:xfrm>
            <a:off x="512064" y="6400800"/>
            <a:ext cx="11173968" cy="0"/>
          </a:xfrm>
          <a:prstGeom prst="line">
            <a:avLst/>
          </a:prstGeom>
          <a:noFill/>
          <a:ln w="6350">
            <a:solidFill>
              <a:srgbClr val="D0D0D0"/>
            </a:solidFill>
            <a:prstDash val="solid"/>
          </a:ln>
        </p:spPr>
      </p:sp>
      <p:sp>
        <p:nvSpPr>
          <p:cNvPr id="5" name="Text 3"/>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label routing table, backend/categories.py</a:t>
            </a:r>
            <a:endParaRPr lang="en-US" sz="800" dirty="0"/>
          </a:p>
        </p:txBody>
      </p:sp>
      <p:sp>
        <p:nvSpPr>
          <p:cNvPr id="6" name="Text 4"/>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5</a:t>
            </a:r>
            <a:endParaRPr lang="en-US" sz="900" dirty="0"/>
          </a:p>
        </p:txBody>
      </p:sp>
      <p:sp>
        <p:nvSpPr>
          <p:cNvPr id="8" name="Shape 5"/>
          <p:cNvSpPr/>
          <p:nvPr/>
        </p:nvSpPr>
        <p:spPr>
          <a:xfrm>
            <a:off x="512064" y="1463040"/>
            <a:ext cx="128016" cy="274320"/>
          </a:xfrm>
          <a:prstGeom prst="rect">
            <a:avLst/>
          </a:prstGeom>
          <a:solidFill>
            <a:srgbClr val="00A9F4"/>
          </a:solidFill>
          <a:ln w="12700">
            <a:solidFill>
              <a:srgbClr val="00A9F4"/>
            </a:solidFill>
            <a:prstDash val="solid"/>
          </a:ln>
        </p:spPr>
      </p:sp>
      <p:sp>
        <p:nvSpPr>
          <p:cNvPr id="9" name="Text 6"/>
          <p:cNvSpPr/>
          <p:nvPr/>
        </p:nvSpPr>
        <p:spPr>
          <a:xfrm>
            <a:off x="749808" y="1444752"/>
            <a:ext cx="4992624" cy="310896"/>
          </a:xfrm>
          <a:prstGeom prst="rect">
            <a:avLst/>
          </a:prstGeom>
          <a:noFill/>
          <a:ln/>
        </p:spPr>
        <p:txBody>
          <a:bodyPr wrap="square" lIns="0" tIns="0" rIns="0" bIns="0" rtlCol="0" anchor="ctr"/>
          <a:lstStyle/>
          <a:p>
            <a:pPr indent="0" marL="0">
              <a:buNone/>
            </a:pPr>
            <a:r>
              <a:rPr lang="en-US" sz="1250" b="1" dirty="0">
                <a:solidFill>
                  <a:srgbClr val="051C2C"/>
                </a:solidFill>
                <a:latin typeface="Arial" pitchFamily="34" charset="0"/>
                <a:ea typeface="Arial" pitchFamily="34" charset="-122"/>
                <a:cs typeface="Arial" pitchFamily="34" charset="-120"/>
              </a:rPr>
              <a:t>Campus calendar, shared layer</a:t>
            </a:r>
            <a:endParaRPr lang="en-US" sz="1250" dirty="0"/>
          </a:p>
        </p:txBody>
      </p:sp>
      <p:sp>
        <p:nvSpPr>
          <p:cNvPr id="10" name="Text 7"/>
          <p:cNvSpPr/>
          <p:nvPr/>
        </p:nvSpPr>
        <p:spPr>
          <a:xfrm>
            <a:off x="512064" y="1755648"/>
            <a:ext cx="5230368" cy="256032"/>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Broadcasts anyone on campus may attend</a:t>
            </a:r>
            <a:endParaRPr lang="en-US" sz="950" dirty="0"/>
          </a:p>
        </p:txBody>
      </p:sp>
      <p:sp>
        <p:nvSpPr>
          <p:cNvPr id="11" name="Shape 8"/>
          <p:cNvSpPr/>
          <p:nvPr/>
        </p:nvSpPr>
        <p:spPr>
          <a:xfrm>
            <a:off x="512064" y="2066544"/>
            <a:ext cx="5230368" cy="0"/>
          </a:xfrm>
          <a:prstGeom prst="line">
            <a:avLst/>
          </a:prstGeom>
          <a:noFill/>
          <a:ln w="9525">
            <a:solidFill>
              <a:srgbClr val="051C2C"/>
            </a:solidFill>
            <a:prstDash val="solid"/>
          </a:ln>
        </p:spPr>
      </p:sp>
      <p:sp>
        <p:nvSpPr>
          <p:cNvPr id="12" name="Text 9"/>
          <p:cNvSpPr/>
          <p:nvPr/>
        </p:nvSpPr>
        <p:spPr>
          <a:xfrm>
            <a:off x="512064" y="21396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Seminars &amp; Talks</a:t>
            </a:r>
            <a:endParaRPr lang="en-US" sz="1050" dirty="0"/>
          </a:p>
        </p:txBody>
      </p:sp>
      <p:sp>
        <p:nvSpPr>
          <p:cNvPr id="13" name="Text 10"/>
          <p:cNvSpPr/>
          <p:nvPr/>
        </p:nvSpPr>
        <p:spPr>
          <a:xfrm>
            <a:off x="2706624" y="21396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Research seminars, speaker series</a:t>
            </a:r>
            <a:endParaRPr lang="en-US" sz="1000" dirty="0"/>
          </a:p>
        </p:txBody>
      </p:sp>
      <p:sp>
        <p:nvSpPr>
          <p:cNvPr id="14" name="Shape 11"/>
          <p:cNvSpPr/>
          <p:nvPr/>
        </p:nvSpPr>
        <p:spPr>
          <a:xfrm>
            <a:off x="512064" y="2523744"/>
            <a:ext cx="5230368" cy="0"/>
          </a:xfrm>
          <a:prstGeom prst="line">
            <a:avLst/>
          </a:prstGeom>
          <a:noFill/>
          <a:ln w="6350">
            <a:solidFill>
              <a:srgbClr val="D0D0D0"/>
            </a:solidFill>
            <a:prstDash val="solid"/>
          </a:ln>
        </p:spPr>
      </p:sp>
      <p:sp>
        <p:nvSpPr>
          <p:cNvPr id="15" name="Text 12"/>
          <p:cNvSpPr/>
          <p:nvPr/>
        </p:nvSpPr>
        <p:spPr>
          <a:xfrm>
            <a:off x="512064" y="25968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Career Clubs</a:t>
            </a:r>
            <a:endParaRPr lang="en-US" sz="1050" dirty="0"/>
          </a:p>
        </p:txBody>
      </p:sp>
      <p:sp>
        <p:nvSpPr>
          <p:cNvPr id="16" name="Text 13"/>
          <p:cNvSpPr/>
          <p:nvPr/>
        </p:nvSpPr>
        <p:spPr>
          <a:xfrm>
            <a:off x="2706624" y="25968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Case prep, masterclasses, competitions</a:t>
            </a:r>
            <a:endParaRPr lang="en-US" sz="1000" dirty="0"/>
          </a:p>
        </p:txBody>
      </p:sp>
      <p:sp>
        <p:nvSpPr>
          <p:cNvPr id="17" name="Shape 14"/>
          <p:cNvSpPr/>
          <p:nvPr/>
        </p:nvSpPr>
        <p:spPr>
          <a:xfrm>
            <a:off x="512064" y="2980944"/>
            <a:ext cx="5230368" cy="0"/>
          </a:xfrm>
          <a:prstGeom prst="line">
            <a:avLst/>
          </a:prstGeom>
          <a:noFill/>
          <a:ln w="6350">
            <a:solidFill>
              <a:srgbClr val="D0D0D0"/>
            </a:solidFill>
            <a:prstDash val="solid"/>
          </a:ln>
        </p:spPr>
      </p:sp>
      <p:sp>
        <p:nvSpPr>
          <p:cNvPr id="18" name="Text 15"/>
          <p:cNvSpPr/>
          <p:nvPr/>
        </p:nvSpPr>
        <p:spPr>
          <a:xfrm>
            <a:off x="512064" y="30540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Other Clubs</a:t>
            </a:r>
            <a:endParaRPr lang="en-US" sz="1050" dirty="0"/>
          </a:p>
        </p:txBody>
      </p:sp>
      <p:sp>
        <p:nvSpPr>
          <p:cNvPr id="19" name="Text 16"/>
          <p:cNvSpPr/>
          <p:nvPr/>
        </p:nvSpPr>
        <p:spPr>
          <a:xfrm>
            <a:off x="2706624" y="30540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Fests, sports, cultural, dramatics</a:t>
            </a:r>
            <a:endParaRPr lang="en-US" sz="1000" dirty="0"/>
          </a:p>
        </p:txBody>
      </p:sp>
      <p:sp>
        <p:nvSpPr>
          <p:cNvPr id="20" name="Shape 17"/>
          <p:cNvSpPr/>
          <p:nvPr/>
        </p:nvSpPr>
        <p:spPr>
          <a:xfrm>
            <a:off x="512064" y="3438144"/>
            <a:ext cx="5230368" cy="0"/>
          </a:xfrm>
          <a:prstGeom prst="line">
            <a:avLst/>
          </a:prstGeom>
          <a:noFill/>
          <a:ln w="6350">
            <a:solidFill>
              <a:srgbClr val="D0D0D0"/>
            </a:solidFill>
            <a:prstDash val="solid"/>
          </a:ln>
        </p:spPr>
      </p:sp>
      <p:sp>
        <p:nvSpPr>
          <p:cNvPr id="21" name="Text 18"/>
          <p:cNvSpPr/>
          <p:nvPr/>
        </p:nvSpPr>
        <p:spPr>
          <a:xfrm>
            <a:off x="512064" y="35112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General Notice Board</a:t>
            </a:r>
            <a:endParaRPr lang="en-US" sz="1050" dirty="0"/>
          </a:p>
        </p:txBody>
      </p:sp>
      <p:sp>
        <p:nvSpPr>
          <p:cNvPr id="22" name="Text 19"/>
          <p:cNvSpPr/>
          <p:nvPr/>
        </p:nvSpPr>
        <p:spPr>
          <a:xfrm>
            <a:off x="2706624" y="35112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Tagged [Gen NB] announcements</a:t>
            </a:r>
            <a:endParaRPr lang="en-US" sz="1000" dirty="0"/>
          </a:p>
        </p:txBody>
      </p:sp>
      <p:sp>
        <p:nvSpPr>
          <p:cNvPr id="23" name="Shape 20"/>
          <p:cNvSpPr/>
          <p:nvPr/>
        </p:nvSpPr>
        <p:spPr>
          <a:xfrm>
            <a:off x="512064" y="3895344"/>
            <a:ext cx="5230368" cy="0"/>
          </a:xfrm>
          <a:prstGeom prst="line">
            <a:avLst/>
          </a:prstGeom>
          <a:noFill/>
          <a:ln w="6350">
            <a:solidFill>
              <a:srgbClr val="D0D0D0"/>
            </a:solidFill>
            <a:prstDash val="solid"/>
          </a:ln>
        </p:spPr>
      </p:sp>
      <p:sp>
        <p:nvSpPr>
          <p:cNvPr id="24" name="Text 21"/>
          <p:cNvSpPr/>
          <p:nvPr/>
        </p:nvSpPr>
        <p:spPr>
          <a:xfrm>
            <a:off x="512064" y="39684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Student Governance</a:t>
            </a:r>
            <a:endParaRPr lang="en-US" sz="1050" dirty="0"/>
          </a:p>
        </p:txBody>
      </p:sp>
      <p:sp>
        <p:nvSpPr>
          <p:cNvPr id="25" name="Text 22"/>
          <p:cNvSpPr/>
          <p:nvPr/>
        </p:nvSpPr>
        <p:spPr>
          <a:xfrm>
            <a:off x="2706624" y="39684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Council notices, elections</a:t>
            </a:r>
            <a:endParaRPr lang="en-US" sz="1000" dirty="0"/>
          </a:p>
        </p:txBody>
      </p:sp>
      <p:sp>
        <p:nvSpPr>
          <p:cNvPr id="26" name="Shape 23"/>
          <p:cNvSpPr/>
          <p:nvPr/>
        </p:nvSpPr>
        <p:spPr>
          <a:xfrm>
            <a:off x="512064" y="4352544"/>
            <a:ext cx="5230368" cy="0"/>
          </a:xfrm>
          <a:prstGeom prst="line">
            <a:avLst/>
          </a:prstGeom>
          <a:noFill/>
          <a:ln w="6350">
            <a:solidFill>
              <a:srgbClr val="D0D0D0"/>
            </a:solidFill>
            <a:prstDash val="solid"/>
          </a:ln>
        </p:spPr>
      </p:sp>
      <p:sp>
        <p:nvSpPr>
          <p:cNvPr id="27" name="Text 24"/>
          <p:cNvSpPr/>
          <p:nvPr/>
        </p:nvSpPr>
        <p:spPr>
          <a:xfrm>
            <a:off x="512064" y="44256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Hostel &amp; Facilities</a:t>
            </a:r>
            <a:endParaRPr lang="en-US" sz="1050" dirty="0"/>
          </a:p>
        </p:txBody>
      </p:sp>
      <p:sp>
        <p:nvSpPr>
          <p:cNvPr id="28" name="Text 25"/>
          <p:cNvSpPr/>
          <p:nvPr/>
        </p:nvSpPr>
        <p:spPr>
          <a:xfrm>
            <a:off x="2706624" y="4425696"/>
            <a:ext cx="3035808"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Maintenance and dorm notices</a:t>
            </a:r>
            <a:endParaRPr lang="en-US" sz="1000" dirty="0"/>
          </a:p>
        </p:txBody>
      </p:sp>
      <p:sp>
        <p:nvSpPr>
          <p:cNvPr id="29" name="Shape 26"/>
          <p:cNvSpPr/>
          <p:nvPr/>
        </p:nvSpPr>
        <p:spPr>
          <a:xfrm>
            <a:off x="512064" y="4809744"/>
            <a:ext cx="5230368" cy="0"/>
          </a:xfrm>
          <a:prstGeom prst="line">
            <a:avLst/>
          </a:prstGeom>
          <a:noFill/>
          <a:ln w="6350">
            <a:solidFill>
              <a:srgbClr val="D0D0D0"/>
            </a:solidFill>
            <a:prstDash val="solid"/>
          </a:ln>
        </p:spPr>
      </p:sp>
      <p:sp>
        <p:nvSpPr>
          <p:cNvPr id="30" name="Shape 27"/>
          <p:cNvSpPr/>
          <p:nvPr/>
        </p:nvSpPr>
        <p:spPr>
          <a:xfrm>
            <a:off x="6309360" y="1463040"/>
            <a:ext cx="128016" cy="274320"/>
          </a:xfrm>
          <a:prstGeom prst="rect">
            <a:avLst/>
          </a:prstGeom>
          <a:solidFill>
            <a:srgbClr val="2251FF"/>
          </a:solidFill>
          <a:ln w="12700">
            <a:solidFill>
              <a:srgbClr val="2251FF"/>
            </a:solidFill>
            <a:prstDash val="solid"/>
          </a:ln>
        </p:spPr>
      </p:sp>
      <p:sp>
        <p:nvSpPr>
          <p:cNvPr id="31" name="Text 28"/>
          <p:cNvSpPr/>
          <p:nvPr/>
        </p:nvSpPr>
        <p:spPr>
          <a:xfrm>
            <a:off x="6547104" y="1444752"/>
            <a:ext cx="4791456" cy="310896"/>
          </a:xfrm>
          <a:prstGeom prst="rect">
            <a:avLst/>
          </a:prstGeom>
          <a:noFill/>
          <a:ln/>
        </p:spPr>
        <p:txBody>
          <a:bodyPr wrap="square" lIns="0" tIns="0" rIns="0" bIns="0" rtlCol="0" anchor="ctr"/>
          <a:lstStyle/>
          <a:p>
            <a:pPr indent="0" marL="0">
              <a:buNone/>
            </a:pPr>
            <a:r>
              <a:rPr lang="en-US" sz="1250" b="1" dirty="0">
                <a:solidFill>
                  <a:srgbClr val="051C2C"/>
                </a:solidFill>
                <a:latin typeface="Arial" pitchFamily="34" charset="0"/>
                <a:ea typeface="Arial" pitchFamily="34" charset="-122"/>
                <a:cs typeface="Arial" pitchFamily="34" charset="-120"/>
              </a:rPr>
              <a:t>My calendar, personal layer</a:t>
            </a:r>
            <a:endParaRPr lang="en-US" sz="1250" dirty="0"/>
          </a:p>
        </p:txBody>
      </p:sp>
      <p:sp>
        <p:nvSpPr>
          <p:cNvPr id="32" name="Text 29"/>
          <p:cNvSpPr/>
          <p:nvPr/>
        </p:nvSpPr>
        <p:spPr>
          <a:xfrm>
            <a:off x="6309360" y="1755648"/>
            <a:ext cx="5029200" cy="256032"/>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Mail addressed to this student specifically</a:t>
            </a:r>
            <a:endParaRPr lang="en-US" sz="950" dirty="0"/>
          </a:p>
        </p:txBody>
      </p:sp>
      <p:sp>
        <p:nvSpPr>
          <p:cNvPr id="33" name="Shape 30"/>
          <p:cNvSpPr/>
          <p:nvPr/>
        </p:nvSpPr>
        <p:spPr>
          <a:xfrm>
            <a:off x="6309360" y="2066544"/>
            <a:ext cx="5029200" cy="0"/>
          </a:xfrm>
          <a:prstGeom prst="line">
            <a:avLst/>
          </a:prstGeom>
          <a:noFill/>
          <a:ln w="9525">
            <a:solidFill>
              <a:srgbClr val="051C2C"/>
            </a:solidFill>
            <a:prstDash val="solid"/>
          </a:ln>
        </p:spPr>
      </p:sp>
      <p:sp>
        <p:nvSpPr>
          <p:cNvPr id="34" name="Text 31"/>
          <p:cNvSpPr/>
          <p:nvPr/>
        </p:nvSpPr>
        <p:spPr>
          <a:xfrm>
            <a:off x="6309360" y="21396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Exam Notices</a:t>
            </a:r>
            <a:endParaRPr lang="en-US" sz="1050" dirty="0"/>
          </a:p>
        </p:txBody>
      </p:sp>
      <p:sp>
        <p:nvSpPr>
          <p:cNvPr id="35" name="Text 32"/>
          <p:cNvSpPr/>
          <p:nvPr/>
        </p:nvSpPr>
        <p:spPr>
          <a:xfrm>
            <a:off x="8503920" y="21396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Quizzes, mid-terms, end-terms</a:t>
            </a:r>
            <a:endParaRPr lang="en-US" sz="1000" dirty="0"/>
          </a:p>
        </p:txBody>
      </p:sp>
      <p:sp>
        <p:nvSpPr>
          <p:cNvPr id="36" name="Shape 33"/>
          <p:cNvSpPr/>
          <p:nvPr/>
        </p:nvSpPr>
        <p:spPr>
          <a:xfrm>
            <a:off x="6309360" y="2523744"/>
            <a:ext cx="5029200" cy="0"/>
          </a:xfrm>
          <a:prstGeom prst="line">
            <a:avLst/>
          </a:prstGeom>
          <a:noFill/>
          <a:ln w="6350">
            <a:solidFill>
              <a:srgbClr val="D0D0D0"/>
            </a:solidFill>
            <a:prstDash val="solid"/>
          </a:ln>
        </p:spPr>
      </p:sp>
      <p:sp>
        <p:nvSpPr>
          <p:cNvPr id="37" name="Text 34"/>
          <p:cNvSpPr/>
          <p:nvPr/>
        </p:nvSpPr>
        <p:spPr>
          <a:xfrm>
            <a:off x="6309360" y="25968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Assignments &amp; Quizzes</a:t>
            </a:r>
            <a:endParaRPr lang="en-US" sz="1050" dirty="0"/>
          </a:p>
        </p:txBody>
      </p:sp>
      <p:sp>
        <p:nvSpPr>
          <p:cNvPr id="38" name="Text 35"/>
          <p:cNvSpPr/>
          <p:nvPr/>
        </p:nvSpPr>
        <p:spPr>
          <a:xfrm>
            <a:off x="8503920" y="25968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Submissions, Turnitin, due dates</a:t>
            </a:r>
            <a:endParaRPr lang="en-US" sz="1000" dirty="0"/>
          </a:p>
        </p:txBody>
      </p:sp>
      <p:sp>
        <p:nvSpPr>
          <p:cNvPr id="39" name="Shape 36"/>
          <p:cNvSpPr/>
          <p:nvPr/>
        </p:nvSpPr>
        <p:spPr>
          <a:xfrm>
            <a:off x="6309360" y="2980944"/>
            <a:ext cx="5029200" cy="0"/>
          </a:xfrm>
          <a:prstGeom prst="line">
            <a:avLst/>
          </a:prstGeom>
          <a:noFill/>
          <a:ln w="6350">
            <a:solidFill>
              <a:srgbClr val="D0D0D0"/>
            </a:solidFill>
            <a:prstDash val="solid"/>
          </a:ln>
        </p:spPr>
      </p:sp>
      <p:sp>
        <p:nvSpPr>
          <p:cNvPr id="40" name="Text 37"/>
          <p:cNvSpPr/>
          <p:nvPr/>
        </p:nvSpPr>
        <p:spPr>
          <a:xfrm>
            <a:off x="6309360" y="30540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REM &amp; Doubt Sessions</a:t>
            </a:r>
            <a:endParaRPr lang="en-US" sz="1050" dirty="0"/>
          </a:p>
        </p:txBody>
      </p:sp>
      <p:sp>
        <p:nvSpPr>
          <p:cNvPr id="41" name="Text 38"/>
          <p:cNvSpPr/>
          <p:nvPr/>
        </p:nvSpPr>
        <p:spPr>
          <a:xfrm>
            <a:off x="8503920" y="30540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Make-up classes, revision sessions</a:t>
            </a:r>
            <a:endParaRPr lang="en-US" sz="1000" dirty="0"/>
          </a:p>
        </p:txBody>
      </p:sp>
      <p:sp>
        <p:nvSpPr>
          <p:cNvPr id="42" name="Shape 39"/>
          <p:cNvSpPr/>
          <p:nvPr/>
        </p:nvSpPr>
        <p:spPr>
          <a:xfrm>
            <a:off x="6309360" y="3438144"/>
            <a:ext cx="5029200" cy="0"/>
          </a:xfrm>
          <a:prstGeom prst="line">
            <a:avLst/>
          </a:prstGeom>
          <a:noFill/>
          <a:ln w="6350">
            <a:solidFill>
              <a:srgbClr val="D0D0D0"/>
            </a:solidFill>
            <a:prstDash val="solid"/>
          </a:ln>
        </p:spPr>
      </p:sp>
      <p:sp>
        <p:nvSpPr>
          <p:cNvPr id="43" name="Text 40"/>
          <p:cNvSpPr/>
          <p:nvPr/>
        </p:nvSpPr>
        <p:spPr>
          <a:xfrm>
            <a:off x="6309360" y="35112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Section Admin</a:t>
            </a:r>
            <a:endParaRPr lang="en-US" sz="1050" dirty="0"/>
          </a:p>
        </p:txBody>
      </p:sp>
      <p:sp>
        <p:nvSpPr>
          <p:cNvPr id="44" name="Text 41"/>
          <p:cNvSpPr/>
          <p:nvPr/>
        </p:nvSpPr>
        <p:spPr>
          <a:xfrm>
            <a:off x="8503920" y="35112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Registration windows, section notices</a:t>
            </a:r>
            <a:endParaRPr lang="en-US" sz="1000" dirty="0"/>
          </a:p>
        </p:txBody>
      </p:sp>
      <p:sp>
        <p:nvSpPr>
          <p:cNvPr id="45" name="Shape 42"/>
          <p:cNvSpPr/>
          <p:nvPr/>
        </p:nvSpPr>
        <p:spPr>
          <a:xfrm>
            <a:off x="6309360" y="3895344"/>
            <a:ext cx="5029200" cy="0"/>
          </a:xfrm>
          <a:prstGeom prst="line">
            <a:avLst/>
          </a:prstGeom>
          <a:noFill/>
          <a:ln w="6350">
            <a:solidFill>
              <a:srgbClr val="D0D0D0"/>
            </a:solidFill>
            <a:prstDash val="solid"/>
          </a:ln>
        </p:spPr>
      </p:sp>
      <p:sp>
        <p:nvSpPr>
          <p:cNvPr id="46" name="Text 43"/>
          <p:cNvSpPr/>
          <p:nvPr/>
        </p:nvSpPr>
        <p:spPr>
          <a:xfrm>
            <a:off x="6309360" y="39684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Placement Committee</a:t>
            </a:r>
            <a:endParaRPr lang="en-US" sz="1050" dirty="0"/>
          </a:p>
        </p:txBody>
      </p:sp>
      <p:sp>
        <p:nvSpPr>
          <p:cNvPr id="47" name="Text 44"/>
          <p:cNvSpPr/>
          <p:nvPr/>
        </p:nvSpPr>
        <p:spPr>
          <a:xfrm>
            <a:off x="8503920" y="39684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PPTs, CV verification, interview slots</a:t>
            </a:r>
            <a:endParaRPr lang="en-US" sz="1000" dirty="0"/>
          </a:p>
        </p:txBody>
      </p:sp>
      <p:sp>
        <p:nvSpPr>
          <p:cNvPr id="48" name="Shape 45"/>
          <p:cNvSpPr/>
          <p:nvPr/>
        </p:nvSpPr>
        <p:spPr>
          <a:xfrm>
            <a:off x="6309360" y="4352544"/>
            <a:ext cx="5029200" cy="0"/>
          </a:xfrm>
          <a:prstGeom prst="line">
            <a:avLst/>
          </a:prstGeom>
          <a:noFill/>
          <a:ln w="6350">
            <a:solidFill>
              <a:srgbClr val="D0D0D0"/>
            </a:solidFill>
            <a:prstDash val="solid"/>
          </a:ln>
        </p:spPr>
      </p:sp>
      <p:sp>
        <p:nvSpPr>
          <p:cNvPr id="49" name="Text 46"/>
          <p:cNvSpPr/>
          <p:nvPr/>
        </p:nvSpPr>
        <p:spPr>
          <a:xfrm>
            <a:off x="6309360" y="4425696"/>
            <a:ext cx="2148840" cy="31089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Course Forums</a:t>
            </a:r>
            <a:endParaRPr lang="en-US" sz="1050" dirty="0"/>
          </a:p>
        </p:txBody>
      </p:sp>
      <p:sp>
        <p:nvSpPr>
          <p:cNvPr id="50" name="Text 47"/>
          <p:cNvSpPr/>
          <p:nvPr/>
        </p:nvSpPr>
        <p:spPr>
          <a:xfrm>
            <a:off x="8503920" y="4425696"/>
            <a:ext cx="2834640" cy="310896"/>
          </a:xfrm>
          <a:prstGeom prst="rect">
            <a:avLst/>
          </a:prstGeom>
          <a:noFill/>
          <a:ln/>
        </p:spPr>
        <p:txBody>
          <a:bodyPr wrap="square" lIns="0" tIns="0" rIns="0" bIns="0" rtlCol="0" anchor="ctr"/>
          <a:lstStyle/>
          <a:p>
            <a:pPr indent="0" marL="0">
              <a:buNone/>
            </a:pPr>
            <a:r>
              <a:rPr lang="en-US" sz="1000" dirty="0">
                <a:solidFill>
                  <a:srgbClr val="444444"/>
                </a:solidFill>
                <a:latin typeface="Arial" pitchFamily="34" charset="0"/>
                <a:ea typeface="Arial" pitchFamily="34" charset="-122"/>
                <a:cs typeface="Arial" pitchFamily="34" charset="-120"/>
              </a:rPr>
              <a:t>Course announcements and material</a:t>
            </a:r>
            <a:endParaRPr lang="en-US" sz="1000" dirty="0"/>
          </a:p>
        </p:txBody>
      </p:sp>
      <p:sp>
        <p:nvSpPr>
          <p:cNvPr id="51" name="Shape 48"/>
          <p:cNvSpPr/>
          <p:nvPr/>
        </p:nvSpPr>
        <p:spPr>
          <a:xfrm>
            <a:off x="6309360" y="4809744"/>
            <a:ext cx="5029200" cy="0"/>
          </a:xfrm>
          <a:prstGeom prst="line">
            <a:avLst/>
          </a:prstGeom>
          <a:noFill/>
          <a:ln w="6350">
            <a:solidFill>
              <a:srgbClr val="D0D0D0"/>
            </a:solidFill>
            <a:prstDash val="solid"/>
          </a:ln>
        </p:spPr>
      </p:sp>
      <p:sp>
        <p:nvSpPr>
          <p:cNvPr id="52" name="Text 49"/>
          <p:cNvSpPr/>
          <p:nvPr/>
        </p:nvSpPr>
        <p:spPr>
          <a:xfrm>
            <a:off x="512064" y="4992624"/>
            <a:ext cx="10826496" cy="329184"/>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Routing rule:  </a:t>
            </a:r>
            <a:pPr indent="0" marL="0">
              <a:lnSpc>
                <a:spcPct val="110000"/>
              </a:lnSpc>
              <a:buNone/>
            </a:pPr>
            <a:r>
              <a:rPr lang="en-US" sz="1050" dirty="0">
                <a:solidFill>
                  <a:srgbClr val="333333"/>
                </a:solidFill>
                <a:latin typeface="Arial" pitchFamily="34" charset="0"/>
                <a:ea typeface="Arial" pitchFamily="34" charset="-122"/>
                <a:cs typeface="Arial" pitchFamily="34" charset="-120"/>
              </a:rPr>
              <a:t>The source label decides the layer, so a mail from the exams office is personal and a mail from a club is campus wide</a:t>
            </a:r>
            <a:endParaRPr lang="en-US" sz="1050" dirty="0"/>
          </a:p>
        </p:txBody>
      </p:sp>
      <p:sp>
        <p:nvSpPr>
          <p:cNvPr id="53" name="Text 50"/>
          <p:cNvSpPr/>
          <p:nvPr/>
        </p:nvSpPr>
        <p:spPr>
          <a:xfrm>
            <a:off x="512064" y="5376672"/>
            <a:ext cx="10826496" cy="329184"/>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Override:  </a:t>
            </a:r>
            <a:pPr indent="0" marL="0">
              <a:lnSpc>
                <a:spcPct val="110000"/>
              </a:lnSpc>
              <a:buNone/>
            </a:pPr>
            <a:r>
              <a:rPr lang="en-US" sz="1050" dirty="0">
                <a:solidFill>
                  <a:srgbClr val="333333"/>
                </a:solidFill>
                <a:latin typeface="Arial" pitchFamily="34" charset="0"/>
                <a:ea typeface="Arial" pitchFamily="34" charset="-122"/>
                <a:cs typeface="Arial" pitchFamily="34" charset="-120"/>
              </a:rPr>
              <a:t>Personal intent phrases such as shortlisted, your interview or roll number move a broadcast onto the personal layer</a:t>
            </a:r>
            <a:endParaRPr lang="en-US" sz="1050" dirty="0"/>
          </a:p>
        </p:txBody>
      </p:sp>
      <p:sp>
        <p:nvSpPr>
          <p:cNvPr id="54" name="Text 51"/>
          <p:cNvSpPr/>
          <p:nvPr/>
        </p:nvSpPr>
        <p:spPr>
          <a:xfrm>
            <a:off x="512064" y="5760720"/>
            <a:ext cx="10826496" cy="329184"/>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Denylist:  </a:t>
            </a:r>
            <a:pPr indent="0" marL="0">
              <a:lnSpc>
                <a:spcPct val="110000"/>
              </a:lnSpc>
              <a:buNone/>
            </a:pPr>
            <a:r>
              <a:rPr lang="en-US" sz="1050" dirty="0">
                <a:solidFill>
                  <a:srgbClr val="333333"/>
                </a:solidFill>
                <a:latin typeface="Arial" pitchFamily="34" charset="0"/>
                <a:ea typeface="Arial" pitchFamily="34" charset="-122"/>
                <a:cs typeface="Arial" pitchFamily="34" charset="-120"/>
              </a:rPr>
              <a:t>4 of the 18 labels never create events at all: The Ken, Form Receipts, Library and Personal &amp; Govt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Six capabilities are live in the prototype, each measurable on real inbox data</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Shape 2"/>
          <p:cNvSpPr/>
          <p:nvPr/>
        </p:nvSpPr>
        <p:spPr>
          <a:xfrm>
            <a:off x="512064" y="6400800"/>
            <a:ext cx="11173968" cy="0"/>
          </a:xfrm>
          <a:prstGeom prst="line">
            <a:avLst/>
          </a:prstGeom>
          <a:noFill/>
          <a:ln w="6350">
            <a:solidFill>
              <a:srgbClr val="D0D0D0"/>
            </a:solidFill>
            <a:prstDash val="solid"/>
          </a:ln>
        </p:spPr>
      </p:sp>
      <p:sp>
        <p:nvSpPr>
          <p:cNvPr id="5" name="Text 3"/>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codebase, 5,978 lines across backend and frontend; test_classification.py, 5 August 2026</a:t>
            </a:r>
            <a:endParaRPr lang="en-US" sz="800" dirty="0"/>
          </a:p>
        </p:txBody>
      </p:sp>
      <p:sp>
        <p:nvSpPr>
          <p:cNvPr id="6" name="Text 4"/>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6</a:t>
            </a:r>
            <a:endParaRPr lang="en-US" sz="900" dirty="0"/>
          </a:p>
        </p:txBody>
      </p:sp>
      <p:sp>
        <p:nvSpPr>
          <p:cNvPr id="8" name="Text 5"/>
          <p:cNvSpPr/>
          <p:nvPr/>
        </p:nvSpPr>
        <p:spPr>
          <a:xfrm>
            <a:off x="512064" y="1463040"/>
            <a:ext cx="228600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Capability</a:t>
            </a:r>
            <a:endParaRPr lang="en-US" sz="1100" dirty="0"/>
          </a:p>
        </p:txBody>
      </p:sp>
      <p:sp>
        <p:nvSpPr>
          <p:cNvPr id="9" name="Text 6"/>
          <p:cNvSpPr/>
          <p:nvPr/>
        </p:nvSpPr>
        <p:spPr>
          <a:xfrm>
            <a:off x="2889504" y="1463040"/>
            <a:ext cx="365760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What it does</a:t>
            </a:r>
            <a:endParaRPr lang="en-US" sz="1100" dirty="0"/>
          </a:p>
        </p:txBody>
      </p:sp>
      <p:sp>
        <p:nvSpPr>
          <p:cNvPr id="10" name="Text 7"/>
          <p:cNvSpPr/>
          <p:nvPr/>
        </p:nvSpPr>
        <p:spPr>
          <a:xfrm>
            <a:off x="6638544" y="1463040"/>
            <a:ext cx="228600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Evidence in the running build</a:t>
            </a:r>
            <a:endParaRPr lang="en-US" sz="1100" dirty="0"/>
          </a:p>
        </p:txBody>
      </p:sp>
      <p:sp>
        <p:nvSpPr>
          <p:cNvPr id="11" name="Shape 8"/>
          <p:cNvSpPr/>
          <p:nvPr/>
        </p:nvSpPr>
        <p:spPr>
          <a:xfrm>
            <a:off x="512064" y="1737360"/>
            <a:ext cx="8412480" cy="0"/>
          </a:xfrm>
          <a:prstGeom prst="line">
            <a:avLst/>
          </a:prstGeom>
          <a:noFill/>
          <a:ln w="9525">
            <a:solidFill>
              <a:srgbClr val="051C2C"/>
            </a:solidFill>
            <a:prstDash val="solid"/>
          </a:ln>
        </p:spPr>
      </p:sp>
      <p:sp>
        <p:nvSpPr>
          <p:cNvPr id="12" name="Text 9"/>
          <p:cNvSpPr/>
          <p:nvPr/>
        </p:nvSpPr>
        <p:spPr>
          <a:xfrm>
            <a:off x="512064" y="1847088"/>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A. Gmail ingestion</a:t>
            </a:r>
            <a:endParaRPr lang="en-US" sz="1100" dirty="0"/>
          </a:p>
        </p:txBody>
      </p:sp>
      <p:sp>
        <p:nvSpPr>
          <p:cNvPr id="13" name="Text 10"/>
          <p:cNvSpPr/>
          <p:nvPr/>
        </p:nvSpPr>
        <p:spPr>
          <a:xfrm>
            <a:off x="2889504" y="1847088"/>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Reads the inbox over the Gmail API, read only, with paging and a live poll</a:t>
            </a:r>
            <a:endParaRPr lang="en-US" sz="1050" dirty="0"/>
          </a:p>
        </p:txBody>
      </p:sp>
      <p:sp>
        <p:nvSpPr>
          <p:cNvPr id="14" name="Text 11"/>
          <p:cNvSpPr/>
          <p:nvPr/>
        </p:nvSpPr>
        <p:spPr>
          <a:xfrm>
            <a:off x="6638544" y="1847088"/>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100 mails per page, 12 parallel fetches, 45 second poll</a:t>
            </a:r>
            <a:endParaRPr lang="en-US" sz="1000" dirty="0"/>
          </a:p>
        </p:txBody>
      </p:sp>
      <p:sp>
        <p:nvSpPr>
          <p:cNvPr id="15" name="Shape 12"/>
          <p:cNvSpPr/>
          <p:nvPr/>
        </p:nvSpPr>
        <p:spPr>
          <a:xfrm>
            <a:off x="512064" y="2450592"/>
            <a:ext cx="8412480" cy="0"/>
          </a:xfrm>
          <a:prstGeom prst="line">
            <a:avLst/>
          </a:prstGeom>
          <a:noFill/>
          <a:ln w="6350">
            <a:solidFill>
              <a:srgbClr val="D0D0D0"/>
            </a:solidFill>
            <a:prstDash val="solid"/>
          </a:ln>
        </p:spPr>
      </p:sp>
      <p:sp>
        <p:nvSpPr>
          <p:cNvPr id="16" name="Text 13"/>
          <p:cNvSpPr/>
          <p:nvPr/>
        </p:nvSpPr>
        <p:spPr>
          <a:xfrm>
            <a:off x="512064" y="2450592"/>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B. Segmentation</a:t>
            </a:r>
            <a:endParaRPr lang="en-US" sz="1100" dirty="0"/>
          </a:p>
        </p:txBody>
      </p:sp>
      <p:sp>
        <p:nvSpPr>
          <p:cNvPr id="17" name="Text 14"/>
          <p:cNvSpPr/>
          <p:nvPr/>
        </p:nvSpPr>
        <p:spPr>
          <a:xfrm>
            <a:off x="2889504" y="2450592"/>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Routes every mail onto one source label and one calendar category</a:t>
            </a:r>
            <a:endParaRPr lang="en-US" sz="1050" dirty="0"/>
          </a:p>
        </p:txBody>
      </p:sp>
      <p:sp>
        <p:nvSpPr>
          <p:cNvPr id="18" name="Text 15"/>
          <p:cNvSpPr/>
          <p:nvPr/>
        </p:nvSpPr>
        <p:spPr>
          <a:xfrm>
            <a:off x="6638544" y="2450592"/>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18 labels, 9 categories, 4 tiers</a:t>
            </a:r>
            <a:endParaRPr lang="en-US" sz="1000" dirty="0"/>
          </a:p>
        </p:txBody>
      </p:sp>
      <p:sp>
        <p:nvSpPr>
          <p:cNvPr id="19" name="Shape 16"/>
          <p:cNvSpPr/>
          <p:nvPr/>
        </p:nvSpPr>
        <p:spPr>
          <a:xfrm>
            <a:off x="512064" y="3054096"/>
            <a:ext cx="8412480" cy="0"/>
          </a:xfrm>
          <a:prstGeom prst="line">
            <a:avLst/>
          </a:prstGeom>
          <a:noFill/>
          <a:ln w="6350">
            <a:solidFill>
              <a:srgbClr val="D0D0D0"/>
            </a:solidFill>
            <a:prstDash val="solid"/>
          </a:ln>
        </p:spPr>
      </p:sp>
      <p:sp>
        <p:nvSpPr>
          <p:cNvPr id="20" name="Text 17"/>
          <p:cNvSpPr/>
          <p:nvPr/>
        </p:nvSpPr>
        <p:spPr>
          <a:xfrm>
            <a:off x="512064" y="3054096"/>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C. Event extraction</a:t>
            </a:r>
            <a:endParaRPr lang="en-US" sz="1100" dirty="0"/>
          </a:p>
        </p:txBody>
      </p:sp>
      <p:sp>
        <p:nvSpPr>
          <p:cNvPr id="21" name="Text 18"/>
          <p:cNvSpPr/>
          <p:nvPr/>
        </p:nvSpPr>
        <p:spPr>
          <a:xfrm>
            <a:off x="2889504" y="3054096"/>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Pulls title, date, time, venue and links from the mail body</a:t>
            </a:r>
            <a:endParaRPr lang="en-US" sz="1050" dirty="0"/>
          </a:p>
        </p:txBody>
      </p:sp>
      <p:sp>
        <p:nvSpPr>
          <p:cNvPr id="22" name="Text 19"/>
          <p:cNvSpPr/>
          <p:nvPr/>
        </p:nvSpPr>
        <p:spPr>
          <a:xfrm>
            <a:off x="6638544" y="3054096"/>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237 weighted keywords, 5 date formats</a:t>
            </a:r>
            <a:endParaRPr lang="en-US" sz="1000" dirty="0"/>
          </a:p>
        </p:txBody>
      </p:sp>
      <p:sp>
        <p:nvSpPr>
          <p:cNvPr id="23" name="Shape 20"/>
          <p:cNvSpPr/>
          <p:nvPr/>
        </p:nvSpPr>
        <p:spPr>
          <a:xfrm>
            <a:off x="512064" y="3657600"/>
            <a:ext cx="8412480" cy="0"/>
          </a:xfrm>
          <a:prstGeom prst="line">
            <a:avLst/>
          </a:prstGeom>
          <a:noFill/>
          <a:ln w="6350">
            <a:solidFill>
              <a:srgbClr val="D0D0D0"/>
            </a:solidFill>
            <a:prstDash val="solid"/>
          </a:ln>
        </p:spPr>
      </p:sp>
      <p:sp>
        <p:nvSpPr>
          <p:cNvPr id="24" name="Text 21"/>
          <p:cNvSpPr/>
          <p:nvPr/>
        </p:nvSpPr>
        <p:spPr>
          <a:xfrm>
            <a:off x="512064" y="3657600"/>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D. Registration links</a:t>
            </a:r>
            <a:endParaRPr lang="en-US" sz="1100" dirty="0"/>
          </a:p>
        </p:txBody>
      </p:sp>
      <p:sp>
        <p:nvSpPr>
          <p:cNvPr id="25" name="Text 22"/>
          <p:cNvSpPr/>
          <p:nvPr/>
        </p:nvSpPr>
        <p:spPr>
          <a:xfrm>
            <a:off x="2889504" y="3657600"/>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Detects and attaches the registration or meeting URL to the event</a:t>
            </a:r>
            <a:endParaRPr lang="en-US" sz="1050" dirty="0"/>
          </a:p>
        </p:txBody>
      </p:sp>
      <p:sp>
        <p:nvSpPr>
          <p:cNvPr id="26" name="Text 23"/>
          <p:cNvSpPr/>
          <p:nvPr/>
        </p:nvSpPr>
        <p:spPr>
          <a:xfrm>
            <a:off x="6638544" y="3657600"/>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4 link classes, tracking links dropped</a:t>
            </a:r>
            <a:endParaRPr lang="en-US" sz="1000" dirty="0"/>
          </a:p>
        </p:txBody>
      </p:sp>
      <p:sp>
        <p:nvSpPr>
          <p:cNvPr id="27" name="Shape 24"/>
          <p:cNvSpPr/>
          <p:nvPr/>
        </p:nvSpPr>
        <p:spPr>
          <a:xfrm>
            <a:off x="512064" y="4261104"/>
            <a:ext cx="8412480" cy="0"/>
          </a:xfrm>
          <a:prstGeom prst="line">
            <a:avLst/>
          </a:prstGeom>
          <a:noFill/>
          <a:ln w="6350">
            <a:solidFill>
              <a:srgbClr val="D0D0D0"/>
            </a:solidFill>
            <a:prstDash val="solid"/>
          </a:ln>
        </p:spPr>
      </p:sp>
      <p:sp>
        <p:nvSpPr>
          <p:cNvPr id="28" name="Text 25"/>
          <p:cNvSpPr/>
          <p:nvPr/>
        </p:nvSpPr>
        <p:spPr>
          <a:xfrm>
            <a:off x="512064" y="4261104"/>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E. Google Calendar sync</a:t>
            </a:r>
            <a:endParaRPr lang="en-US" sz="1100" dirty="0"/>
          </a:p>
        </p:txBody>
      </p:sp>
      <p:sp>
        <p:nvSpPr>
          <p:cNvPr id="29" name="Text 26"/>
          <p:cNvSpPr/>
          <p:nvPr/>
        </p:nvSpPr>
        <p:spPr>
          <a:xfrm>
            <a:off x="2889504" y="4261104"/>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Reads existing calendars and pushes CampusCal events back, reversibly</a:t>
            </a:r>
            <a:endParaRPr lang="en-US" sz="1050" dirty="0"/>
          </a:p>
        </p:txBody>
      </p:sp>
      <p:sp>
        <p:nvSpPr>
          <p:cNvPr id="30" name="Text 27"/>
          <p:cNvSpPr/>
          <p:nvPr/>
        </p:nvSpPr>
        <p:spPr>
          <a:xfrm>
            <a:off x="6638544" y="4261104"/>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118 events read, idempotent push</a:t>
            </a:r>
            <a:endParaRPr lang="en-US" sz="1000" dirty="0"/>
          </a:p>
        </p:txBody>
      </p:sp>
      <p:sp>
        <p:nvSpPr>
          <p:cNvPr id="31" name="Shape 28"/>
          <p:cNvSpPr/>
          <p:nvPr/>
        </p:nvSpPr>
        <p:spPr>
          <a:xfrm>
            <a:off x="512064" y="4864608"/>
            <a:ext cx="8412480" cy="0"/>
          </a:xfrm>
          <a:prstGeom prst="line">
            <a:avLst/>
          </a:prstGeom>
          <a:noFill/>
          <a:ln w="6350">
            <a:solidFill>
              <a:srgbClr val="D0D0D0"/>
            </a:solidFill>
            <a:prstDash val="solid"/>
          </a:ln>
        </p:spPr>
      </p:sp>
      <p:sp>
        <p:nvSpPr>
          <p:cNvPr id="32" name="Text 29"/>
          <p:cNvSpPr/>
          <p:nvPr/>
        </p:nvSpPr>
        <p:spPr>
          <a:xfrm>
            <a:off x="512064" y="4864608"/>
            <a:ext cx="2286000" cy="45720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F. Responsive interface</a:t>
            </a:r>
            <a:endParaRPr lang="en-US" sz="1100" dirty="0"/>
          </a:p>
        </p:txBody>
      </p:sp>
      <p:sp>
        <p:nvSpPr>
          <p:cNvPr id="33" name="Text 30"/>
          <p:cNvSpPr/>
          <p:nvPr/>
        </p:nvSpPr>
        <p:spPr>
          <a:xfrm>
            <a:off x="2889504" y="4864608"/>
            <a:ext cx="3657600" cy="457200"/>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One codebase across desktop, tablet and mobile, with dark mode</a:t>
            </a:r>
            <a:endParaRPr lang="en-US" sz="1050" dirty="0"/>
          </a:p>
        </p:txBody>
      </p:sp>
      <p:sp>
        <p:nvSpPr>
          <p:cNvPr id="34" name="Text 31"/>
          <p:cNvSpPr/>
          <p:nvPr/>
        </p:nvSpPr>
        <p:spPr>
          <a:xfrm>
            <a:off x="6638544" y="4864608"/>
            <a:ext cx="2286000" cy="457200"/>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3 breakpoints, light and dark themes</a:t>
            </a:r>
            <a:endParaRPr lang="en-US" sz="1000" dirty="0"/>
          </a:p>
        </p:txBody>
      </p:sp>
      <p:sp>
        <p:nvSpPr>
          <p:cNvPr id="35" name="Shape 32"/>
          <p:cNvSpPr/>
          <p:nvPr/>
        </p:nvSpPr>
        <p:spPr>
          <a:xfrm>
            <a:off x="512064" y="5468112"/>
            <a:ext cx="8412480" cy="0"/>
          </a:xfrm>
          <a:prstGeom prst="line">
            <a:avLst/>
          </a:prstGeom>
          <a:noFill/>
          <a:ln w="6350">
            <a:solidFill>
              <a:srgbClr val="D0D0D0"/>
            </a:solidFill>
            <a:prstDash val="solid"/>
          </a:ln>
        </p:spPr>
      </p:sp>
      <p:sp>
        <p:nvSpPr>
          <p:cNvPr id="36" name="Text 33"/>
          <p:cNvSpPr/>
          <p:nvPr/>
        </p:nvSpPr>
        <p:spPr>
          <a:xfrm>
            <a:off x="9235440" y="1847088"/>
            <a:ext cx="2450592" cy="603504"/>
          </a:xfrm>
          <a:prstGeom prst="rect">
            <a:avLst/>
          </a:prstGeom>
          <a:noFill/>
          <a:ln/>
        </p:spPr>
        <p:txBody>
          <a:bodyPr wrap="square" lIns="0" tIns="0" rIns="0" bIns="0" rtlCol="0" anchor="ctr"/>
          <a:lstStyle/>
          <a:p>
            <a:pPr indent="0" marL="0">
              <a:buNone/>
            </a:pPr>
            <a:r>
              <a:rPr lang="en-US" sz="3400" b="1" dirty="0">
                <a:solidFill>
                  <a:srgbClr val="2251FF"/>
                </a:solidFill>
                <a:latin typeface="Georgia" pitchFamily="34" charset="0"/>
                <a:ea typeface="Georgia" pitchFamily="34" charset="-122"/>
                <a:cs typeface="Georgia" pitchFamily="34" charset="-120"/>
              </a:rPr>
              <a:t>133</a:t>
            </a:r>
            <a:endParaRPr lang="en-US" sz="3400" dirty="0"/>
          </a:p>
        </p:txBody>
      </p:sp>
      <p:sp>
        <p:nvSpPr>
          <p:cNvPr id="37" name="Text 34"/>
          <p:cNvSpPr/>
          <p:nvPr/>
        </p:nvSpPr>
        <p:spPr>
          <a:xfrm>
            <a:off x="9235440" y="2450592"/>
            <a:ext cx="2450592" cy="457200"/>
          </a:xfrm>
          <a:prstGeom prst="rect">
            <a:avLst/>
          </a:prstGeom>
          <a:noFill/>
          <a:ln/>
        </p:spPr>
        <p:txBody>
          <a:bodyPr wrap="square" lIns="0" tIns="0" rIns="0" bIns="0" rtlCol="0" anchor="ctr"/>
          <a:lstStyle/>
          <a:p>
            <a:pPr indent="0" marL="0">
              <a:lnSpc>
                <a:spcPct val="112000"/>
              </a:lnSpc>
              <a:buNone/>
            </a:pPr>
            <a:r>
              <a:rPr lang="en-US" sz="1000" dirty="0">
                <a:solidFill>
                  <a:srgbClr val="7F7F7F"/>
                </a:solidFill>
                <a:latin typeface="Arial" pitchFamily="34" charset="0"/>
                <a:ea typeface="Arial" pitchFamily="34" charset="-122"/>
                <a:cs typeface="Arial" pitchFamily="34" charset="-120"/>
              </a:rPr>
              <a:t>events live on the calendar today</a:t>
            </a:r>
            <a:endParaRPr lang="en-US" sz="1000" dirty="0"/>
          </a:p>
        </p:txBody>
      </p:sp>
      <p:sp>
        <p:nvSpPr>
          <p:cNvPr id="38" name="Text 35"/>
          <p:cNvSpPr/>
          <p:nvPr/>
        </p:nvSpPr>
        <p:spPr>
          <a:xfrm>
            <a:off x="9235440" y="3090672"/>
            <a:ext cx="2450592" cy="603504"/>
          </a:xfrm>
          <a:prstGeom prst="rect">
            <a:avLst/>
          </a:prstGeom>
          <a:noFill/>
          <a:ln/>
        </p:spPr>
        <p:txBody>
          <a:bodyPr wrap="square" lIns="0" tIns="0" rIns="0" bIns="0" rtlCol="0" anchor="ctr"/>
          <a:lstStyle/>
          <a:p>
            <a:pPr indent="0" marL="0">
              <a:buNone/>
            </a:pPr>
            <a:r>
              <a:rPr lang="en-US" sz="3400" b="1" dirty="0">
                <a:solidFill>
                  <a:srgbClr val="2251FF"/>
                </a:solidFill>
                <a:latin typeface="Georgia" pitchFamily="34" charset="0"/>
                <a:ea typeface="Georgia" pitchFamily="34" charset="-122"/>
                <a:cs typeface="Georgia" pitchFamily="34" charset="-120"/>
              </a:rPr>
              <a:t>126</a:t>
            </a:r>
            <a:endParaRPr lang="en-US" sz="3400" dirty="0"/>
          </a:p>
        </p:txBody>
      </p:sp>
      <p:sp>
        <p:nvSpPr>
          <p:cNvPr id="39" name="Text 36"/>
          <p:cNvSpPr/>
          <p:nvPr/>
        </p:nvSpPr>
        <p:spPr>
          <a:xfrm>
            <a:off x="9235440" y="3694176"/>
            <a:ext cx="2450592" cy="457200"/>
          </a:xfrm>
          <a:prstGeom prst="rect">
            <a:avLst/>
          </a:prstGeom>
          <a:noFill/>
          <a:ln/>
        </p:spPr>
        <p:txBody>
          <a:bodyPr wrap="square" lIns="0" tIns="0" rIns="0" bIns="0" rtlCol="0" anchor="ctr"/>
          <a:lstStyle/>
          <a:p>
            <a:pPr indent="0" marL="0">
              <a:lnSpc>
                <a:spcPct val="112000"/>
              </a:lnSpc>
              <a:buNone/>
            </a:pPr>
            <a:r>
              <a:rPr lang="en-US" sz="1000" dirty="0">
                <a:solidFill>
                  <a:srgbClr val="7F7F7F"/>
                </a:solidFill>
                <a:latin typeface="Arial" pitchFamily="34" charset="0"/>
                <a:ea typeface="Arial" pitchFamily="34" charset="-122"/>
                <a:cs typeface="Arial" pitchFamily="34" charset="-120"/>
              </a:rPr>
              <a:t>automated checks, all passing</a:t>
            </a:r>
            <a:endParaRPr lang="en-US" sz="1000" dirty="0"/>
          </a:p>
        </p:txBody>
      </p:sp>
      <p:sp>
        <p:nvSpPr>
          <p:cNvPr id="40" name="Text 37"/>
          <p:cNvSpPr/>
          <p:nvPr/>
        </p:nvSpPr>
        <p:spPr>
          <a:xfrm>
            <a:off x="9235440" y="4334256"/>
            <a:ext cx="2450592" cy="603504"/>
          </a:xfrm>
          <a:prstGeom prst="rect">
            <a:avLst/>
          </a:prstGeom>
          <a:noFill/>
          <a:ln/>
        </p:spPr>
        <p:txBody>
          <a:bodyPr wrap="square" lIns="0" tIns="0" rIns="0" bIns="0" rtlCol="0" anchor="ctr"/>
          <a:lstStyle/>
          <a:p>
            <a:pPr indent="0" marL="0">
              <a:buNone/>
            </a:pPr>
            <a:r>
              <a:rPr lang="en-US" sz="3400" b="1" dirty="0">
                <a:solidFill>
                  <a:srgbClr val="2251FF"/>
                </a:solidFill>
                <a:latin typeface="Georgia" pitchFamily="34" charset="0"/>
                <a:ea typeface="Georgia" pitchFamily="34" charset="-122"/>
                <a:cs typeface="Georgia" pitchFamily="34" charset="-120"/>
              </a:rPr>
              <a:t>~6,000</a:t>
            </a:r>
            <a:endParaRPr lang="en-US" sz="3400" dirty="0"/>
          </a:p>
        </p:txBody>
      </p:sp>
      <p:sp>
        <p:nvSpPr>
          <p:cNvPr id="41" name="Text 38"/>
          <p:cNvSpPr/>
          <p:nvPr/>
        </p:nvSpPr>
        <p:spPr>
          <a:xfrm>
            <a:off x="9235440" y="4937760"/>
            <a:ext cx="2450592" cy="457200"/>
          </a:xfrm>
          <a:prstGeom prst="rect">
            <a:avLst/>
          </a:prstGeom>
          <a:noFill/>
          <a:ln/>
        </p:spPr>
        <p:txBody>
          <a:bodyPr wrap="square" lIns="0" tIns="0" rIns="0" bIns="0" rtlCol="0" anchor="ctr"/>
          <a:lstStyle/>
          <a:p>
            <a:pPr indent="0" marL="0">
              <a:lnSpc>
                <a:spcPct val="112000"/>
              </a:lnSpc>
              <a:buNone/>
            </a:pPr>
            <a:r>
              <a:rPr lang="en-US" sz="1000" dirty="0">
                <a:solidFill>
                  <a:srgbClr val="7F7F7F"/>
                </a:solidFill>
                <a:latin typeface="Arial" pitchFamily="34" charset="0"/>
                <a:ea typeface="Arial" pitchFamily="34" charset="-122"/>
                <a:cs typeface="Arial" pitchFamily="34" charset="-120"/>
              </a:rPr>
              <a:t>lines of application code</a:t>
            </a:r>
            <a:endParaRPr lang="en-US" sz="1000" dirty="0"/>
          </a:p>
        </p:txBody>
      </p:sp>
      <p:sp>
        <p:nvSpPr>
          <p:cNvPr id="42" name="Shape 39"/>
          <p:cNvSpPr/>
          <p:nvPr/>
        </p:nvSpPr>
        <p:spPr>
          <a:xfrm>
            <a:off x="9015984" y="1792224"/>
            <a:ext cx="0" cy="3749040"/>
          </a:xfrm>
          <a:prstGeom prst="line">
            <a:avLst/>
          </a:prstGeom>
          <a:noFill/>
          <a:ln w="6350">
            <a:solidFill>
              <a:srgbClr val="D0D0D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12064" y="329184"/>
            <a:ext cx="8266176"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Segmentation runs on two axes: who sent the mail, and what kind of event it is</a:t>
            </a:r>
            <a:endParaRPr lang="en-US" sz="2300" dirty="0"/>
          </a:p>
        </p:txBody>
      </p:sp>
      <p:sp>
        <p:nvSpPr>
          <p:cNvPr id="3" name="Shape 1"/>
          <p:cNvSpPr/>
          <p:nvPr/>
        </p:nvSpPr>
        <p:spPr>
          <a:xfrm>
            <a:off x="512064" y="1216152"/>
            <a:ext cx="8266176"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Segmentation logic, part 1 of 2</a:t>
            </a:r>
            <a:endParaRPr lang="en-US" sz="900" dirty="0"/>
          </a:p>
        </p:txBody>
      </p:sp>
      <p:sp>
        <p:nvSpPr>
          <p:cNvPr id="5" name="Text 3"/>
          <p:cNvSpPr/>
          <p:nvPr/>
        </p:nvSpPr>
        <p:spPr>
          <a:xfrm>
            <a:off x="512064" y="6016752"/>
            <a:ext cx="8266176" cy="347472"/>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Source labels are imported from the student's own Gmail filter set (gmail_filters_import.xml), so the website and the inbox agree</a:t>
            </a:r>
            <a:endParaRPr lang="en-US" sz="800" dirty="0"/>
          </a:p>
          <a:p>
            <a:pPr indent="0" marL="0">
              <a:lnSpc>
                <a:spcPct val="105000"/>
              </a:lnSpc>
              <a:buNone/>
            </a:pPr>
            <a:r>
              <a:rPr lang="en-US" sz="800" dirty="0">
                <a:solidFill>
                  <a:srgbClr val="7F7F7F"/>
                </a:solidFill>
                <a:latin typeface="Arial" pitchFamily="34" charset="0"/>
                <a:ea typeface="Arial" pitchFamily="34" charset="-122"/>
                <a:cs typeface="Arial" pitchFamily="34" charset="-120"/>
              </a:rPr>
              <a:t>2. Nine categories were chosen deliberately: 18 colours on a month grid is unreadable, so provenance is carried by the label instead</a:t>
            </a:r>
            <a:endParaRPr lang="en-US" sz="800" dirty="0"/>
          </a:p>
        </p:txBody>
      </p:sp>
      <p:sp>
        <p:nvSpPr>
          <p:cNvPr id="6" name="Shape 4"/>
          <p:cNvSpPr/>
          <p:nvPr/>
        </p:nvSpPr>
        <p:spPr>
          <a:xfrm>
            <a:off x="512064" y="6400800"/>
            <a:ext cx="8266176" cy="0"/>
          </a:xfrm>
          <a:prstGeom prst="line">
            <a:avLst/>
          </a:prstGeom>
          <a:noFill/>
          <a:ln w="6350">
            <a:solidFill>
              <a:srgbClr val="D0D0D0"/>
            </a:solidFill>
            <a:prstDash val="solid"/>
          </a:ln>
        </p:spPr>
      </p:sp>
      <p:sp>
        <p:nvSpPr>
          <p:cNvPr id="7" name="Text 5"/>
          <p:cNvSpPr/>
          <p:nvPr/>
        </p:nvSpPr>
        <p:spPr>
          <a:xfrm>
            <a:off x="512064" y="6455664"/>
            <a:ext cx="7534656"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backend/categories.py; gmail_filters_import.xml, 21 rules covering 18 labels</a:t>
            </a:r>
            <a:endParaRPr lang="en-US" sz="800" dirty="0"/>
          </a:p>
        </p:txBody>
      </p:sp>
      <p:sp>
        <p:nvSpPr>
          <p:cNvPr id="8" name="Text 6"/>
          <p:cNvSpPr/>
          <p:nvPr/>
        </p:nvSpPr>
        <p:spPr>
          <a:xfrm>
            <a:off x="8138160"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7</a:t>
            </a:r>
            <a:endParaRPr lang="en-US" sz="900" dirty="0"/>
          </a:p>
        </p:txBody>
      </p:sp>
      <p:sp>
        <p:nvSpPr>
          <p:cNvPr id="10" name="Text 7"/>
          <p:cNvSpPr/>
          <p:nvPr/>
        </p:nvSpPr>
        <p:spPr>
          <a:xfrm>
            <a:off x="512064" y="1463040"/>
            <a:ext cx="393192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Axis 1: source label, who sent it¹</a:t>
            </a:r>
            <a:endParaRPr lang="en-US" sz="1200" dirty="0"/>
          </a:p>
        </p:txBody>
      </p:sp>
      <p:sp>
        <p:nvSpPr>
          <p:cNvPr id="11" name="Text 8"/>
          <p:cNvSpPr/>
          <p:nvPr/>
        </p:nvSpPr>
        <p:spPr>
          <a:xfrm>
            <a:off x="512064" y="1719072"/>
            <a:ext cx="3931920" cy="237744"/>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18 labels, mirrored from the student's Gmail filters</a:t>
            </a:r>
            <a:endParaRPr lang="en-US" sz="950" dirty="0"/>
          </a:p>
        </p:txBody>
      </p:sp>
      <p:sp>
        <p:nvSpPr>
          <p:cNvPr id="12" name="Text 9"/>
          <p:cNvSpPr/>
          <p:nvPr/>
        </p:nvSpPr>
        <p:spPr>
          <a:xfrm>
            <a:off x="512064" y="204825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Exam Notices</a:t>
            </a:r>
            <a:endParaRPr lang="en-US" sz="850" dirty="0"/>
          </a:p>
        </p:txBody>
      </p:sp>
      <p:sp>
        <p:nvSpPr>
          <p:cNvPr id="13" name="Shape 10"/>
          <p:cNvSpPr/>
          <p:nvPr/>
        </p:nvSpPr>
        <p:spPr>
          <a:xfrm>
            <a:off x="512064" y="2359152"/>
            <a:ext cx="1225296" cy="0"/>
          </a:xfrm>
          <a:prstGeom prst="line">
            <a:avLst/>
          </a:prstGeom>
          <a:noFill/>
          <a:ln w="6350">
            <a:solidFill>
              <a:srgbClr val="D0D0D0"/>
            </a:solidFill>
            <a:prstDash val="solid"/>
          </a:ln>
        </p:spPr>
      </p:sp>
      <p:sp>
        <p:nvSpPr>
          <p:cNvPr id="14" name="Text 11"/>
          <p:cNvSpPr/>
          <p:nvPr/>
        </p:nvSpPr>
        <p:spPr>
          <a:xfrm>
            <a:off x="1828800" y="204825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Assignments &amp; Quizzes</a:t>
            </a:r>
            <a:endParaRPr lang="en-US" sz="850" dirty="0"/>
          </a:p>
        </p:txBody>
      </p:sp>
      <p:sp>
        <p:nvSpPr>
          <p:cNvPr id="15" name="Shape 12"/>
          <p:cNvSpPr/>
          <p:nvPr/>
        </p:nvSpPr>
        <p:spPr>
          <a:xfrm>
            <a:off x="1828800" y="2359152"/>
            <a:ext cx="1225296" cy="0"/>
          </a:xfrm>
          <a:prstGeom prst="line">
            <a:avLst/>
          </a:prstGeom>
          <a:noFill/>
          <a:ln w="6350">
            <a:solidFill>
              <a:srgbClr val="D0D0D0"/>
            </a:solidFill>
            <a:prstDash val="solid"/>
          </a:ln>
        </p:spPr>
      </p:sp>
      <p:sp>
        <p:nvSpPr>
          <p:cNvPr id="16" name="Text 13"/>
          <p:cNvSpPr/>
          <p:nvPr/>
        </p:nvSpPr>
        <p:spPr>
          <a:xfrm>
            <a:off x="3145536" y="204825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Placement Committee</a:t>
            </a:r>
            <a:endParaRPr lang="en-US" sz="850" dirty="0"/>
          </a:p>
        </p:txBody>
      </p:sp>
      <p:sp>
        <p:nvSpPr>
          <p:cNvPr id="17" name="Shape 14"/>
          <p:cNvSpPr/>
          <p:nvPr/>
        </p:nvSpPr>
        <p:spPr>
          <a:xfrm>
            <a:off x="3145536" y="2359152"/>
            <a:ext cx="1225296" cy="0"/>
          </a:xfrm>
          <a:prstGeom prst="line">
            <a:avLst/>
          </a:prstGeom>
          <a:noFill/>
          <a:ln w="6350">
            <a:solidFill>
              <a:srgbClr val="D0D0D0"/>
            </a:solidFill>
            <a:prstDash val="solid"/>
          </a:ln>
        </p:spPr>
      </p:sp>
      <p:sp>
        <p:nvSpPr>
          <p:cNvPr id="18" name="Text 15"/>
          <p:cNvSpPr/>
          <p:nvPr/>
        </p:nvSpPr>
        <p:spPr>
          <a:xfrm>
            <a:off x="512064" y="2432304"/>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Career Clubs</a:t>
            </a:r>
            <a:endParaRPr lang="en-US" sz="850" dirty="0"/>
          </a:p>
        </p:txBody>
      </p:sp>
      <p:sp>
        <p:nvSpPr>
          <p:cNvPr id="19" name="Shape 16"/>
          <p:cNvSpPr/>
          <p:nvPr/>
        </p:nvSpPr>
        <p:spPr>
          <a:xfrm>
            <a:off x="512064" y="2743200"/>
            <a:ext cx="1225296" cy="0"/>
          </a:xfrm>
          <a:prstGeom prst="line">
            <a:avLst/>
          </a:prstGeom>
          <a:noFill/>
          <a:ln w="6350">
            <a:solidFill>
              <a:srgbClr val="D0D0D0"/>
            </a:solidFill>
            <a:prstDash val="solid"/>
          </a:ln>
        </p:spPr>
      </p:sp>
      <p:sp>
        <p:nvSpPr>
          <p:cNvPr id="20" name="Text 17"/>
          <p:cNvSpPr/>
          <p:nvPr/>
        </p:nvSpPr>
        <p:spPr>
          <a:xfrm>
            <a:off x="1828800" y="2432304"/>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Other Clubs</a:t>
            </a:r>
            <a:endParaRPr lang="en-US" sz="850" dirty="0"/>
          </a:p>
        </p:txBody>
      </p:sp>
      <p:sp>
        <p:nvSpPr>
          <p:cNvPr id="21" name="Shape 18"/>
          <p:cNvSpPr/>
          <p:nvPr/>
        </p:nvSpPr>
        <p:spPr>
          <a:xfrm>
            <a:off x="1828800" y="2743200"/>
            <a:ext cx="1225296" cy="0"/>
          </a:xfrm>
          <a:prstGeom prst="line">
            <a:avLst/>
          </a:prstGeom>
          <a:noFill/>
          <a:ln w="6350">
            <a:solidFill>
              <a:srgbClr val="D0D0D0"/>
            </a:solidFill>
            <a:prstDash val="solid"/>
          </a:ln>
        </p:spPr>
      </p:sp>
      <p:sp>
        <p:nvSpPr>
          <p:cNvPr id="22" name="Text 19"/>
          <p:cNvSpPr/>
          <p:nvPr/>
        </p:nvSpPr>
        <p:spPr>
          <a:xfrm>
            <a:off x="3145536" y="2432304"/>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Seminars &amp; Talks</a:t>
            </a:r>
            <a:endParaRPr lang="en-US" sz="850" dirty="0"/>
          </a:p>
        </p:txBody>
      </p:sp>
      <p:sp>
        <p:nvSpPr>
          <p:cNvPr id="23" name="Shape 20"/>
          <p:cNvSpPr/>
          <p:nvPr/>
        </p:nvSpPr>
        <p:spPr>
          <a:xfrm>
            <a:off x="3145536" y="2743200"/>
            <a:ext cx="1225296" cy="0"/>
          </a:xfrm>
          <a:prstGeom prst="line">
            <a:avLst/>
          </a:prstGeom>
          <a:noFill/>
          <a:ln w="6350">
            <a:solidFill>
              <a:srgbClr val="D0D0D0"/>
            </a:solidFill>
            <a:prstDash val="solid"/>
          </a:ln>
        </p:spPr>
      </p:sp>
      <p:sp>
        <p:nvSpPr>
          <p:cNvPr id="24" name="Text 21"/>
          <p:cNvSpPr/>
          <p:nvPr/>
        </p:nvSpPr>
        <p:spPr>
          <a:xfrm>
            <a:off x="512064" y="2816352"/>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Section Admin</a:t>
            </a:r>
            <a:endParaRPr lang="en-US" sz="850" dirty="0"/>
          </a:p>
        </p:txBody>
      </p:sp>
      <p:sp>
        <p:nvSpPr>
          <p:cNvPr id="25" name="Shape 22"/>
          <p:cNvSpPr/>
          <p:nvPr/>
        </p:nvSpPr>
        <p:spPr>
          <a:xfrm>
            <a:off x="512064" y="3127248"/>
            <a:ext cx="1225296" cy="0"/>
          </a:xfrm>
          <a:prstGeom prst="line">
            <a:avLst/>
          </a:prstGeom>
          <a:noFill/>
          <a:ln w="6350">
            <a:solidFill>
              <a:srgbClr val="D0D0D0"/>
            </a:solidFill>
            <a:prstDash val="solid"/>
          </a:ln>
        </p:spPr>
      </p:sp>
      <p:sp>
        <p:nvSpPr>
          <p:cNvPr id="26" name="Text 23"/>
          <p:cNvSpPr/>
          <p:nvPr/>
        </p:nvSpPr>
        <p:spPr>
          <a:xfrm>
            <a:off x="1828800" y="2816352"/>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REM &amp; Doubt Sessions</a:t>
            </a:r>
            <a:endParaRPr lang="en-US" sz="850" dirty="0"/>
          </a:p>
        </p:txBody>
      </p:sp>
      <p:sp>
        <p:nvSpPr>
          <p:cNvPr id="27" name="Shape 24"/>
          <p:cNvSpPr/>
          <p:nvPr/>
        </p:nvSpPr>
        <p:spPr>
          <a:xfrm>
            <a:off x="1828800" y="3127248"/>
            <a:ext cx="1225296" cy="0"/>
          </a:xfrm>
          <a:prstGeom prst="line">
            <a:avLst/>
          </a:prstGeom>
          <a:noFill/>
          <a:ln w="6350">
            <a:solidFill>
              <a:srgbClr val="D0D0D0"/>
            </a:solidFill>
            <a:prstDash val="solid"/>
          </a:ln>
        </p:spPr>
      </p:sp>
      <p:sp>
        <p:nvSpPr>
          <p:cNvPr id="28" name="Text 25"/>
          <p:cNvSpPr/>
          <p:nvPr/>
        </p:nvSpPr>
        <p:spPr>
          <a:xfrm>
            <a:off x="3145536" y="2816352"/>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Course Forums</a:t>
            </a:r>
            <a:endParaRPr lang="en-US" sz="850" dirty="0"/>
          </a:p>
        </p:txBody>
      </p:sp>
      <p:sp>
        <p:nvSpPr>
          <p:cNvPr id="29" name="Shape 26"/>
          <p:cNvSpPr/>
          <p:nvPr/>
        </p:nvSpPr>
        <p:spPr>
          <a:xfrm>
            <a:off x="3145536" y="3127248"/>
            <a:ext cx="1225296" cy="0"/>
          </a:xfrm>
          <a:prstGeom prst="line">
            <a:avLst/>
          </a:prstGeom>
          <a:noFill/>
          <a:ln w="6350">
            <a:solidFill>
              <a:srgbClr val="D0D0D0"/>
            </a:solidFill>
            <a:prstDash val="solid"/>
          </a:ln>
        </p:spPr>
      </p:sp>
      <p:sp>
        <p:nvSpPr>
          <p:cNvPr id="30" name="Text 27"/>
          <p:cNvSpPr/>
          <p:nvPr/>
        </p:nvSpPr>
        <p:spPr>
          <a:xfrm>
            <a:off x="512064" y="3200400"/>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General Notice Board</a:t>
            </a:r>
            <a:endParaRPr lang="en-US" sz="850" dirty="0"/>
          </a:p>
        </p:txBody>
      </p:sp>
      <p:sp>
        <p:nvSpPr>
          <p:cNvPr id="31" name="Shape 28"/>
          <p:cNvSpPr/>
          <p:nvPr/>
        </p:nvSpPr>
        <p:spPr>
          <a:xfrm>
            <a:off x="512064" y="3511296"/>
            <a:ext cx="1225296" cy="0"/>
          </a:xfrm>
          <a:prstGeom prst="line">
            <a:avLst/>
          </a:prstGeom>
          <a:noFill/>
          <a:ln w="6350">
            <a:solidFill>
              <a:srgbClr val="D0D0D0"/>
            </a:solidFill>
            <a:prstDash val="solid"/>
          </a:ln>
        </p:spPr>
      </p:sp>
      <p:sp>
        <p:nvSpPr>
          <p:cNvPr id="32" name="Text 29"/>
          <p:cNvSpPr/>
          <p:nvPr/>
        </p:nvSpPr>
        <p:spPr>
          <a:xfrm>
            <a:off x="1828800" y="3200400"/>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Student Governance</a:t>
            </a:r>
            <a:endParaRPr lang="en-US" sz="850" dirty="0"/>
          </a:p>
        </p:txBody>
      </p:sp>
      <p:sp>
        <p:nvSpPr>
          <p:cNvPr id="33" name="Shape 30"/>
          <p:cNvSpPr/>
          <p:nvPr/>
        </p:nvSpPr>
        <p:spPr>
          <a:xfrm>
            <a:off x="1828800" y="3511296"/>
            <a:ext cx="1225296" cy="0"/>
          </a:xfrm>
          <a:prstGeom prst="line">
            <a:avLst/>
          </a:prstGeom>
          <a:noFill/>
          <a:ln w="6350">
            <a:solidFill>
              <a:srgbClr val="D0D0D0"/>
            </a:solidFill>
            <a:prstDash val="solid"/>
          </a:ln>
        </p:spPr>
      </p:sp>
      <p:sp>
        <p:nvSpPr>
          <p:cNvPr id="34" name="Text 31"/>
          <p:cNvSpPr/>
          <p:nvPr/>
        </p:nvSpPr>
        <p:spPr>
          <a:xfrm>
            <a:off x="3145536" y="3200400"/>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SIF</a:t>
            </a:r>
            <a:endParaRPr lang="en-US" sz="850" dirty="0"/>
          </a:p>
        </p:txBody>
      </p:sp>
      <p:sp>
        <p:nvSpPr>
          <p:cNvPr id="35" name="Shape 32"/>
          <p:cNvSpPr/>
          <p:nvPr/>
        </p:nvSpPr>
        <p:spPr>
          <a:xfrm>
            <a:off x="3145536" y="3511296"/>
            <a:ext cx="1225296" cy="0"/>
          </a:xfrm>
          <a:prstGeom prst="line">
            <a:avLst/>
          </a:prstGeom>
          <a:noFill/>
          <a:ln w="6350">
            <a:solidFill>
              <a:srgbClr val="D0D0D0"/>
            </a:solidFill>
            <a:prstDash val="solid"/>
          </a:ln>
        </p:spPr>
      </p:sp>
      <p:sp>
        <p:nvSpPr>
          <p:cNvPr id="36" name="Text 33"/>
          <p:cNvSpPr/>
          <p:nvPr/>
        </p:nvSpPr>
        <p:spPr>
          <a:xfrm>
            <a:off x="512064" y="3584448"/>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Hostel &amp; Facilities</a:t>
            </a:r>
            <a:endParaRPr lang="en-US" sz="850" dirty="0"/>
          </a:p>
        </p:txBody>
      </p:sp>
      <p:sp>
        <p:nvSpPr>
          <p:cNvPr id="37" name="Shape 34"/>
          <p:cNvSpPr/>
          <p:nvPr/>
        </p:nvSpPr>
        <p:spPr>
          <a:xfrm>
            <a:off x="512064" y="3895344"/>
            <a:ext cx="1225296" cy="0"/>
          </a:xfrm>
          <a:prstGeom prst="line">
            <a:avLst/>
          </a:prstGeom>
          <a:noFill/>
          <a:ln w="6350">
            <a:solidFill>
              <a:srgbClr val="D0D0D0"/>
            </a:solidFill>
            <a:prstDash val="solid"/>
          </a:ln>
        </p:spPr>
      </p:sp>
      <p:sp>
        <p:nvSpPr>
          <p:cNvPr id="38" name="Text 35"/>
          <p:cNvSpPr/>
          <p:nvPr/>
        </p:nvSpPr>
        <p:spPr>
          <a:xfrm>
            <a:off x="1828800" y="3584448"/>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Wellness</a:t>
            </a:r>
            <a:endParaRPr lang="en-US" sz="850" dirty="0"/>
          </a:p>
        </p:txBody>
      </p:sp>
      <p:sp>
        <p:nvSpPr>
          <p:cNvPr id="39" name="Shape 36"/>
          <p:cNvSpPr/>
          <p:nvPr/>
        </p:nvSpPr>
        <p:spPr>
          <a:xfrm>
            <a:off x="1828800" y="3895344"/>
            <a:ext cx="1225296" cy="0"/>
          </a:xfrm>
          <a:prstGeom prst="line">
            <a:avLst/>
          </a:prstGeom>
          <a:noFill/>
          <a:ln w="6350">
            <a:solidFill>
              <a:srgbClr val="D0D0D0"/>
            </a:solidFill>
            <a:prstDash val="solid"/>
          </a:ln>
        </p:spPr>
      </p:sp>
      <p:sp>
        <p:nvSpPr>
          <p:cNvPr id="40" name="Text 37"/>
          <p:cNvSpPr/>
          <p:nvPr/>
        </p:nvSpPr>
        <p:spPr>
          <a:xfrm>
            <a:off x="3145536" y="3584448"/>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051C2C"/>
                </a:solidFill>
                <a:latin typeface="Arial" pitchFamily="34" charset="0"/>
                <a:ea typeface="Arial" pitchFamily="34" charset="-122"/>
                <a:cs typeface="Arial" pitchFamily="34" charset="-120"/>
              </a:rPr>
              <a:t>Library</a:t>
            </a:r>
            <a:endParaRPr lang="en-US" sz="850" dirty="0"/>
          </a:p>
        </p:txBody>
      </p:sp>
      <p:sp>
        <p:nvSpPr>
          <p:cNvPr id="41" name="Shape 38"/>
          <p:cNvSpPr/>
          <p:nvPr/>
        </p:nvSpPr>
        <p:spPr>
          <a:xfrm>
            <a:off x="3145536" y="3895344"/>
            <a:ext cx="1225296" cy="0"/>
          </a:xfrm>
          <a:prstGeom prst="line">
            <a:avLst/>
          </a:prstGeom>
          <a:noFill/>
          <a:ln w="6350">
            <a:solidFill>
              <a:srgbClr val="D0D0D0"/>
            </a:solidFill>
            <a:prstDash val="solid"/>
          </a:ln>
        </p:spPr>
      </p:sp>
      <p:sp>
        <p:nvSpPr>
          <p:cNvPr id="42" name="Text 39"/>
          <p:cNvSpPr/>
          <p:nvPr/>
        </p:nvSpPr>
        <p:spPr>
          <a:xfrm>
            <a:off x="512064" y="396849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B3B3B3"/>
                </a:solidFill>
                <a:latin typeface="Arial" pitchFamily="34" charset="0"/>
                <a:ea typeface="Arial" pitchFamily="34" charset="-122"/>
                <a:cs typeface="Arial" pitchFamily="34" charset="-120"/>
              </a:rPr>
              <a:t>The Ken</a:t>
            </a:r>
            <a:endParaRPr lang="en-US" sz="850" dirty="0"/>
          </a:p>
        </p:txBody>
      </p:sp>
      <p:sp>
        <p:nvSpPr>
          <p:cNvPr id="43" name="Shape 40"/>
          <p:cNvSpPr/>
          <p:nvPr/>
        </p:nvSpPr>
        <p:spPr>
          <a:xfrm>
            <a:off x="512064" y="4279392"/>
            <a:ext cx="1225296" cy="0"/>
          </a:xfrm>
          <a:prstGeom prst="line">
            <a:avLst/>
          </a:prstGeom>
          <a:noFill/>
          <a:ln w="6350">
            <a:solidFill>
              <a:srgbClr val="D0D0D0"/>
            </a:solidFill>
            <a:prstDash val="solid"/>
          </a:ln>
        </p:spPr>
      </p:sp>
      <p:sp>
        <p:nvSpPr>
          <p:cNvPr id="44" name="Text 41"/>
          <p:cNvSpPr/>
          <p:nvPr/>
        </p:nvSpPr>
        <p:spPr>
          <a:xfrm>
            <a:off x="1828800" y="396849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B3B3B3"/>
                </a:solidFill>
                <a:latin typeface="Arial" pitchFamily="34" charset="0"/>
                <a:ea typeface="Arial" pitchFamily="34" charset="-122"/>
                <a:cs typeface="Arial" pitchFamily="34" charset="-120"/>
              </a:rPr>
              <a:t>Form Receipts</a:t>
            </a:r>
            <a:endParaRPr lang="en-US" sz="850" dirty="0"/>
          </a:p>
        </p:txBody>
      </p:sp>
      <p:sp>
        <p:nvSpPr>
          <p:cNvPr id="45" name="Shape 42"/>
          <p:cNvSpPr/>
          <p:nvPr/>
        </p:nvSpPr>
        <p:spPr>
          <a:xfrm>
            <a:off x="1828800" y="4279392"/>
            <a:ext cx="1225296" cy="0"/>
          </a:xfrm>
          <a:prstGeom prst="line">
            <a:avLst/>
          </a:prstGeom>
          <a:noFill/>
          <a:ln w="6350">
            <a:solidFill>
              <a:srgbClr val="D0D0D0"/>
            </a:solidFill>
            <a:prstDash val="solid"/>
          </a:ln>
        </p:spPr>
      </p:sp>
      <p:sp>
        <p:nvSpPr>
          <p:cNvPr id="46" name="Text 43"/>
          <p:cNvSpPr/>
          <p:nvPr/>
        </p:nvSpPr>
        <p:spPr>
          <a:xfrm>
            <a:off x="3145536" y="3968496"/>
            <a:ext cx="1261872" cy="310896"/>
          </a:xfrm>
          <a:prstGeom prst="rect">
            <a:avLst/>
          </a:prstGeom>
          <a:noFill/>
          <a:ln/>
        </p:spPr>
        <p:txBody>
          <a:bodyPr wrap="square" lIns="0" tIns="0" rIns="0" bIns="0" rtlCol="0" anchor="ctr"/>
          <a:lstStyle/>
          <a:p>
            <a:pPr indent="0" marL="0">
              <a:lnSpc>
                <a:spcPct val="100000"/>
              </a:lnSpc>
              <a:buNone/>
            </a:pPr>
            <a:r>
              <a:rPr lang="en-US" sz="850" dirty="0">
                <a:solidFill>
                  <a:srgbClr val="B3B3B3"/>
                </a:solidFill>
                <a:latin typeface="Arial" pitchFamily="34" charset="0"/>
                <a:ea typeface="Arial" pitchFamily="34" charset="-122"/>
                <a:cs typeface="Arial" pitchFamily="34" charset="-120"/>
              </a:rPr>
              <a:t>Personal &amp; Govt</a:t>
            </a:r>
            <a:endParaRPr lang="en-US" sz="850" dirty="0"/>
          </a:p>
        </p:txBody>
      </p:sp>
      <p:sp>
        <p:nvSpPr>
          <p:cNvPr id="47" name="Shape 44"/>
          <p:cNvSpPr/>
          <p:nvPr/>
        </p:nvSpPr>
        <p:spPr>
          <a:xfrm>
            <a:off x="3145536" y="4279392"/>
            <a:ext cx="1225296" cy="0"/>
          </a:xfrm>
          <a:prstGeom prst="line">
            <a:avLst/>
          </a:prstGeom>
          <a:noFill/>
          <a:ln w="6350">
            <a:solidFill>
              <a:srgbClr val="D0D0D0"/>
            </a:solidFill>
            <a:prstDash val="solid"/>
          </a:ln>
        </p:spPr>
      </p:sp>
      <p:sp>
        <p:nvSpPr>
          <p:cNvPr id="48" name="Text 45"/>
          <p:cNvSpPr/>
          <p:nvPr/>
        </p:nvSpPr>
        <p:spPr>
          <a:xfrm>
            <a:off x="512064" y="4407408"/>
            <a:ext cx="4023360" cy="384048"/>
          </a:xfrm>
          <a:prstGeom prst="rect">
            <a:avLst/>
          </a:prstGeom>
          <a:noFill/>
          <a:ln/>
        </p:spPr>
        <p:txBody>
          <a:bodyPr wrap="square" lIns="0" tIns="0" rIns="0" bIns="0" rtlCol="0" anchor="ctr"/>
          <a:lstStyle/>
          <a:p>
            <a:pPr indent="0" marL="0">
              <a:lnSpc>
                <a:spcPct val="112000"/>
              </a:lnSpc>
              <a:buNone/>
            </a:pPr>
            <a:r>
              <a:rPr lang="en-US" sz="900" dirty="0">
                <a:solidFill>
                  <a:srgbClr val="7F7F7F"/>
                </a:solidFill>
                <a:latin typeface="Arial" pitchFamily="34" charset="0"/>
                <a:ea typeface="Arial" pitchFamily="34" charset="-122"/>
                <a:cs typeface="Arial" pitchFamily="34" charset="-120"/>
              </a:rPr>
              <a:t>Greyed labels are denylisted: newsletters, receipts and account mail never create an event</a:t>
            </a:r>
            <a:endParaRPr lang="en-US" sz="900" dirty="0"/>
          </a:p>
        </p:txBody>
      </p:sp>
      <p:sp>
        <p:nvSpPr>
          <p:cNvPr id="49" name="Text 46"/>
          <p:cNvSpPr/>
          <p:nvPr/>
        </p:nvSpPr>
        <p:spPr>
          <a:xfrm>
            <a:off x="4846320" y="1463040"/>
            <a:ext cx="384048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Axis 2: category, what kind of thing it is²</a:t>
            </a:r>
            <a:endParaRPr lang="en-US" sz="1200" dirty="0"/>
          </a:p>
        </p:txBody>
      </p:sp>
      <p:sp>
        <p:nvSpPr>
          <p:cNvPr id="50" name="Text 47"/>
          <p:cNvSpPr/>
          <p:nvPr/>
        </p:nvSpPr>
        <p:spPr>
          <a:xfrm>
            <a:off x="4846320" y="1719072"/>
            <a:ext cx="3840480" cy="237744"/>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9 categories, these are what colour the calendar</a:t>
            </a:r>
            <a:endParaRPr lang="en-US" sz="950" dirty="0"/>
          </a:p>
        </p:txBody>
      </p:sp>
      <p:sp>
        <p:nvSpPr>
          <p:cNvPr id="51" name="Shape 48"/>
          <p:cNvSpPr/>
          <p:nvPr/>
        </p:nvSpPr>
        <p:spPr>
          <a:xfrm>
            <a:off x="4846320" y="1993392"/>
            <a:ext cx="3840480" cy="0"/>
          </a:xfrm>
          <a:prstGeom prst="line">
            <a:avLst/>
          </a:prstGeom>
          <a:noFill/>
          <a:ln w="9525">
            <a:solidFill>
              <a:srgbClr val="051C2C"/>
            </a:solidFill>
            <a:prstDash val="solid"/>
          </a:ln>
        </p:spPr>
      </p:sp>
      <p:sp>
        <p:nvSpPr>
          <p:cNvPr id="52" name="Shape 49"/>
          <p:cNvSpPr/>
          <p:nvPr/>
        </p:nvSpPr>
        <p:spPr>
          <a:xfrm>
            <a:off x="4846320" y="2148840"/>
            <a:ext cx="146304" cy="146304"/>
          </a:xfrm>
          <a:prstGeom prst="rect">
            <a:avLst/>
          </a:prstGeom>
          <a:solidFill>
            <a:srgbClr val="E5484D"/>
          </a:solidFill>
          <a:ln w="12700">
            <a:solidFill>
              <a:srgbClr val="E5484D"/>
            </a:solidFill>
            <a:prstDash val="solid"/>
          </a:ln>
        </p:spPr>
      </p:sp>
      <p:sp>
        <p:nvSpPr>
          <p:cNvPr id="53" name="Text 50"/>
          <p:cNvSpPr/>
          <p:nvPr/>
        </p:nvSpPr>
        <p:spPr>
          <a:xfrm>
            <a:off x="5102352" y="2066544"/>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Exams &amp; quizzes</a:t>
            </a:r>
            <a:endParaRPr lang="en-US" sz="1000" dirty="0"/>
          </a:p>
        </p:txBody>
      </p:sp>
      <p:sp>
        <p:nvSpPr>
          <p:cNvPr id="54" name="Text 51"/>
          <p:cNvSpPr/>
          <p:nvPr/>
        </p:nvSpPr>
        <p:spPr>
          <a:xfrm>
            <a:off x="6656832" y="2066544"/>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Quizzes, mid-terms, end-terms</a:t>
            </a:r>
            <a:endParaRPr lang="en-US" sz="950" dirty="0"/>
          </a:p>
        </p:txBody>
      </p:sp>
      <p:sp>
        <p:nvSpPr>
          <p:cNvPr id="55" name="Shape 52"/>
          <p:cNvSpPr/>
          <p:nvPr/>
        </p:nvSpPr>
        <p:spPr>
          <a:xfrm>
            <a:off x="4846320" y="2450592"/>
            <a:ext cx="3840480" cy="0"/>
          </a:xfrm>
          <a:prstGeom prst="line">
            <a:avLst/>
          </a:prstGeom>
          <a:noFill/>
          <a:ln w="6350">
            <a:solidFill>
              <a:srgbClr val="D0D0D0"/>
            </a:solidFill>
            <a:prstDash val="solid"/>
          </a:ln>
        </p:spPr>
      </p:sp>
      <p:sp>
        <p:nvSpPr>
          <p:cNvPr id="56" name="Shape 53"/>
          <p:cNvSpPr/>
          <p:nvPr/>
        </p:nvSpPr>
        <p:spPr>
          <a:xfrm>
            <a:off x="4846320" y="2551176"/>
            <a:ext cx="146304" cy="146304"/>
          </a:xfrm>
          <a:prstGeom prst="rect">
            <a:avLst/>
          </a:prstGeom>
          <a:solidFill>
            <a:srgbClr val="F97316"/>
          </a:solidFill>
          <a:ln w="12700">
            <a:solidFill>
              <a:srgbClr val="F97316"/>
            </a:solidFill>
            <a:prstDash val="solid"/>
          </a:ln>
        </p:spPr>
      </p:sp>
      <p:sp>
        <p:nvSpPr>
          <p:cNvPr id="57" name="Text 54"/>
          <p:cNvSpPr/>
          <p:nvPr/>
        </p:nvSpPr>
        <p:spPr>
          <a:xfrm>
            <a:off x="5102352" y="2468880"/>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Assignments</a:t>
            </a:r>
            <a:endParaRPr lang="en-US" sz="1000" dirty="0"/>
          </a:p>
        </p:txBody>
      </p:sp>
      <p:sp>
        <p:nvSpPr>
          <p:cNvPr id="58" name="Text 55"/>
          <p:cNvSpPr/>
          <p:nvPr/>
        </p:nvSpPr>
        <p:spPr>
          <a:xfrm>
            <a:off x="6656832" y="2468880"/>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Submissions and due dates</a:t>
            </a:r>
            <a:endParaRPr lang="en-US" sz="950" dirty="0"/>
          </a:p>
        </p:txBody>
      </p:sp>
      <p:sp>
        <p:nvSpPr>
          <p:cNvPr id="59" name="Shape 56"/>
          <p:cNvSpPr/>
          <p:nvPr/>
        </p:nvSpPr>
        <p:spPr>
          <a:xfrm>
            <a:off x="4846320" y="2852928"/>
            <a:ext cx="3840480" cy="0"/>
          </a:xfrm>
          <a:prstGeom prst="line">
            <a:avLst/>
          </a:prstGeom>
          <a:noFill/>
          <a:ln w="6350">
            <a:solidFill>
              <a:srgbClr val="D0D0D0"/>
            </a:solidFill>
            <a:prstDash val="solid"/>
          </a:ln>
        </p:spPr>
      </p:sp>
      <p:sp>
        <p:nvSpPr>
          <p:cNvPr id="60" name="Shape 57"/>
          <p:cNvSpPr/>
          <p:nvPr/>
        </p:nvSpPr>
        <p:spPr>
          <a:xfrm>
            <a:off x="4846320" y="2953512"/>
            <a:ext cx="146304" cy="146304"/>
          </a:xfrm>
          <a:prstGeom prst="rect">
            <a:avLst/>
          </a:prstGeom>
          <a:solidFill>
            <a:srgbClr val="3B82F6"/>
          </a:solidFill>
          <a:ln w="12700">
            <a:solidFill>
              <a:srgbClr val="3B82F6"/>
            </a:solidFill>
            <a:prstDash val="solid"/>
          </a:ln>
        </p:spPr>
      </p:sp>
      <p:sp>
        <p:nvSpPr>
          <p:cNvPr id="61" name="Text 58"/>
          <p:cNvSpPr/>
          <p:nvPr/>
        </p:nvSpPr>
        <p:spPr>
          <a:xfrm>
            <a:off x="5102352" y="2871216"/>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Classes</a:t>
            </a:r>
            <a:endParaRPr lang="en-US" sz="1000" dirty="0"/>
          </a:p>
        </p:txBody>
      </p:sp>
      <p:sp>
        <p:nvSpPr>
          <p:cNvPr id="62" name="Text 59"/>
          <p:cNvSpPr/>
          <p:nvPr/>
        </p:nvSpPr>
        <p:spPr>
          <a:xfrm>
            <a:off x="6656832" y="2871216"/>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Lectures, REM, make-up classes</a:t>
            </a:r>
            <a:endParaRPr lang="en-US" sz="950" dirty="0"/>
          </a:p>
        </p:txBody>
      </p:sp>
      <p:sp>
        <p:nvSpPr>
          <p:cNvPr id="63" name="Shape 60"/>
          <p:cNvSpPr/>
          <p:nvPr/>
        </p:nvSpPr>
        <p:spPr>
          <a:xfrm>
            <a:off x="4846320" y="3255264"/>
            <a:ext cx="3840480" cy="0"/>
          </a:xfrm>
          <a:prstGeom prst="line">
            <a:avLst/>
          </a:prstGeom>
          <a:noFill/>
          <a:ln w="6350">
            <a:solidFill>
              <a:srgbClr val="D0D0D0"/>
            </a:solidFill>
            <a:prstDash val="solid"/>
          </a:ln>
        </p:spPr>
      </p:sp>
      <p:sp>
        <p:nvSpPr>
          <p:cNvPr id="64" name="Shape 61"/>
          <p:cNvSpPr/>
          <p:nvPr/>
        </p:nvSpPr>
        <p:spPr>
          <a:xfrm>
            <a:off x="4846320" y="3355848"/>
            <a:ext cx="146304" cy="146304"/>
          </a:xfrm>
          <a:prstGeom prst="rect">
            <a:avLst/>
          </a:prstGeom>
          <a:solidFill>
            <a:srgbClr val="6366F1"/>
          </a:solidFill>
          <a:ln w="12700">
            <a:solidFill>
              <a:srgbClr val="6366F1"/>
            </a:solidFill>
            <a:prstDash val="solid"/>
          </a:ln>
        </p:spPr>
      </p:sp>
      <p:sp>
        <p:nvSpPr>
          <p:cNvPr id="65" name="Text 62"/>
          <p:cNvSpPr/>
          <p:nvPr/>
        </p:nvSpPr>
        <p:spPr>
          <a:xfrm>
            <a:off x="5102352" y="3273552"/>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Placement</a:t>
            </a:r>
            <a:endParaRPr lang="en-US" sz="1000" dirty="0"/>
          </a:p>
        </p:txBody>
      </p:sp>
      <p:sp>
        <p:nvSpPr>
          <p:cNvPr id="66" name="Text 63"/>
          <p:cNvSpPr/>
          <p:nvPr/>
        </p:nvSpPr>
        <p:spPr>
          <a:xfrm>
            <a:off x="6656832" y="3273552"/>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PPTs, CV rounds, interviews</a:t>
            </a:r>
            <a:endParaRPr lang="en-US" sz="950" dirty="0"/>
          </a:p>
        </p:txBody>
      </p:sp>
      <p:sp>
        <p:nvSpPr>
          <p:cNvPr id="67" name="Shape 64"/>
          <p:cNvSpPr/>
          <p:nvPr/>
        </p:nvSpPr>
        <p:spPr>
          <a:xfrm>
            <a:off x="4846320" y="3657600"/>
            <a:ext cx="3840480" cy="0"/>
          </a:xfrm>
          <a:prstGeom prst="line">
            <a:avLst/>
          </a:prstGeom>
          <a:noFill/>
          <a:ln w="6350">
            <a:solidFill>
              <a:srgbClr val="D0D0D0"/>
            </a:solidFill>
            <a:prstDash val="solid"/>
          </a:ln>
        </p:spPr>
      </p:sp>
      <p:sp>
        <p:nvSpPr>
          <p:cNvPr id="68" name="Shape 65"/>
          <p:cNvSpPr/>
          <p:nvPr/>
        </p:nvSpPr>
        <p:spPr>
          <a:xfrm>
            <a:off x="4846320" y="3758184"/>
            <a:ext cx="146304" cy="146304"/>
          </a:xfrm>
          <a:prstGeom prst="rect">
            <a:avLst/>
          </a:prstGeom>
          <a:solidFill>
            <a:srgbClr val="10B981"/>
          </a:solidFill>
          <a:ln w="12700">
            <a:solidFill>
              <a:srgbClr val="10B981"/>
            </a:solidFill>
            <a:prstDash val="solid"/>
          </a:ln>
        </p:spPr>
      </p:sp>
      <p:sp>
        <p:nvSpPr>
          <p:cNvPr id="69" name="Text 66"/>
          <p:cNvSpPr/>
          <p:nvPr/>
        </p:nvSpPr>
        <p:spPr>
          <a:xfrm>
            <a:off x="5102352" y="3675888"/>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Workshops</a:t>
            </a:r>
            <a:endParaRPr lang="en-US" sz="1000" dirty="0"/>
          </a:p>
        </p:txBody>
      </p:sp>
      <p:sp>
        <p:nvSpPr>
          <p:cNvPr id="70" name="Text 67"/>
          <p:cNvSpPr/>
          <p:nvPr/>
        </p:nvSpPr>
        <p:spPr>
          <a:xfrm>
            <a:off x="6656832" y="3675888"/>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Case prep, training, masterclass</a:t>
            </a:r>
            <a:endParaRPr lang="en-US" sz="950" dirty="0"/>
          </a:p>
        </p:txBody>
      </p:sp>
      <p:sp>
        <p:nvSpPr>
          <p:cNvPr id="71" name="Shape 68"/>
          <p:cNvSpPr/>
          <p:nvPr/>
        </p:nvSpPr>
        <p:spPr>
          <a:xfrm>
            <a:off x="4846320" y="4059936"/>
            <a:ext cx="3840480" cy="0"/>
          </a:xfrm>
          <a:prstGeom prst="line">
            <a:avLst/>
          </a:prstGeom>
          <a:noFill/>
          <a:ln w="6350">
            <a:solidFill>
              <a:srgbClr val="D0D0D0"/>
            </a:solidFill>
            <a:prstDash val="solid"/>
          </a:ln>
        </p:spPr>
      </p:sp>
      <p:sp>
        <p:nvSpPr>
          <p:cNvPr id="72" name="Shape 69"/>
          <p:cNvSpPr/>
          <p:nvPr/>
        </p:nvSpPr>
        <p:spPr>
          <a:xfrm>
            <a:off x="4846320" y="4160520"/>
            <a:ext cx="146304" cy="146304"/>
          </a:xfrm>
          <a:prstGeom prst="rect">
            <a:avLst/>
          </a:prstGeom>
          <a:solidFill>
            <a:srgbClr val="14B8A6"/>
          </a:solidFill>
          <a:ln w="12700">
            <a:solidFill>
              <a:srgbClr val="14B8A6"/>
            </a:solidFill>
            <a:prstDash val="solid"/>
          </a:ln>
        </p:spPr>
      </p:sp>
      <p:sp>
        <p:nvSpPr>
          <p:cNvPr id="73" name="Text 70"/>
          <p:cNvSpPr/>
          <p:nvPr/>
        </p:nvSpPr>
        <p:spPr>
          <a:xfrm>
            <a:off x="5102352" y="4078224"/>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Talks &amp; seminars</a:t>
            </a:r>
            <a:endParaRPr lang="en-US" sz="1000" dirty="0"/>
          </a:p>
        </p:txBody>
      </p:sp>
      <p:sp>
        <p:nvSpPr>
          <p:cNvPr id="74" name="Text 71"/>
          <p:cNvSpPr/>
          <p:nvPr/>
        </p:nvSpPr>
        <p:spPr>
          <a:xfrm>
            <a:off x="6656832" y="4078224"/>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Speaker series, panels</a:t>
            </a:r>
            <a:endParaRPr lang="en-US" sz="950" dirty="0"/>
          </a:p>
        </p:txBody>
      </p:sp>
      <p:sp>
        <p:nvSpPr>
          <p:cNvPr id="75" name="Shape 72"/>
          <p:cNvSpPr/>
          <p:nvPr/>
        </p:nvSpPr>
        <p:spPr>
          <a:xfrm>
            <a:off x="4846320" y="4462272"/>
            <a:ext cx="3840480" cy="0"/>
          </a:xfrm>
          <a:prstGeom prst="line">
            <a:avLst/>
          </a:prstGeom>
          <a:noFill/>
          <a:ln w="6350">
            <a:solidFill>
              <a:srgbClr val="D0D0D0"/>
            </a:solidFill>
            <a:prstDash val="solid"/>
          </a:ln>
        </p:spPr>
      </p:sp>
      <p:sp>
        <p:nvSpPr>
          <p:cNvPr id="76" name="Shape 73"/>
          <p:cNvSpPr/>
          <p:nvPr/>
        </p:nvSpPr>
        <p:spPr>
          <a:xfrm>
            <a:off x="4846320" y="4562856"/>
            <a:ext cx="146304" cy="146304"/>
          </a:xfrm>
          <a:prstGeom prst="rect">
            <a:avLst/>
          </a:prstGeom>
          <a:solidFill>
            <a:srgbClr val="A855F7"/>
          </a:solidFill>
          <a:ln w="12700">
            <a:solidFill>
              <a:srgbClr val="A855F7"/>
            </a:solidFill>
            <a:prstDash val="solid"/>
          </a:ln>
        </p:spPr>
      </p:sp>
      <p:sp>
        <p:nvSpPr>
          <p:cNvPr id="77" name="Text 74"/>
          <p:cNvSpPr/>
          <p:nvPr/>
        </p:nvSpPr>
        <p:spPr>
          <a:xfrm>
            <a:off x="5102352" y="4480560"/>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Club events</a:t>
            </a:r>
            <a:endParaRPr lang="en-US" sz="1000" dirty="0"/>
          </a:p>
        </p:txBody>
      </p:sp>
      <p:sp>
        <p:nvSpPr>
          <p:cNvPr id="78" name="Text 75"/>
          <p:cNvSpPr/>
          <p:nvPr/>
        </p:nvSpPr>
        <p:spPr>
          <a:xfrm>
            <a:off x="6656832" y="4480560"/>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Fests, competitions, auditions</a:t>
            </a:r>
            <a:endParaRPr lang="en-US" sz="950" dirty="0"/>
          </a:p>
        </p:txBody>
      </p:sp>
      <p:sp>
        <p:nvSpPr>
          <p:cNvPr id="79" name="Shape 76"/>
          <p:cNvSpPr/>
          <p:nvPr/>
        </p:nvSpPr>
        <p:spPr>
          <a:xfrm>
            <a:off x="4846320" y="4864608"/>
            <a:ext cx="3840480" cy="0"/>
          </a:xfrm>
          <a:prstGeom prst="line">
            <a:avLst/>
          </a:prstGeom>
          <a:noFill/>
          <a:ln w="6350">
            <a:solidFill>
              <a:srgbClr val="D0D0D0"/>
            </a:solidFill>
            <a:prstDash val="solid"/>
          </a:ln>
        </p:spPr>
      </p:sp>
      <p:sp>
        <p:nvSpPr>
          <p:cNvPr id="80" name="Shape 77"/>
          <p:cNvSpPr/>
          <p:nvPr/>
        </p:nvSpPr>
        <p:spPr>
          <a:xfrm>
            <a:off x="4846320" y="4965192"/>
            <a:ext cx="146304" cy="146304"/>
          </a:xfrm>
          <a:prstGeom prst="rect">
            <a:avLst/>
          </a:prstGeom>
          <a:solidFill>
            <a:srgbClr val="D97706"/>
          </a:solidFill>
          <a:ln w="12700">
            <a:solidFill>
              <a:srgbClr val="D97706"/>
            </a:solidFill>
            <a:prstDash val="solid"/>
          </a:ln>
        </p:spPr>
      </p:sp>
      <p:sp>
        <p:nvSpPr>
          <p:cNvPr id="81" name="Text 78"/>
          <p:cNvSpPr/>
          <p:nvPr/>
        </p:nvSpPr>
        <p:spPr>
          <a:xfrm>
            <a:off x="5102352" y="4882896"/>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Notices &amp; admin</a:t>
            </a:r>
            <a:endParaRPr lang="en-US" sz="1000" dirty="0"/>
          </a:p>
        </p:txBody>
      </p:sp>
      <p:sp>
        <p:nvSpPr>
          <p:cNvPr id="82" name="Text 79"/>
          <p:cNvSpPr/>
          <p:nvPr/>
        </p:nvSpPr>
        <p:spPr>
          <a:xfrm>
            <a:off x="6656832" y="4882896"/>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Facilities, elections, circulars</a:t>
            </a:r>
            <a:endParaRPr lang="en-US" sz="950" dirty="0"/>
          </a:p>
        </p:txBody>
      </p:sp>
      <p:sp>
        <p:nvSpPr>
          <p:cNvPr id="83" name="Shape 80"/>
          <p:cNvSpPr/>
          <p:nvPr/>
        </p:nvSpPr>
        <p:spPr>
          <a:xfrm>
            <a:off x="4846320" y="5266944"/>
            <a:ext cx="3840480" cy="0"/>
          </a:xfrm>
          <a:prstGeom prst="line">
            <a:avLst/>
          </a:prstGeom>
          <a:noFill/>
          <a:ln w="6350">
            <a:solidFill>
              <a:srgbClr val="D0D0D0"/>
            </a:solidFill>
            <a:prstDash val="solid"/>
          </a:ln>
        </p:spPr>
      </p:sp>
      <p:sp>
        <p:nvSpPr>
          <p:cNvPr id="84" name="Shape 81"/>
          <p:cNvSpPr/>
          <p:nvPr/>
        </p:nvSpPr>
        <p:spPr>
          <a:xfrm>
            <a:off x="4846320" y="5367528"/>
            <a:ext cx="146304" cy="146304"/>
          </a:xfrm>
          <a:prstGeom prst="rect">
            <a:avLst/>
          </a:prstGeom>
          <a:solidFill>
            <a:srgbClr val="8B8D98"/>
          </a:solidFill>
          <a:ln w="12700">
            <a:solidFill>
              <a:srgbClr val="8B8D98"/>
            </a:solidFill>
            <a:prstDash val="solid"/>
          </a:ln>
        </p:spPr>
      </p:sp>
      <p:sp>
        <p:nvSpPr>
          <p:cNvPr id="85" name="Text 82"/>
          <p:cNvSpPr/>
          <p:nvPr/>
        </p:nvSpPr>
        <p:spPr>
          <a:xfrm>
            <a:off x="5102352" y="5285232"/>
            <a:ext cx="1517904" cy="310896"/>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Other</a:t>
            </a:r>
            <a:endParaRPr lang="en-US" sz="1000" dirty="0"/>
          </a:p>
        </p:txBody>
      </p:sp>
      <p:sp>
        <p:nvSpPr>
          <p:cNvPr id="86" name="Text 83"/>
          <p:cNvSpPr/>
          <p:nvPr/>
        </p:nvSpPr>
        <p:spPr>
          <a:xfrm>
            <a:off x="6656832" y="5285232"/>
            <a:ext cx="2029968" cy="310896"/>
          </a:xfrm>
          <a:prstGeom prst="rect">
            <a:avLst/>
          </a:prstGeom>
          <a:noFill/>
          <a:ln/>
        </p:spPr>
        <p:txBody>
          <a:bodyPr wrap="square" lIns="0" tIns="0" rIns="0" bIns="0" rtlCol="0" anchor="ctr"/>
          <a:lstStyle/>
          <a:p>
            <a:pPr indent="0" marL="0">
              <a:buNone/>
            </a:pPr>
            <a:r>
              <a:rPr lang="en-US" sz="950" dirty="0">
                <a:solidFill>
                  <a:srgbClr val="444444"/>
                </a:solidFill>
                <a:latin typeface="Arial" pitchFamily="34" charset="0"/>
                <a:ea typeface="Arial" pitchFamily="34" charset="-122"/>
                <a:cs typeface="Arial" pitchFamily="34" charset="-120"/>
              </a:rPr>
              <a:t>Deliberately unclassified</a:t>
            </a:r>
            <a:endParaRPr lang="en-US" sz="950" dirty="0"/>
          </a:p>
        </p:txBody>
      </p:sp>
      <p:sp>
        <p:nvSpPr>
          <p:cNvPr id="87" name="Shape 84"/>
          <p:cNvSpPr/>
          <p:nvPr/>
        </p:nvSpPr>
        <p:spPr>
          <a:xfrm>
            <a:off x="4846320" y="5669280"/>
            <a:ext cx="3840480" cy="0"/>
          </a:xfrm>
          <a:prstGeom prst="line">
            <a:avLst/>
          </a:prstGeom>
          <a:noFill/>
          <a:ln w="6350">
            <a:solidFill>
              <a:srgbClr val="D0D0D0"/>
            </a:solidFill>
            <a:prstDash val="solid"/>
          </a:ln>
        </p:spPr>
      </p:sp>
      <p:sp>
        <p:nvSpPr>
          <p:cNvPr id="88" name="Shape 85"/>
          <p:cNvSpPr/>
          <p:nvPr/>
        </p:nvSpPr>
        <p:spPr>
          <a:xfrm>
            <a:off x="9052560" y="0"/>
            <a:ext cx="3139135" cy="6858000"/>
          </a:xfrm>
          <a:prstGeom prst="rect">
            <a:avLst/>
          </a:prstGeom>
          <a:solidFill>
            <a:srgbClr val="051C2C"/>
          </a:solidFill>
          <a:ln w="12700">
            <a:solidFill>
              <a:srgbClr val="051C2C"/>
            </a:solidFill>
            <a:prstDash val="solid"/>
          </a:ln>
        </p:spPr>
      </p:sp>
      <p:sp>
        <p:nvSpPr>
          <p:cNvPr id="89" name="Shape 86"/>
          <p:cNvSpPr/>
          <p:nvPr/>
        </p:nvSpPr>
        <p:spPr>
          <a:xfrm>
            <a:off x="9436608" y="822960"/>
            <a:ext cx="566928" cy="0"/>
          </a:xfrm>
          <a:prstGeom prst="line">
            <a:avLst/>
          </a:prstGeom>
          <a:noFill/>
          <a:ln w="19050">
            <a:solidFill>
              <a:srgbClr val="FFFFFF"/>
            </a:solidFill>
            <a:prstDash val="solid"/>
          </a:ln>
        </p:spPr>
      </p:sp>
      <p:sp>
        <p:nvSpPr>
          <p:cNvPr id="90" name="Text 87"/>
          <p:cNvSpPr/>
          <p:nvPr/>
        </p:nvSpPr>
        <p:spPr>
          <a:xfrm>
            <a:off x="9436608" y="969264"/>
            <a:ext cx="2371039" cy="914400"/>
          </a:xfrm>
          <a:prstGeom prst="rect">
            <a:avLst/>
          </a:prstGeom>
          <a:noFill/>
          <a:ln/>
        </p:spPr>
        <p:txBody>
          <a:bodyPr wrap="square" lIns="0" tIns="0" rIns="0" bIns="0" rtlCol="0" anchor="ctr"/>
          <a:lstStyle/>
          <a:p>
            <a:pPr indent="0" marL="0">
              <a:lnSpc>
                <a:spcPct val="112000"/>
              </a:lnSpc>
              <a:buNone/>
            </a:pPr>
            <a:r>
              <a:rPr lang="en-US" sz="1350" b="1" dirty="0">
                <a:solidFill>
                  <a:srgbClr val="FFFFFF"/>
                </a:solidFill>
                <a:latin typeface="Arial" pitchFamily="34" charset="0"/>
                <a:ea typeface="Arial" pitchFamily="34" charset="-122"/>
                <a:cs typeface="Arial" pitchFamily="34" charset="-120"/>
              </a:rPr>
              <a:t>Splitting the axes is what makes the calendar readable and the classification auditable</a:t>
            </a:r>
            <a:endParaRPr lang="en-US" sz="1350" dirty="0"/>
          </a:p>
        </p:txBody>
      </p:sp>
      <p:sp>
        <p:nvSpPr>
          <p:cNvPr id="91" name="Text 88"/>
          <p:cNvSpPr/>
          <p:nvPr/>
        </p:nvSpPr>
        <p:spPr>
          <a:xfrm>
            <a:off x="9436608" y="1975104"/>
            <a:ext cx="2371039" cy="786384"/>
          </a:xfrm>
          <a:prstGeom prst="rect">
            <a:avLst/>
          </a:prstGeom>
          <a:noFill/>
          <a:ln/>
        </p:spPr>
        <p:txBody>
          <a:bodyPr wrap="square" lIns="0" tIns="0" rIns="0" bIns="0" rtlCol="0" anchor="ctr"/>
          <a:lstStyle/>
          <a:p>
            <a:pPr indent="0" marL="0">
              <a:lnSpc>
                <a:spcPct val="116000"/>
              </a:lnSpc>
              <a:buNone/>
            </a:pPr>
            <a:r>
              <a:rPr lang="en-US" sz="1050" dirty="0">
                <a:solidFill>
                  <a:srgbClr val="E8EEF2"/>
                </a:solidFill>
                <a:latin typeface="Arial" pitchFamily="34" charset="0"/>
                <a:ea typeface="Arial" pitchFamily="34" charset="-122"/>
                <a:cs typeface="Arial" pitchFamily="34" charset="-120"/>
              </a:rPr>
              <a:t>The label answers where an event came from and stays attached to it, so any student can verify a parse against the original mail.</a:t>
            </a:r>
            <a:endParaRPr lang="en-US" sz="1050" dirty="0"/>
          </a:p>
        </p:txBody>
      </p:sp>
      <p:sp>
        <p:nvSpPr>
          <p:cNvPr id="92" name="Text 89"/>
          <p:cNvSpPr/>
          <p:nvPr/>
        </p:nvSpPr>
        <p:spPr>
          <a:xfrm>
            <a:off x="9436608" y="2834640"/>
            <a:ext cx="2371039" cy="786384"/>
          </a:xfrm>
          <a:prstGeom prst="rect">
            <a:avLst/>
          </a:prstGeom>
          <a:noFill/>
          <a:ln/>
        </p:spPr>
        <p:txBody>
          <a:bodyPr wrap="square" lIns="0" tIns="0" rIns="0" bIns="0" rtlCol="0" anchor="ctr"/>
          <a:lstStyle/>
          <a:p>
            <a:pPr indent="0" marL="0">
              <a:lnSpc>
                <a:spcPct val="116000"/>
              </a:lnSpc>
              <a:buNone/>
            </a:pPr>
            <a:r>
              <a:rPr lang="en-US" sz="1050" dirty="0">
                <a:solidFill>
                  <a:srgbClr val="E8EEF2"/>
                </a:solidFill>
                <a:latin typeface="Arial" pitchFamily="34" charset="0"/>
                <a:ea typeface="Arial" pitchFamily="34" charset="-122"/>
                <a:cs typeface="Arial" pitchFamily="34" charset="-120"/>
              </a:rPr>
              <a:t>The category answers what it is and drives colour, filtering and layer routing. Nine colours read cleanly on a month grid; eighteen do not.</a:t>
            </a:r>
            <a:endParaRPr lang="en-US" sz="1050" dirty="0"/>
          </a:p>
        </p:txBody>
      </p:sp>
      <p:sp>
        <p:nvSpPr>
          <p:cNvPr id="93" name="Text 90"/>
          <p:cNvSpPr/>
          <p:nvPr/>
        </p:nvSpPr>
        <p:spPr>
          <a:xfrm>
            <a:off x="9436608" y="3694176"/>
            <a:ext cx="2371039" cy="475488"/>
          </a:xfrm>
          <a:prstGeom prst="rect">
            <a:avLst/>
          </a:prstGeom>
          <a:noFill/>
          <a:ln/>
        </p:spPr>
        <p:txBody>
          <a:bodyPr wrap="square" lIns="0" tIns="0" rIns="0" bIns="0" rtlCol="0" anchor="ctr"/>
          <a:lstStyle/>
          <a:p>
            <a:pPr indent="0" marL="0">
              <a:buNone/>
            </a:pPr>
            <a:r>
              <a:rPr lang="en-US" sz="3000" b="1" dirty="0">
                <a:solidFill>
                  <a:srgbClr val="00A9F4"/>
                </a:solidFill>
                <a:latin typeface="Georgia" pitchFamily="34" charset="0"/>
                <a:ea typeface="Georgia" pitchFamily="34" charset="-122"/>
                <a:cs typeface="Georgia" pitchFamily="34" charset="-120"/>
              </a:rPr>
              <a:t>18 x 9</a:t>
            </a:r>
            <a:endParaRPr lang="en-US" sz="3000" dirty="0"/>
          </a:p>
        </p:txBody>
      </p:sp>
      <p:sp>
        <p:nvSpPr>
          <p:cNvPr id="94" name="Text 91"/>
          <p:cNvSpPr/>
          <p:nvPr/>
        </p:nvSpPr>
        <p:spPr>
          <a:xfrm>
            <a:off x="9436608" y="4151376"/>
            <a:ext cx="2371039" cy="365760"/>
          </a:xfrm>
          <a:prstGeom prst="rect">
            <a:avLst/>
          </a:prstGeom>
          <a:noFill/>
          <a:ln/>
        </p:spPr>
        <p:txBody>
          <a:bodyPr wrap="square" lIns="0" tIns="0" rIns="0" bIns="0" rtlCol="0" anchor="ctr"/>
          <a:lstStyle/>
          <a:p>
            <a:pPr indent="0" marL="0">
              <a:lnSpc>
                <a:spcPct val="110000"/>
              </a:lnSpc>
              <a:buNone/>
            </a:pPr>
            <a:r>
              <a:rPr lang="en-US" sz="950" dirty="0">
                <a:solidFill>
                  <a:srgbClr val="AFC2CE"/>
                </a:solidFill>
                <a:latin typeface="Arial" pitchFamily="34" charset="0"/>
                <a:ea typeface="Arial" pitchFamily="34" charset="-122"/>
                <a:cs typeface="Arial" pitchFamily="34" charset="-120"/>
              </a:rPr>
              <a:t>Label and category combinations, from one classification pass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Classification resolves in four tiers, cheapest and most certain first, and prefers Other over a confident wrong guess</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Segmentation logic, part 2 of 2</a:t>
            </a:r>
            <a:endParaRPr lang="en-US" sz="900" dirty="0"/>
          </a:p>
        </p:txBody>
      </p:sp>
      <p:sp>
        <p:nvSpPr>
          <p:cNvPr id="5" name="Text 3"/>
          <p:cNvSpPr/>
          <p:nvPr/>
        </p:nvSpPr>
        <p:spPr>
          <a:xfrm>
            <a:off x="512064" y="6016752"/>
            <a:ext cx="11173968" cy="347472"/>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Tier 2 evaluates the same query grammar Gmail uses: from, to, cc, subject, negation, OR and parentheses</a:t>
            </a:r>
            <a:endParaRPr lang="en-US" sz="800" dirty="0"/>
          </a:p>
          <a:p>
            <a:pPr indent="0" marL="0">
              <a:lnSpc>
                <a:spcPct val="105000"/>
              </a:lnSpc>
              <a:buNone/>
            </a:pPr>
            <a:r>
              <a:rPr lang="en-US" sz="800" dirty="0">
                <a:solidFill>
                  <a:srgbClr val="7F7F7F"/>
                </a:solidFill>
                <a:latin typeface="Arial" pitchFamily="34" charset="0"/>
                <a:ea typeface="Arial" pitchFamily="34" charset="-122"/>
                <a:cs typeface="Arial" pitchFamily="34" charset="-120"/>
              </a:rPr>
              <a:t>2. Tier ordering is explicit: subject tags such as [Gen NB] and [PLACECOM] outrank sender rules, and the broad noreply catch-all is evaluated last</a:t>
            </a:r>
            <a:endParaRPr lang="en-US" sz="800" dirty="0"/>
          </a:p>
        </p:txBody>
      </p:sp>
      <p:sp>
        <p:nvSpPr>
          <p:cNvPr id="6" name="Shape 4"/>
          <p:cNvSpPr/>
          <p:nvPr/>
        </p:nvSpPr>
        <p:spPr>
          <a:xfrm>
            <a:off x="512064" y="6400800"/>
            <a:ext cx="11173968" cy="0"/>
          </a:xfrm>
          <a:prstGeom prst="line">
            <a:avLst/>
          </a:prstGeom>
          <a:noFill/>
          <a:ln w="6350">
            <a:solidFill>
              <a:srgbClr val="D0D0D0"/>
            </a:solidFill>
            <a:prstDash val="solid"/>
          </a:ln>
        </p:spPr>
      </p:sp>
      <p:sp>
        <p:nvSpPr>
          <p:cNvPr id="7" name="Text 5"/>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backend/rules_engine.py and backend/parser.py; rule set generated from gmail_filters_import.xml</a:t>
            </a:r>
            <a:endParaRPr lang="en-US" sz="800" dirty="0"/>
          </a:p>
        </p:txBody>
      </p:sp>
      <p:sp>
        <p:nvSpPr>
          <p:cNvPr id="8" name="Text 6"/>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8</a:t>
            </a:r>
            <a:endParaRPr lang="en-US" sz="900" dirty="0"/>
          </a:p>
        </p:txBody>
      </p:sp>
      <p:sp>
        <p:nvSpPr>
          <p:cNvPr id="10" name="Text 7"/>
          <p:cNvSpPr/>
          <p:nvPr/>
        </p:nvSpPr>
        <p:spPr>
          <a:xfrm>
            <a:off x="512064" y="1463040"/>
            <a:ext cx="82296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Tier</a:t>
            </a:r>
            <a:endParaRPr lang="en-US" sz="1100" dirty="0"/>
          </a:p>
        </p:txBody>
      </p:sp>
      <p:sp>
        <p:nvSpPr>
          <p:cNvPr id="11" name="Text 8"/>
          <p:cNvSpPr/>
          <p:nvPr/>
        </p:nvSpPr>
        <p:spPr>
          <a:xfrm>
            <a:off x="1380744" y="1463040"/>
            <a:ext cx="228600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Signal used</a:t>
            </a:r>
            <a:endParaRPr lang="en-US" sz="1100" dirty="0"/>
          </a:p>
        </p:txBody>
      </p:sp>
      <p:sp>
        <p:nvSpPr>
          <p:cNvPr id="12" name="Text 9"/>
          <p:cNvSpPr/>
          <p:nvPr/>
        </p:nvSpPr>
        <p:spPr>
          <a:xfrm>
            <a:off x="3712464" y="1463040"/>
            <a:ext cx="493776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How it decides</a:t>
            </a:r>
            <a:endParaRPr lang="en-US" sz="1100" dirty="0"/>
          </a:p>
        </p:txBody>
      </p:sp>
      <p:sp>
        <p:nvSpPr>
          <p:cNvPr id="13" name="Text 10"/>
          <p:cNvSpPr/>
          <p:nvPr/>
        </p:nvSpPr>
        <p:spPr>
          <a:xfrm>
            <a:off x="8741664" y="1463040"/>
            <a:ext cx="260604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Scale in the build</a:t>
            </a:r>
            <a:endParaRPr lang="en-US" sz="1100" dirty="0"/>
          </a:p>
        </p:txBody>
      </p:sp>
      <p:sp>
        <p:nvSpPr>
          <p:cNvPr id="14" name="Shape 11"/>
          <p:cNvSpPr/>
          <p:nvPr/>
        </p:nvSpPr>
        <p:spPr>
          <a:xfrm>
            <a:off x="512064" y="1737360"/>
            <a:ext cx="10826496" cy="0"/>
          </a:xfrm>
          <a:prstGeom prst="line">
            <a:avLst/>
          </a:prstGeom>
          <a:noFill/>
          <a:ln w="9525">
            <a:solidFill>
              <a:srgbClr val="051C2C"/>
            </a:solidFill>
            <a:prstDash val="solid"/>
          </a:ln>
        </p:spPr>
      </p:sp>
      <p:sp>
        <p:nvSpPr>
          <p:cNvPr id="15" name="Shape 12"/>
          <p:cNvSpPr/>
          <p:nvPr/>
        </p:nvSpPr>
        <p:spPr>
          <a:xfrm>
            <a:off x="512064" y="1920240"/>
            <a:ext cx="91440" cy="457200"/>
          </a:xfrm>
          <a:prstGeom prst="rect">
            <a:avLst/>
          </a:prstGeom>
          <a:solidFill>
            <a:srgbClr val="00A9F4"/>
          </a:solidFill>
          <a:ln w="12700">
            <a:solidFill>
              <a:srgbClr val="00A9F4"/>
            </a:solidFill>
            <a:prstDash val="solid"/>
          </a:ln>
        </p:spPr>
      </p:sp>
      <p:sp>
        <p:nvSpPr>
          <p:cNvPr id="16" name="Text 13"/>
          <p:cNvSpPr/>
          <p:nvPr/>
        </p:nvSpPr>
        <p:spPr>
          <a:xfrm>
            <a:off x="694944" y="1865376"/>
            <a:ext cx="685800" cy="566928"/>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Tier 1</a:t>
            </a:r>
            <a:endParaRPr lang="en-US" sz="1100" dirty="0"/>
          </a:p>
        </p:txBody>
      </p:sp>
      <p:sp>
        <p:nvSpPr>
          <p:cNvPr id="17" name="Text 14"/>
          <p:cNvSpPr/>
          <p:nvPr/>
        </p:nvSpPr>
        <p:spPr>
          <a:xfrm>
            <a:off x="1380744" y="1865376"/>
            <a:ext cx="2286000" cy="566928"/>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Gmail label already applied</a:t>
            </a:r>
            <a:endParaRPr lang="en-US" sz="1050" dirty="0"/>
          </a:p>
        </p:txBody>
      </p:sp>
      <p:sp>
        <p:nvSpPr>
          <p:cNvPr id="18" name="Text 15"/>
          <p:cNvSpPr/>
          <p:nvPr/>
        </p:nvSpPr>
        <p:spPr>
          <a:xfrm>
            <a:off x="3712464" y="1865376"/>
            <a:ext cx="4937760" cy="566928"/>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Reads the IIMA label the student's own Gmail filters attached to the thread</a:t>
            </a:r>
            <a:endParaRPr lang="en-US" sz="1050" dirty="0"/>
          </a:p>
        </p:txBody>
      </p:sp>
      <p:sp>
        <p:nvSpPr>
          <p:cNvPr id="19" name="Text 16"/>
          <p:cNvSpPr/>
          <p:nvPr/>
        </p:nvSpPr>
        <p:spPr>
          <a:xfrm>
            <a:off x="8741664" y="1865376"/>
            <a:ext cx="2606040" cy="566928"/>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Authoritative, zero logic, free</a:t>
            </a:r>
            <a:endParaRPr lang="en-US" sz="1000" dirty="0"/>
          </a:p>
        </p:txBody>
      </p:sp>
      <p:sp>
        <p:nvSpPr>
          <p:cNvPr id="20" name="Shape 17"/>
          <p:cNvSpPr/>
          <p:nvPr/>
        </p:nvSpPr>
        <p:spPr>
          <a:xfrm>
            <a:off x="512064" y="2542032"/>
            <a:ext cx="10826496" cy="0"/>
          </a:xfrm>
          <a:prstGeom prst="line">
            <a:avLst/>
          </a:prstGeom>
          <a:noFill/>
          <a:ln w="6350">
            <a:solidFill>
              <a:srgbClr val="D0D0D0"/>
            </a:solidFill>
            <a:prstDash val="solid"/>
          </a:ln>
        </p:spPr>
      </p:sp>
      <p:sp>
        <p:nvSpPr>
          <p:cNvPr id="21" name="Shape 18"/>
          <p:cNvSpPr/>
          <p:nvPr/>
        </p:nvSpPr>
        <p:spPr>
          <a:xfrm>
            <a:off x="512064" y="2596896"/>
            <a:ext cx="91440" cy="457200"/>
          </a:xfrm>
          <a:prstGeom prst="rect">
            <a:avLst/>
          </a:prstGeom>
          <a:solidFill>
            <a:srgbClr val="2251FF"/>
          </a:solidFill>
          <a:ln w="12700">
            <a:solidFill>
              <a:srgbClr val="2251FF"/>
            </a:solidFill>
            <a:prstDash val="solid"/>
          </a:ln>
        </p:spPr>
      </p:sp>
      <p:sp>
        <p:nvSpPr>
          <p:cNvPr id="22" name="Text 19"/>
          <p:cNvSpPr/>
          <p:nvPr/>
        </p:nvSpPr>
        <p:spPr>
          <a:xfrm>
            <a:off x="694944" y="2542032"/>
            <a:ext cx="685800" cy="566928"/>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Tier 2</a:t>
            </a:r>
            <a:endParaRPr lang="en-US" sz="1100" dirty="0"/>
          </a:p>
        </p:txBody>
      </p:sp>
      <p:sp>
        <p:nvSpPr>
          <p:cNvPr id="23" name="Text 20"/>
          <p:cNvSpPr/>
          <p:nvPr/>
        </p:nvSpPr>
        <p:spPr>
          <a:xfrm>
            <a:off x="1380744" y="2542032"/>
            <a:ext cx="2286000" cy="566928"/>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Imported filter rules¹</a:t>
            </a:r>
            <a:endParaRPr lang="en-US" sz="1050" dirty="0"/>
          </a:p>
        </p:txBody>
      </p:sp>
      <p:sp>
        <p:nvSpPr>
          <p:cNvPr id="24" name="Text 21"/>
          <p:cNvSpPr/>
          <p:nvPr/>
        </p:nvSpPr>
        <p:spPr>
          <a:xfrm>
            <a:off x="3712464" y="2542032"/>
            <a:ext cx="4937760" cy="566928"/>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Re-evaluates the same 21 rules inside the app, for accounts that never imported the filters</a:t>
            </a:r>
            <a:endParaRPr lang="en-US" sz="1050" dirty="0"/>
          </a:p>
        </p:txBody>
      </p:sp>
      <p:sp>
        <p:nvSpPr>
          <p:cNvPr id="25" name="Text 22"/>
          <p:cNvSpPr/>
          <p:nvPr/>
        </p:nvSpPr>
        <p:spPr>
          <a:xfrm>
            <a:off x="8741664" y="2542032"/>
            <a:ext cx="2606040" cy="566928"/>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112 sender and recipient patterns</a:t>
            </a:r>
            <a:endParaRPr lang="en-US" sz="1000" dirty="0"/>
          </a:p>
        </p:txBody>
      </p:sp>
      <p:sp>
        <p:nvSpPr>
          <p:cNvPr id="26" name="Shape 23"/>
          <p:cNvSpPr/>
          <p:nvPr/>
        </p:nvSpPr>
        <p:spPr>
          <a:xfrm>
            <a:off x="512064" y="3218688"/>
            <a:ext cx="10826496" cy="0"/>
          </a:xfrm>
          <a:prstGeom prst="line">
            <a:avLst/>
          </a:prstGeom>
          <a:noFill/>
          <a:ln w="6350">
            <a:solidFill>
              <a:srgbClr val="D0D0D0"/>
            </a:solidFill>
            <a:prstDash val="solid"/>
          </a:ln>
        </p:spPr>
      </p:sp>
      <p:sp>
        <p:nvSpPr>
          <p:cNvPr id="27" name="Shape 24"/>
          <p:cNvSpPr/>
          <p:nvPr/>
        </p:nvSpPr>
        <p:spPr>
          <a:xfrm>
            <a:off x="512064" y="3273552"/>
            <a:ext cx="91440" cy="457200"/>
          </a:xfrm>
          <a:prstGeom prst="rect">
            <a:avLst/>
          </a:prstGeom>
          <a:solidFill>
            <a:srgbClr val="051C2C"/>
          </a:solidFill>
          <a:ln w="12700">
            <a:solidFill>
              <a:srgbClr val="051C2C"/>
            </a:solidFill>
            <a:prstDash val="solid"/>
          </a:ln>
        </p:spPr>
      </p:sp>
      <p:sp>
        <p:nvSpPr>
          <p:cNvPr id="28" name="Text 25"/>
          <p:cNvSpPr/>
          <p:nvPr/>
        </p:nvSpPr>
        <p:spPr>
          <a:xfrm>
            <a:off x="694944" y="3218688"/>
            <a:ext cx="685800" cy="566928"/>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Tier 3</a:t>
            </a:r>
            <a:endParaRPr lang="en-US" sz="1100" dirty="0"/>
          </a:p>
        </p:txBody>
      </p:sp>
      <p:sp>
        <p:nvSpPr>
          <p:cNvPr id="29" name="Text 26"/>
          <p:cNvSpPr/>
          <p:nvPr/>
        </p:nvSpPr>
        <p:spPr>
          <a:xfrm>
            <a:off x="1380744" y="3218688"/>
            <a:ext cx="2286000" cy="566928"/>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Generic sender rules</a:t>
            </a:r>
            <a:endParaRPr lang="en-US" sz="1050" dirty="0"/>
          </a:p>
        </p:txBody>
      </p:sp>
      <p:sp>
        <p:nvSpPr>
          <p:cNvPr id="30" name="Text 27"/>
          <p:cNvSpPr/>
          <p:nvPr/>
        </p:nvSpPr>
        <p:spPr>
          <a:xfrm>
            <a:off x="3712464" y="3218688"/>
            <a:ext cx="4937760" cy="566928"/>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Covers the non-IIMA world: LinkedIn, Unstop, Coursera, Meetup, banks, delivery and newsletters</a:t>
            </a:r>
            <a:endParaRPr lang="en-US" sz="1050" dirty="0"/>
          </a:p>
        </p:txBody>
      </p:sp>
      <p:sp>
        <p:nvSpPr>
          <p:cNvPr id="31" name="Text 28"/>
          <p:cNvSpPr/>
          <p:nvPr/>
        </p:nvSpPr>
        <p:spPr>
          <a:xfrm>
            <a:off x="8741664" y="3218688"/>
            <a:ext cx="2606040" cy="566928"/>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9 rules, 5 of them event creating</a:t>
            </a:r>
            <a:endParaRPr lang="en-US" sz="1000" dirty="0"/>
          </a:p>
        </p:txBody>
      </p:sp>
      <p:sp>
        <p:nvSpPr>
          <p:cNvPr id="32" name="Shape 29"/>
          <p:cNvSpPr/>
          <p:nvPr/>
        </p:nvSpPr>
        <p:spPr>
          <a:xfrm>
            <a:off x="512064" y="3895344"/>
            <a:ext cx="10826496" cy="0"/>
          </a:xfrm>
          <a:prstGeom prst="line">
            <a:avLst/>
          </a:prstGeom>
          <a:noFill/>
          <a:ln w="6350">
            <a:solidFill>
              <a:srgbClr val="D0D0D0"/>
            </a:solidFill>
            <a:prstDash val="solid"/>
          </a:ln>
        </p:spPr>
      </p:sp>
      <p:sp>
        <p:nvSpPr>
          <p:cNvPr id="33" name="Shape 30"/>
          <p:cNvSpPr/>
          <p:nvPr/>
        </p:nvSpPr>
        <p:spPr>
          <a:xfrm>
            <a:off x="512064" y="3950208"/>
            <a:ext cx="91440" cy="457200"/>
          </a:xfrm>
          <a:prstGeom prst="rect">
            <a:avLst/>
          </a:prstGeom>
          <a:solidFill>
            <a:srgbClr val="7F7F7F"/>
          </a:solidFill>
          <a:ln w="12700">
            <a:solidFill>
              <a:srgbClr val="7F7F7F"/>
            </a:solidFill>
            <a:prstDash val="solid"/>
          </a:ln>
        </p:spPr>
      </p:sp>
      <p:sp>
        <p:nvSpPr>
          <p:cNvPr id="34" name="Text 31"/>
          <p:cNvSpPr/>
          <p:nvPr/>
        </p:nvSpPr>
        <p:spPr>
          <a:xfrm>
            <a:off x="694944" y="3895344"/>
            <a:ext cx="685800" cy="566928"/>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Tier 4</a:t>
            </a:r>
            <a:endParaRPr lang="en-US" sz="1100" dirty="0"/>
          </a:p>
        </p:txBody>
      </p:sp>
      <p:sp>
        <p:nvSpPr>
          <p:cNvPr id="35" name="Text 32"/>
          <p:cNvSpPr/>
          <p:nvPr/>
        </p:nvSpPr>
        <p:spPr>
          <a:xfrm>
            <a:off x="1380744" y="3895344"/>
            <a:ext cx="2286000" cy="566928"/>
          </a:xfrm>
          <a:prstGeom prst="rect">
            <a:avLst/>
          </a:prstGeom>
          <a:noFill/>
          <a:ln/>
        </p:spPr>
        <p:txBody>
          <a:bodyPr wrap="square" lIns="0" tIns="0" rIns="0" bIns="0" rtlCol="0" anchor="ctr"/>
          <a:lstStyle/>
          <a:p>
            <a:pPr indent="0" marL="0">
              <a:lnSpc>
                <a:spcPct val="110000"/>
              </a:lnSpc>
              <a:buNone/>
            </a:pPr>
            <a:r>
              <a:rPr lang="en-US" sz="1050" b="1" dirty="0">
                <a:solidFill>
                  <a:srgbClr val="051C2C"/>
                </a:solidFill>
                <a:latin typeface="Arial" pitchFamily="34" charset="0"/>
                <a:ea typeface="Arial" pitchFamily="34" charset="-122"/>
                <a:cs typeface="Arial" pitchFamily="34" charset="-120"/>
              </a:rPr>
              <a:t>Weighted keyword scoring</a:t>
            </a:r>
            <a:endParaRPr lang="en-US" sz="1050" dirty="0"/>
          </a:p>
        </p:txBody>
      </p:sp>
      <p:sp>
        <p:nvSpPr>
          <p:cNvPr id="36" name="Text 33"/>
          <p:cNvSpPr/>
          <p:nvPr/>
        </p:nvSpPr>
        <p:spPr>
          <a:xfrm>
            <a:off x="3712464" y="3895344"/>
            <a:ext cx="4937760" cy="566928"/>
          </a:xfrm>
          <a:prstGeom prst="rect">
            <a:avLst/>
          </a:prstGeom>
          <a:noFill/>
          <a:ln/>
        </p:spPr>
        <p:txBody>
          <a:bodyPr wrap="square" lIns="0" tIns="0" rIns="0" bIns="0" rtlCol="0" anchor="ctr"/>
          <a:lstStyle/>
          <a:p>
            <a:pPr indent="0" marL="0">
              <a:lnSpc>
                <a:spcPct val="110000"/>
              </a:lnSpc>
              <a:buNone/>
            </a:pPr>
            <a:r>
              <a:rPr lang="en-US" sz="1050" dirty="0">
                <a:solidFill>
                  <a:srgbClr val="333333"/>
                </a:solidFill>
                <a:latin typeface="Arial" pitchFamily="34" charset="0"/>
                <a:ea typeface="Arial" pitchFamily="34" charset="-122"/>
                <a:cs typeface="Arial" pitchFamily="34" charset="-120"/>
              </a:rPr>
              <a:t>Subject hits count three times body hits; the highest scoring category wins</a:t>
            </a:r>
            <a:endParaRPr lang="en-US" sz="1050" dirty="0"/>
          </a:p>
        </p:txBody>
      </p:sp>
      <p:sp>
        <p:nvSpPr>
          <p:cNvPr id="37" name="Text 34"/>
          <p:cNvSpPr/>
          <p:nvPr/>
        </p:nvSpPr>
        <p:spPr>
          <a:xfrm>
            <a:off x="8741664" y="3895344"/>
            <a:ext cx="2606040" cy="566928"/>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237 keywords across 8 categories</a:t>
            </a:r>
            <a:endParaRPr lang="en-US" sz="1000" dirty="0"/>
          </a:p>
        </p:txBody>
      </p:sp>
      <p:sp>
        <p:nvSpPr>
          <p:cNvPr id="38" name="Shape 35"/>
          <p:cNvSpPr/>
          <p:nvPr/>
        </p:nvSpPr>
        <p:spPr>
          <a:xfrm>
            <a:off x="512064" y="4572000"/>
            <a:ext cx="10826496" cy="0"/>
          </a:xfrm>
          <a:prstGeom prst="line">
            <a:avLst/>
          </a:prstGeom>
          <a:noFill/>
          <a:ln w="6350">
            <a:solidFill>
              <a:srgbClr val="D0D0D0"/>
            </a:solidFill>
            <a:prstDash val="solid"/>
          </a:ln>
        </p:spPr>
      </p:sp>
      <p:sp>
        <p:nvSpPr>
          <p:cNvPr id="39" name="Text 36"/>
          <p:cNvSpPr/>
          <p:nvPr/>
        </p:nvSpPr>
        <p:spPr>
          <a:xfrm>
            <a:off x="512064" y="4773168"/>
            <a:ext cx="5120640" cy="274320"/>
          </a:xfrm>
          <a:prstGeom prst="rect">
            <a:avLst/>
          </a:prstGeom>
          <a:noFill/>
          <a:ln/>
        </p:spPr>
        <p:txBody>
          <a:bodyPr wrap="square" lIns="0" tIns="0" rIns="0" bIns="0" rtlCol="0" anchor="ctr"/>
          <a:lstStyle/>
          <a:p>
            <a:pPr indent="0" marL="0">
              <a:buNone/>
            </a:pPr>
            <a:r>
              <a:rPr lang="en-US" sz="1150" b="1" dirty="0">
                <a:solidFill>
                  <a:srgbClr val="051C2C"/>
                </a:solidFill>
                <a:latin typeface="Arial" pitchFamily="34" charset="0"/>
                <a:ea typeface="Arial" pitchFamily="34" charset="-122"/>
                <a:cs typeface="Arial" pitchFamily="34" charset="-120"/>
              </a:rPr>
              <a:t>Worked example, one real inbox mail</a:t>
            </a:r>
            <a:endParaRPr lang="en-US" sz="1150" dirty="0"/>
          </a:p>
        </p:txBody>
      </p:sp>
      <p:sp>
        <p:nvSpPr>
          <p:cNvPr id="40" name="Text 37"/>
          <p:cNvSpPr/>
          <p:nvPr/>
        </p:nvSpPr>
        <p:spPr>
          <a:xfrm>
            <a:off x="512064" y="5065776"/>
            <a:ext cx="5120640" cy="603504"/>
          </a:xfrm>
          <a:prstGeom prst="rect">
            <a:avLst/>
          </a:prstGeom>
          <a:noFill/>
          <a:ln/>
        </p:spPr>
        <p:txBody>
          <a:bodyPr wrap="square" lIns="0" tIns="0" rIns="0" bIns="0" rtlCol="0" anchor="ctr"/>
          <a:lstStyle/>
          <a:p>
            <a:pPr indent="0" marL="0">
              <a:lnSpc>
                <a:spcPct val="120000"/>
              </a:lnSpc>
              <a:buNone/>
            </a:pPr>
            <a:r>
              <a:rPr lang="en-US" sz="1050" b="1" dirty="0">
                <a:solidFill>
                  <a:srgbClr val="051C2C"/>
                </a:solidFill>
                <a:latin typeface="Arial" pitchFamily="34" charset="0"/>
                <a:ea typeface="Arial" pitchFamily="34" charset="-122"/>
                <a:cs typeface="Arial" pitchFamily="34" charset="-120"/>
              </a:rPr>
              <a:t>Subject:  </a:t>
            </a:r>
            <a:pPr indent="0" marL="0">
              <a:lnSpc>
                <a:spcPct val="120000"/>
              </a:lnSpc>
              <a:buNone/>
            </a:pPr>
            <a:r>
              <a:rPr lang="en-US" sz="1050" dirty="0">
                <a:solidFill>
                  <a:srgbClr val="333333"/>
                </a:solidFill>
                <a:latin typeface="Arial" pitchFamily="34" charset="0"/>
                <a:ea typeface="Arial" pitchFamily="34" charset="-122"/>
                <a:cs typeface="Arial" pitchFamily="34" charset="-120"/>
              </a:rPr>
              <a:t>Re: [COMPETITION] Brand Baazigar 2026, Brand Analysis</a:t>
            </a:r>
            <a:pPr indent="0" marL="0">
              <a:lnSpc>
                <a:spcPct val="120000"/>
              </a:lnSpc>
              <a:buNone/>
            </a:pPr>
            <a:endParaRPr lang="en-US" sz="1050" dirty="0"/>
          </a:p>
          <a:p>
            <a:pPr indent="0" marL="0">
              <a:lnSpc>
                <a:spcPct val="120000"/>
              </a:lnSpc>
              <a:buNone/>
            </a:pPr>
            <a:r>
              <a:rPr lang="en-US" sz="1050" b="1" dirty="0">
                <a:solidFill>
                  <a:srgbClr val="051C2C"/>
                </a:solidFill>
                <a:latin typeface="Arial" pitchFamily="34" charset="0"/>
                <a:ea typeface="Arial" pitchFamily="34" charset="-122"/>
                <a:cs typeface="Arial" pitchFamily="34" charset="-120"/>
              </a:rPr>
              <a:t>Sender:  </a:t>
            </a:r>
            <a:endParaRPr lang="en-US" sz="1050" dirty="0"/>
          </a:p>
          <a:p>
            <a:pPr indent="0" marL="0">
              <a:lnSpc>
                <a:spcPct val="120000"/>
              </a:lnSpc>
              <a:buNone/>
            </a:pPr>
            <a:r>
              <a:rPr lang="en-US" sz="1050" dirty="0">
                <a:solidFill>
                  <a:srgbClr val="333333"/>
                </a:solidFill>
                <a:latin typeface="Arial" pitchFamily="34" charset="0"/>
                <a:ea typeface="Arial" pitchFamily="34" charset="-122"/>
                <a:cs typeface="Arial" pitchFamily="34" charset="-120"/>
              </a:rPr>
              <a:t>niche@iima.ac.in</a:t>
            </a:r>
            <a:endParaRPr lang="en-US" sz="1050" dirty="0"/>
          </a:p>
        </p:txBody>
      </p:sp>
      <p:sp>
        <p:nvSpPr>
          <p:cNvPr id="41" name="Shape 38"/>
          <p:cNvSpPr/>
          <p:nvPr/>
        </p:nvSpPr>
        <p:spPr>
          <a:xfrm>
            <a:off x="5943600" y="4791456"/>
            <a:ext cx="201168" cy="201168"/>
          </a:xfrm>
          <a:prstGeom prst="ellipse">
            <a:avLst/>
          </a:prstGeom>
          <a:solidFill>
            <a:srgbClr val="051C2C"/>
          </a:solidFill>
          <a:ln w="12700">
            <a:solidFill>
              <a:srgbClr val="051C2C"/>
            </a:solidFill>
            <a:prstDash val="solid"/>
          </a:ln>
        </p:spPr>
      </p:sp>
      <p:sp>
        <p:nvSpPr>
          <p:cNvPr id="42" name="Text 39"/>
          <p:cNvSpPr/>
          <p:nvPr/>
        </p:nvSpPr>
        <p:spPr>
          <a:xfrm>
            <a:off x="5943600" y="4791456"/>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a:t>
            </a:r>
            <a:endParaRPr lang="en-US" sz="800" dirty="0"/>
          </a:p>
        </p:txBody>
      </p:sp>
      <p:sp>
        <p:nvSpPr>
          <p:cNvPr id="43" name="Text 40"/>
          <p:cNvSpPr/>
          <p:nvPr/>
        </p:nvSpPr>
        <p:spPr>
          <a:xfrm>
            <a:off x="6254496" y="4754880"/>
            <a:ext cx="5065776" cy="310896"/>
          </a:xfrm>
          <a:prstGeom prst="rect">
            <a:avLst/>
          </a:prstGeom>
          <a:noFill/>
          <a:ln/>
        </p:spPr>
        <p:txBody>
          <a:bodyPr wrap="square" lIns="0" tIns="0" rIns="0" bIns="0" rtlCol="0" anchor="ctr"/>
          <a:lstStyle/>
          <a:p>
            <a:pPr indent="0" marL="0">
              <a:lnSpc>
                <a:spcPct val="108000"/>
              </a:lnSpc>
              <a:buNone/>
            </a:pPr>
            <a:r>
              <a:rPr lang="en-US" sz="1000" b="1" dirty="0">
                <a:solidFill>
                  <a:srgbClr val="051C2C"/>
                </a:solidFill>
                <a:latin typeface="Arial" pitchFamily="34" charset="0"/>
                <a:ea typeface="Arial" pitchFamily="34" charset="-122"/>
                <a:cs typeface="Arial" pitchFamily="34" charset="-120"/>
              </a:rPr>
              <a:t>Tier 2 matches:  </a:t>
            </a:r>
            <a:pPr indent="0" marL="0">
              <a:lnSpc>
                <a:spcPct val="108000"/>
              </a:lnSpc>
              <a:buNone/>
            </a:pPr>
            <a:r>
              <a:rPr lang="en-US" sz="1000" dirty="0">
                <a:solidFill>
                  <a:srgbClr val="333333"/>
                </a:solidFill>
                <a:latin typeface="Arial" pitchFamily="34" charset="0"/>
                <a:ea typeface="Arial" pitchFamily="34" charset="-122"/>
                <a:cs typeface="Arial" pitchFamily="34" charset="-120"/>
              </a:rPr>
              <a:t>Sender is in the Career Clubs rule, so the label is Career Clubs</a:t>
            </a:r>
            <a:endParaRPr lang="en-US" sz="1000" dirty="0"/>
          </a:p>
        </p:txBody>
      </p:sp>
      <p:sp>
        <p:nvSpPr>
          <p:cNvPr id="44" name="Shape 41"/>
          <p:cNvSpPr/>
          <p:nvPr/>
        </p:nvSpPr>
        <p:spPr>
          <a:xfrm>
            <a:off x="5943600" y="5102352"/>
            <a:ext cx="201168" cy="201168"/>
          </a:xfrm>
          <a:prstGeom prst="ellipse">
            <a:avLst/>
          </a:prstGeom>
          <a:solidFill>
            <a:srgbClr val="051C2C"/>
          </a:solidFill>
          <a:ln w="12700">
            <a:solidFill>
              <a:srgbClr val="051C2C"/>
            </a:solidFill>
            <a:prstDash val="solid"/>
          </a:ln>
        </p:spPr>
      </p:sp>
      <p:sp>
        <p:nvSpPr>
          <p:cNvPr id="45" name="Text 42"/>
          <p:cNvSpPr/>
          <p:nvPr/>
        </p:nvSpPr>
        <p:spPr>
          <a:xfrm>
            <a:off x="5943600" y="5102352"/>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a:t>
            </a:r>
            <a:endParaRPr lang="en-US" sz="800" dirty="0"/>
          </a:p>
        </p:txBody>
      </p:sp>
      <p:sp>
        <p:nvSpPr>
          <p:cNvPr id="46" name="Text 43"/>
          <p:cNvSpPr/>
          <p:nvPr/>
        </p:nvSpPr>
        <p:spPr>
          <a:xfrm>
            <a:off x="6254496" y="5065776"/>
            <a:ext cx="5065776" cy="310896"/>
          </a:xfrm>
          <a:prstGeom prst="rect">
            <a:avLst/>
          </a:prstGeom>
          <a:noFill/>
          <a:ln/>
        </p:spPr>
        <p:txBody>
          <a:bodyPr wrap="square" lIns="0" tIns="0" rIns="0" bIns="0" rtlCol="0" anchor="ctr"/>
          <a:lstStyle/>
          <a:p>
            <a:pPr indent="0" marL="0">
              <a:lnSpc>
                <a:spcPct val="108000"/>
              </a:lnSpc>
              <a:buNone/>
            </a:pPr>
            <a:r>
              <a:rPr lang="en-US" sz="1000" b="1" dirty="0">
                <a:solidFill>
                  <a:srgbClr val="051C2C"/>
                </a:solidFill>
                <a:latin typeface="Arial" pitchFamily="34" charset="0"/>
                <a:ea typeface="Arial" pitchFamily="34" charset="-122"/>
                <a:cs typeface="Arial" pitchFamily="34" charset="-120"/>
              </a:rPr>
              <a:t>Base category:  </a:t>
            </a:r>
            <a:pPr indent="0" marL="0">
              <a:lnSpc>
                <a:spcPct val="108000"/>
              </a:lnSpc>
              <a:buNone/>
            </a:pPr>
            <a:r>
              <a:rPr lang="en-US" sz="1000" dirty="0">
                <a:solidFill>
                  <a:srgbClr val="333333"/>
                </a:solidFill>
                <a:latin typeface="Arial" pitchFamily="34" charset="0"/>
                <a:ea typeface="Arial" pitchFamily="34" charset="-122"/>
                <a:cs typeface="Arial" pitchFamily="34" charset="-120"/>
              </a:rPr>
              <a:t>Career Clubs maps to Workshops by default</a:t>
            </a:r>
            <a:endParaRPr lang="en-US" sz="1000" dirty="0"/>
          </a:p>
        </p:txBody>
      </p:sp>
      <p:sp>
        <p:nvSpPr>
          <p:cNvPr id="47" name="Shape 44"/>
          <p:cNvSpPr/>
          <p:nvPr/>
        </p:nvSpPr>
        <p:spPr>
          <a:xfrm>
            <a:off x="5943600" y="5413248"/>
            <a:ext cx="201168" cy="201168"/>
          </a:xfrm>
          <a:prstGeom prst="ellipse">
            <a:avLst/>
          </a:prstGeom>
          <a:solidFill>
            <a:srgbClr val="051C2C"/>
          </a:solidFill>
          <a:ln w="12700">
            <a:solidFill>
              <a:srgbClr val="051C2C"/>
            </a:solidFill>
            <a:prstDash val="solid"/>
          </a:ln>
        </p:spPr>
      </p:sp>
      <p:sp>
        <p:nvSpPr>
          <p:cNvPr id="48" name="Text 45"/>
          <p:cNvSpPr/>
          <p:nvPr/>
        </p:nvSpPr>
        <p:spPr>
          <a:xfrm>
            <a:off x="5943600" y="5413248"/>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3</a:t>
            </a:r>
            <a:endParaRPr lang="en-US" sz="800" dirty="0"/>
          </a:p>
        </p:txBody>
      </p:sp>
      <p:sp>
        <p:nvSpPr>
          <p:cNvPr id="49" name="Text 46"/>
          <p:cNvSpPr/>
          <p:nvPr/>
        </p:nvSpPr>
        <p:spPr>
          <a:xfrm>
            <a:off x="6254496" y="5376672"/>
            <a:ext cx="5065776" cy="310896"/>
          </a:xfrm>
          <a:prstGeom prst="rect">
            <a:avLst/>
          </a:prstGeom>
          <a:noFill/>
          <a:ln/>
        </p:spPr>
        <p:txBody>
          <a:bodyPr wrap="square" lIns="0" tIns="0" rIns="0" bIns="0" rtlCol="0" anchor="ctr"/>
          <a:lstStyle/>
          <a:p>
            <a:pPr indent="0" marL="0">
              <a:lnSpc>
                <a:spcPct val="108000"/>
              </a:lnSpc>
              <a:buNone/>
            </a:pPr>
            <a:r>
              <a:rPr lang="en-US" sz="1000" b="1" dirty="0">
                <a:solidFill>
                  <a:srgbClr val="051C2C"/>
                </a:solidFill>
                <a:latin typeface="Arial" pitchFamily="34" charset="0"/>
                <a:ea typeface="Arial" pitchFamily="34" charset="-122"/>
                <a:cs typeface="Arial" pitchFamily="34" charset="-120"/>
              </a:rPr>
              <a:t>Content override:  </a:t>
            </a:r>
            <a:pPr indent="0" marL="0">
              <a:lnSpc>
                <a:spcPct val="108000"/>
              </a:lnSpc>
              <a:buNone/>
            </a:pPr>
            <a:r>
              <a:rPr lang="en-US" sz="1000" dirty="0">
                <a:solidFill>
                  <a:srgbClr val="333333"/>
                </a:solidFill>
                <a:latin typeface="Arial" pitchFamily="34" charset="0"/>
                <a:ea typeface="Arial" pitchFamily="34" charset="-122"/>
                <a:cs typeface="Arial" pitchFamily="34" charset="-120"/>
              </a:rPr>
              <a:t>COMPETITION scores higher within the activity set, so the category becomes Club events</a:t>
            </a:r>
            <a:endParaRPr lang="en-US" sz="1000" dirty="0"/>
          </a:p>
        </p:txBody>
      </p:sp>
      <p:sp>
        <p:nvSpPr>
          <p:cNvPr id="50" name="Shape 47"/>
          <p:cNvSpPr/>
          <p:nvPr/>
        </p:nvSpPr>
        <p:spPr>
          <a:xfrm>
            <a:off x="5943600" y="5724144"/>
            <a:ext cx="201168" cy="201168"/>
          </a:xfrm>
          <a:prstGeom prst="ellipse">
            <a:avLst/>
          </a:prstGeom>
          <a:solidFill>
            <a:srgbClr val="051C2C"/>
          </a:solidFill>
          <a:ln w="12700">
            <a:solidFill>
              <a:srgbClr val="051C2C"/>
            </a:solidFill>
            <a:prstDash val="solid"/>
          </a:ln>
        </p:spPr>
      </p:sp>
      <p:sp>
        <p:nvSpPr>
          <p:cNvPr id="51" name="Text 48"/>
          <p:cNvSpPr/>
          <p:nvPr/>
        </p:nvSpPr>
        <p:spPr>
          <a:xfrm>
            <a:off x="5943600" y="5724144"/>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4</a:t>
            </a:r>
            <a:endParaRPr lang="en-US" sz="800" dirty="0"/>
          </a:p>
        </p:txBody>
      </p:sp>
      <p:sp>
        <p:nvSpPr>
          <p:cNvPr id="52" name="Text 49"/>
          <p:cNvSpPr/>
          <p:nvPr/>
        </p:nvSpPr>
        <p:spPr>
          <a:xfrm>
            <a:off x="6254496" y="5687568"/>
            <a:ext cx="5065776" cy="310896"/>
          </a:xfrm>
          <a:prstGeom prst="rect">
            <a:avLst/>
          </a:prstGeom>
          <a:noFill/>
          <a:ln/>
        </p:spPr>
        <p:txBody>
          <a:bodyPr wrap="square" lIns="0" tIns="0" rIns="0" bIns="0" rtlCol="0" anchor="ctr"/>
          <a:lstStyle/>
          <a:p>
            <a:pPr indent="0" marL="0">
              <a:lnSpc>
                <a:spcPct val="108000"/>
              </a:lnSpc>
              <a:buNone/>
            </a:pPr>
            <a:r>
              <a:rPr lang="en-US" sz="1000" b="1" dirty="0">
                <a:solidFill>
                  <a:srgbClr val="051C2C"/>
                </a:solidFill>
                <a:latin typeface="Arial" pitchFamily="34" charset="0"/>
                <a:ea typeface="Arial" pitchFamily="34" charset="-122"/>
                <a:cs typeface="Arial" pitchFamily="34" charset="-120"/>
              </a:rPr>
              <a:t>Layer:  </a:t>
            </a:r>
            <a:pPr indent="0" marL="0">
              <a:lnSpc>
                <a:spcPct val="108000"/>
              </a:lnSpc>
              <a:buNone/>
            </a:pPr>
            <a:r>
              <a:rPr lang="en-US" sz="1000" dirty="0">
                <a:solidFill>
                  <a:srgbClr val="333333"/>
                </a:solidFill>
                <a:latin typeface="Arial" pitchFamily="34" charset="0"/>
                <a:ea typeface="Arial" pitchFamily="34" charset="-122"/>
                <a:cs typeface="Arial" pitchFamily="34" charset="-120"/>
              </a:rPr>
              <a:t>Career Clubs is a broadcast label, so the event lands on the campus calendar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Extraction pulls five fields from the mail body, and a surety gate blocks anything the parser cannot prove</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6016752"/>
            <a:ext cx="11173968" cy="347472"/>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Quoted reply text is removed before parsing, so a date inside an older message in the thread cannot create a phantom event</a:t>
            </a:r>
            <a:endParaRPr lang="en-US" sz="800" dirty="0"/>
          </a:p>
          <a:p>
            <a:pPr indent="0" marL="0">
              <a:lnSpc>
                <a:spcPct val="105000"/>
              </a:lnSpc>
              <a:buNone/>
            </a:pPr>
            <a:r>
              <a:rPr lang="en-US" sz="800" dirty="0">
                <a:solidFill>
                  <a:srgbClr val="7F7F7F"/>
                </a:solidFill>
                <a:latin typeface="Arial" pitchFamily="34" charset="0"/>
                <a:ea typeface="Arial" pitchFamily="34" charset="-122"/>
                <a:cs typeface="Arial" pitchFamily="34" charset="-120"/>
              </a:rPr>
              <a:t>2. Vague dates such as tomorrow or this Friday are accepted only when the mail also pins a time or a venue</a:t>
            </a:r>
            <a:endParaRPr lang="en-US" sz="800" dirty="0"/>
          </a:p>
        </p:txBody>
      </p:sp>
      <p:sp>
        <p:nvSpPr>
          <p:cNvPr id="5" name="Shape 3"/>
          <p:cNvSpPr/>
          <p:nvPr/>
        </p:nvSpPr>
        <p:spPr>
          <a:xfrm>
            <a:off x="512064" y="6400800"/>
            <a:ext cx="11173968" cy="0"/>
          </a:xfrm>
          <a:prstGeom prst="line">
            <a:avLst/>
          </a:prstGeom>
          <a:noFill/>
          <a:ln w="6350">
            <a:solidFill>
              <a:srgbClr val="D0D0D0"/>
            </a:solidFill>
            <a:prstDash val="solid"/>
          </a:ln>
        </p:spPr>
      </p:sp>
      <p:sp>
        <p:nvSpPr>
          <p:cNvPr id="6" name="Text 4"/>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backend/parser.py, backend/links.py; gate logic in backend/main.py, gmail_sync</a:t>
            </a:r>
            <a:endParaRPr lang="en-US" sz="800" dirty="0"/>
          </a:p>
        </p:txBody>
      </p:sp>
      <p:sp>
        <p:nvSpPr>
          <p:cNvPr id="7" name="Text 5"/>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9</a:t>
            </a:r>
            <a:endParaRPr lang="en-US" sz="900" dirty="0"/>
          </a:p>
        </p:txBody>
      </p:sp>
      <p:sp>
        <p:nvSpPr>
          <p:cNvPr id="9" name="Text 6"/>
          <p:cNvSpPr/>
          <p:nvPr/>
        </p:nvSpPr>
        <p:spPr>
          <a:xfrm>
            <a:off x="512064" y="1463040"/>
            <a:ext cx="493776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What is extracted from each mail</a:t>
            </a:r>
            <a:endParaRPr lang="en-US" sz="1200" dirty="0"/>
          </a:p>
        </p:txBody>
      </p:sp>
      <p:sp>
        <p:nvSpPr>
          <p:cNvPr id="10" name="Shape 7"/>
          <p:cNvSpPr/>
          <p:nvPr/>
        </p:nvSpPr>
        <p:spPr>
          <a:xfrm>
            <a:off x="512064" y="1773936"/>
            <a:ext cx="4937760" cy="0"/>
          </a:xfrm>
          <a:prstGeom prst="line">
            <a:avLst/>
          </a:prstGeom>
          <a:noFill/>
          <a:ln w="9525">
            <a:solidFill>
              <a:srgbClr val="051C2C"/>
            </a:solidFill>
            <a:prstDash val="solid"/>
          </a:ln>
        </p:spPr>
      </p:sp>
      <p:sp>
        <p:nvSpPr>
          <p:cNvPr id="11" name="Text 8"/>
          <p:cNvSpPr/>
          <p:nvPr/>
        </p:nvSpPr>
        <p:spPr>
          <a:xfrm>
            <a:off x="512064" y="1865376"/>
            <a:ext cx="914400" cy="420624"/>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Title</a:t>
            </a:r>
            <a:endParaRPr lang="en-US" sz="1050" dirty="0"/>
          </a:p>
        </p:txBody>
      </p:sp>
      <p:sp>
        <p:nvSpPr>
          <p:cNvPr id="12" name="Text 9"/>
          <p:cNvSpPr/>
          <p:nvPr/>
        </p:nvSpPr>
        <p:spPr>
          <a:xfrm>
            <a:off x="1472184" y="1865376"/>
            <a:ext cx="3977640" cy="420624"/>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Subject line, cleaned of Re, Fwd and Reminder prefixes</a:t>
            </a:r>
            <a:endParaRPr lang="en-US" sz="1000" dirty="0"/>
          </a:p>
        </p:txBody>
      </p:sp>
      <p:sp>
        <p:nvSpPr>
          <p:cNvPr id="13" name="Shape 10"/>
          <p:cNvSpPr/>
          <p:nvPr/>
        </p:nvSpPr>
        <p:spPr>
          <a:xfrm>
            <a:off x="512064" y="2340864"/>
            <a:ext cx="4937760" cy="0"/>
          </a:xfrm>
          <a:prstGeom prst="line">
            <a:avLst/>
          </a:prstGeom>
          <a:noFill/>
          <a:ln w="6350">
            <a:solidFill>
              <a:srgbClr val="D0D0D0"/>
            </a:solidFill>
            <a:prstDash val="solid"/>
          </a:ln>
        </p:spPr>
      </p:sp>
      <p:sp>
        <p:nvSpPr>
          <p:cNvPr id="14" name="Text 11"/>
          <p:cNvSpPr/>
          <p:nvPr/>
        </p:nvSpPr>
        <p:spPr>
          <a:xfrm>
            <a:off x="512064" y="2377440"/>
            <a:ext cx="914400" cy="420624"/>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Date</a:t>
            </a:r>
            <a:endParaRPr lang="en-US" sz="1050" dirty="0"/>
          </a:p>
        </p:txBody>
      </p:sp>
      <p:sp>
        <p:nvSpPr>
          <p:cNvPr id="15" name="Text 12"/>
          <p:cNvSpPr/>
          <p:nvPr/>
        </p:nvSpPr>
        <p:spPr>
          <a:xfrm>
            <a:off x="1472184" y="2377440"/>
            <a:ext cx="3977640" cy="420624"/>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Five formats: 18 July, 18/07/2026, 18.07.2026, tomorrow, this Friday</a:t>
            </a:r>
            <a:endParaRPr lang="en-US" sz="1000" dirty="0"/>
          </a:p>
        </p:txBody>
      </p:sp>
      <p:sp>
        <p:nvSpPr>
          <p:cNvPr id="16" name="Shape 13"/>
          <p:cNvSpPr/>
          <p:nvPr/>
        </p:nvSpPr>
        <p:spPr>
          <a:xfrm>
            <a:off x="512064" y="2852928"/>
            <a:ext cx="4937760" cy="0"/>
          </a:xfrm>
          <a:prstGeom prst="line">
            <a:avLst/>
          </a:prstGeom>
          <a:noFill/>
          <a:ln w="6350">
            <a:solidFill>
              <a:srgbClr val="D0D0D0"/>
            </a:solidFill>
            <a:prstDash val="solid"/>
          </a:ln>
        </p:spPr>
      </p:sp>
      <p:sp>
        <p:nvSpPr>
          <p:cNvPr id="17" name="Text 14"/>
          <p:cNvSpPr/>
          <p:nvPr/>
        </p:nvSpPr>
        <p:spPr>
          <a:xfrm>
            <a:off x="512064" y="2889504"/>
            <a:ext cx="914400" cy="420624"/>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Time</a:t>
            </a:r>
            <a:endParaRPr lang="en-US" sz="1050" dirty="0"/>
          </a:p>
        </p:txBody>
      </p:sp>
      <p:sp>
        <p:nvSpPr>
          <p:cNvPr id="18" name="Text 15"/>
          <p:cNvSpPr/>
          <p:nvPr/>
        </p:nvSpPr>
        <p:spPr>
          <a:xfrm>
            <a:off x="1472184" y="2889504"/>
            <a:ext cx="3977640" cy="420624"/>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6:30 PM, 6.30 pm, 1730 hrs, 17:00, noon, and ranges</a:t>
            </a:r>
            <a:endParaRPr lang="en-US" sz="1000" dirty="0"/>
          </a:p>
        </p:txBody>
      </p:sp>
      <p:sp>
        <p:nvSpPr>
          <p:cNvPr id="19" name="Shape 16"/>
          <p:cNvSpPr/>
          <p:nvPr/>
        </p:nvSpPr>
        <p:spPr>
          <a:xfrm>
            <a:off x="512064" y="3364992"/>
            <a:ext cx="4937760" cy="0"/>
          </a:xfrm>
          <a:prstGeom prst="line">
            <a:avLst/>
          </a:prstGeom>
          <a:noFill/>
          <a:ln w="6350">
            <a:solidFill>
              <a:srgbClr val="D0D0D0"/>
            </a:solidFill>
            <a:prstDash val="solid"/>
          </a:ln>
        </p:spPr>
      </p:sp>
      <p:sp>
        <p:nvSpPr>
          <p:cNvPr id="20" name="Text 17"/>
          <p:cNvSpPr/>
          <p:nvPr/>
        </p:nvSpPr>
        <p:spPr>
          <a:xfrm>
            <a:off x="512064" y="3401568"/>
            <a:ext cx="914400" cy="420624"/>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Venue</a:t>
            </a:r>
            <a:endParaRPr lang="en-US" sz="1050" dirty="0"/>
          </a:p>
        </p:txBody>
      </p:sp>
      <p:sp>
        <p:nvSpPr>
          <p:cNvPr id="21" name="Text 18"/>
          <p:cNvSpPr/>
          <p:nvPr/>
        </p:nvSpPr>
        <p:spPr>
          <a:xfrm>
            <a:off x="1472184" y="3401568"/>
            <a:ext cx="3977640" cy="420624"/>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Campus gazetteer: RJM Auditorium, KLMDC, CR-1 to CR-4, LKP</a:t>
            </a:r>
            <a:endParaRPr lang="en-US" sz="1000" dirty="0"/>
          </a:p>
        </p:txBody>
      </p:sp>
      <p:sp>
        <p:nvSpPr>
          <p:cNvPr id="22" name="Shape 19"/>
          <p:cNvSpPr/>
          <p:nvPr/>
        </p:nvSpPr>
        <p:spPr>
          <a:xfrm>
            <a:off x="512064" y="3877056"/>
            <a:ext cx="4937760" cy="0"/>
          </a:xfrm>
          <a:prstGeom prst="line">
            <a:avLst/>
          </a:prstGeom>
          <a:noFill/>
          <a:ln w="6350">
            <a:solidFill>
              <a:srgbClr val="D0D0D0"/>
            </a:solidFill>
            <a:prstDash val="solid"/>
          </a:ln>
        </p:spPr>
      </p:sp>
      <p:sp>
        <p:nvSpPr>
          <p:cNvPr id="23" name="Text 20"/>
          <p:cNvSpPr/>
          <p:nvPr/>
        </p:nvSpPr>
        <p:spPr>
          <a:xfrm>
            <a:off x="512064" y="3913632"/>
            <a:ext cx="914400" cy="420624"/>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Links</a:t>
            </a:r>
            <a:endParaRPr lang="en-US" sz="1050" dirty="0"/>
          </a:p>
        </p:txBody>
      </p:sp>
      <p:sp>
        <p:nvSpPr>
          <p:cNvPr id="24" name="Text 21"/>
          <p:cNvSpPr/>
          <p:nvPr/>
        </p:nvSpPr>
        <p:spPr>
          <a:xfrm>
            <a:off x="1472184" y="3913632"/>
            <a:ext cx="3977640" cy="420624"/>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Registration, meeting, resource; tracking links dropped</a:t>
            </a:r>
            <a:endParaRPr lang="en-US" sz="1000" dirty="0"/>
          </a:p>
        </p:txBody>
      </p:sp>
      <p:sp>
        <p:nvSpPr>
          <p:cNvPr id="25" name="Shape 22"/>
          <p:cNvSpPr/>
          <p:nvPr/>
        </p:nvSpPr>
        <p:spPr>
          <a:xfrm>
            <a:off x="512064" y="4389120"/>
            <a:ext cx="4937760" cy="0"/>
          </a:xfrm>
          <a:prstGeom prst="line">
            <a:avLst/>
          </a:prstGeom>
          <a:noFill/>
          <a:ln w="6350">
            <a:solidFill>
              <a:srgbClr val="D0D0D0"/>
            </a:solidFill>
            <a:prstDash val="solid"/>
          </a:ln>
        </p:spPr>
      </p:sp>
      <p:sp>
        <p:nvSpPr>
          <p:cNvPr id="26" name="Text 23"/>
          <p:cNvSpPr/>
          <p:nvPr/>
        </p:nvSpPr>
        <p:spPr>
          <a:xfrm>
            <a:off x="512064" y="4535424"/>
            <a:ext cx="4937760" cy="402336"/>
          </a:xfrm>
          <a:prstGeom prst="rect">
            <a:avLst/>
          </a:prstGeom>
          <a:noFill/>
          <a:ln/>
        </p:spPr>
        <p:txBody>
          <a:bodyPr wrap="square" lIns="0" tIns="0" rIns="0" bIns="0" rtlCol="0" anchor="ctr"/>
          <a:lstStyle/>
          <a:p>
            <a:pPr indent="0" marL="0">
              <a:lnSpc>
                <a:spcPct val="114000"/>
              </a:lnSpc>
              <a:buNone/>
            </a:pPr>
            <a:r>
              <a:rPr lang="en-US" sz="1000" dirty="0">
                <a:solidFill>
                  <a:srgbClr val="7F7F7F"/>
                </a:solidFill>
                <a:latin typeface="Arial" pitchFamily="34" charset="0"/>
                <a:ea typeface="Arial" pitchFamily="34" charset="-122"/>
                <a:cs typeface="Arial" pitchFamily="34" charset="-120"/>
              </a:rPr>
              <a:t>Every draft also carries a confidence score, shown to the student as a percentage before the event is saved</a:t>
            </a:r>
            <a:endParaRPr lang="en-US" sz="1000" dirty="0"/>
          </a:p>
        </p:txBody>
      </p:sp>
      <p:sp>
        <p:nvSpPr>
          <p:cNvPr id="27" name="Text 24"/>
          <p:cNvSpPr/>
          <p:nvPr/>
        </p:nvSpPr>
        <p:spPr>
          <a:xfrm>
            <a:off x="6035040" y="1463040"/>
            <a:ext cx="530352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The surety gate, applied before any automatic add</a:t>
            </a:r>
            <a:endParaRPr lang="en-US" sz="1200" dirty="0"/>
          </a:p>
        </p:txBody>
      </p:sp>
      <p:sp>
        <p:nvSpPr>
          <p:cNvPr id="28" name="Shape 25"/>
          <p:cNvSpPr/>
          <p:nvPr/>
        </p:nvSpPr>
        <p:spPr>
          <a:xfrm>
            <a:off x="6035040" y="1773936"/>
            <a:ext cx="5303520" cy="0"/>
          </a:xfrm>
          <a:prstGeom prst="line">
            <a:avLst/>
          </a:prstGeom>
          <a:noFill/>
          <a:ln w="9525">
            <a:solidFill>
              <a:srgbClr val="051C2C"/>
            </a:solidFill>
            <a:prstDash val="solid"/>
          </a:ln>
        </p:spPr>
      </p:sp>
      <p:sp>
        <p:nvSpPr>
          <p:cNvPr id="29" name="Shape 26"/>
          <p:cNvSpPr/>
          <p:nvPr/>
        </p:nvSpPr>
        <p:spPr>
          <a:xfrm>
            <a:off x="6035040" y="1938528"/>
            <a:ext cx="219456" cy="219456"/>
          </a:xfrm>
          <a:prstGeom prst="ellipse">
            <a:avLst/>
          </a:prstGeom>
          <a:solidFill>
            <a:srgbClr val="051C2C"/>
          </a:solidFill>
          <a:ln w="12700">
            <a:solidFill>
              <a:srgbClr val="051C2C"/>
            </a:solidFill>
            <a:prstDash val="solid"/>
          </a:ln>
        </p:spPr>
      </p:sp>
      <p:sp>
        <p:nvSpPr>
          <p:cNvPr id="30" name="Text 27"/>
          <p:cNvSpPr/>
          <p:nvPr/>
        </p:nvSpPr>
        <p:spPr>
          <a:xfrm>
            <a:off x="6035040" y="1938528"/>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1</a:t>
            </a:r>
            <a:endParaRPr lang="en-US" sz="850" dirty="0"/>
          </a:p>
        </p:txBody>
      </p:sp>
      <p:sp>
        <p:nvSpPr>
          <p:cNvPr id="31" name="Text 28"/>
          <p:cNvSpPr/>
          <p:nvPr/>
        </p:nvSpPr>
        <p:spPr>
          <a:xfrm>
            <a:off x="6364224" y="1865376"/>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Allowed source</a:t>
            </a:r>
            <a:endParaRPr lang="en-US" sz="1050" dirty="0"/>
          </a:p>
        </p:txBody>
      </p:sp>
      <p:sp>
        <p:nvSpPr>
          <p:cNvPr id="32" name="Text 29"/>
          <p:cNvSpPr/>
          <p:nvPr/>
        </p:nvSpPr>
        <p:spPr>
          <a:xfrm>
            <a:off x="8083296" y="1865376"/>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Denylisted labels are dropped outright</a:t>
            </a:r>
            <a:endParaRPr lang="en-US" sz="1000" dirty="0"/>
          </a:p>
        </p:txBody>
      </p:sp>
      <p:sp>
        <p:nvSpPr>
          <p:cNvPr id="33" name="Text 30"/>
          <p:cNvSpPr/>
          <p:nvPr/>
        </p:nvSpPr>
        <p:spPr>
          <a:xfrm>
            <a:off x="10259568" y="1865376"/>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4 labels blocked</a:t>
            </a:r>
            <a:endParaRPr lang="en-US" sz="900" dirty="0"/>
          </a:p>
        </p:txBody>
      </p:sp>
      <p:sp>
        <p:nvSpPr>
          <p:cNvPr id="34" name="Shape 31"/>
          <p:cNvSpPr/>
          <p:nvPr/>
        </p:nvSpPr>
        <p:spPr>
          <a:xfrm>
            <a:off x="6035040" y="2340864"/>
            <a:ext cx="5303520" cy="0"/>
          </a:xfrm>
          <a:prstGeom prst="line">
            <a:avLst/>
          </a:prstGeom>
          <a:noFill/>
          <a:ln w="6350">
            <a:solidFill>
              <a:srgbClr val="D0D0D0"/>
            </a:solidFill>
            <a:prstDash val="solid"/>
          </a:ln>
        </p:spPr>
      </p:sp>
      <p:sp>
        <p:nvSpPr>
          <p:cNvPr id="35" name="Shape 32"/>
          <p:cNvSpPr/>
          <p:nvPr/>
        </p:nvSpPr>
        <p:spPr>
          <a:xfrm>
            <a:off x="6035040" y="2450592"/>
            <a:ext cx="219456" cy="219456"/>
          </a:xfrm>
          <a:prstGeom prst="ellipse">
            <a:avLst/>
          </a:prstGeom>
          <a:solidFill>
            <a:srgbClr val="051C2C"/>
          </a:solidFill>
          <a:ln w="12700">
            <a:solidFill>
              <a:srgbClr val="051C2C"/>
            </a:solidFill>
            <a:prstDash val="solid"/>
          </a:ln>
        </p:spPr>
      </p:sp>
      <p:sp>
        <p:nvSpPr>
          <p:cNvPr id="36" name="Text 33"/>
          <p:cNvSpPr/>
          <p:nvPr/>
        </p:nvSpPr>
        <p:spPr>
          <a:xfrm>
            <a:off x="6035040" y="2450592"/>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2</a:t>
            </a:r>
            <a:endParaRPr lang="en-US" sz="850" dirty="0"/>
          </a:p>
        </p:txBody>
      </p:sp>
      <p:sp>
        <p:nvSpPr>
          <p:cNvPr id="37" name="Text 34"/>
          <p:cNvSpPr/>
          <p:nvPr/>
        </p:nvSpPr>
        <p:spPr>
          <a:xfrm>
            <a:off x="6364224" y="2377440"/>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A parseable date</a:t>
            </a:r>
            <a:endParaRPr lang="en-US" sz="1050" dirty="0"/>
          </a:p>
        </p:txBody>
      </p:sp>
      <p:sp>
        <p:nvSpPr>
          <p:cNvPr id="38" name="Text 35"/>
          <p:cNvSpPr/>
          <p:nvPr/>
        </p:nvSpPr>
        <p:spPr>
          <a:xfrm>
            <a:off x="8083296" y="2377440"/>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No date, no event</a:t>
            </a:r>
            <a:endParaRPr lang="en-US" sz="1000" dirty="0"/>
          </a:p>
        </p:txBody>
      </p:sp>
      <p:sp>
        <p:nvSpPr>
          <p:cNvPr id="39" name="Text 36"/>
          <p:cNvSpPr/>
          <p:nvPr/>
        </p:nvSpPr>
        <p:spPr>
          <a:xfrm>
            <a:off x="10259568" y="2377440"/>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quoted text stripped¹</a:t>
            </a:r>
            <a:endParaRPr lang="en-US" sz="900" dirty="0"/>
          </a:p>
        </p:txBody>
      </p:sp>
      <p:sp>
        <p:nvSpPr>
          <p:cNvPr id="40" name="Shape 37"/>
          <p:cNvSpPr/>
          <p:nvPr/>
        </p:nvSpPr>
        <p:spPr>
          <a:xfrm>
            <a:off x="6035040" y="2852928"/>
            <a:ext cx="5303520" cy="0"/>
          </a:xfrm>
          <a:prstGeom prst="line">
            <a:avLst/>
          </a:prstGeom>
          <a:noFill/>
          <a:ln w="6350">
            <a:solidFill>
              <a:srgbClr val="D0D0D0"/>
            </a:solidFill>
            <a:prstDash val="solid"/>
          </a:ln>
        </p:spPr>
      </p:sp>
      <p:sp>
        <p:nvSpPr>
          <p:cNvPr id="41" name="Shape 38"/>
          <p:cNvSpPr/>
          <p:nvPr/>
        </p:nvSpPr>
        <p:spPr>
          <a:xfrm>
            <a:off x="6035040" y="2962656"/>
            <a:ext cx="219456" cy="219456"/>
          </a:xfrm>
          <a:prstGeom prst="ellipse">
            <a:avLst/>
          </a:prstGeom>
          <a:solidFill>
            <a:srgbClr val="051C2C"/>
          </a:solidFill>
          <a:ln w="12700">
            <a:solidFill>
              <a:srgbClr val="051C2C"/>
            </a:solidFill>
            <a:prstDash val="solid"/>
          </a:ln>
        </p:spPr>
      </p:sp>
      <p:sp>
        <p:nvSpPr>
          <p:cNvPr id="42" name="Text 39"/>
          <p:cNvSpPr/>
          <p:nvPr/>
        </p:nvSpPr>
        <p:spPr>
          <a:xfrm>
            <a:off x="6035040" y="2962656"/>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3</a:t>
            </a:r>
            <a:endParaRPr lang="en-US" sz="850" dirty="0"/>
          </a:p>
        </p:txBody>
      </p:sp>
      <p:sp>
        <p:nvSpPr>
          <p:cNvPr id="43" name="Text 40"/>
          <p:cNvSpPr/>
          <p:nvPr/>
        </p:nvSpPr>
        <p:spPr>
          <a:xfrm>
            <a:off x="6364224" y="2889504"/>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A corroborating signal</a:t>
            </a:r>
            <a:endParaRPr lang="en-US" sz="1050" dirty="0"/>
          </a:p>
        </p:txBody>
      </p:sp>
      <p:sp>
        <p:nvSpPr>
          <p:cNvPr id="44" name="Text 41"/>
          <p:cNvSpPr/>
          <p:nvPr/>
        </p:nvSpPr>
        <p:spPr>
          <a:xfrm>
            <a:off x="8083296" y="2889504"/>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A time, a venue, or event language</a:t>
            </a:r>
            <a:endParaRPr lang="en-US" sz="1000" dirty="0"/>
          </a:p>
        </p:txBody>
      </p:sp>
      <p:sp>
        <p:nvSpPr>
          <p:cNvPr id="45" name="Text 42"/>
          <p:cNvSpPr/>
          <p:nvPr/>
        </p:nvSpPr>
        <p:spPr>
          <a:xfrm>
            <a:off x="10259568" y="2889504"/>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237 keywords</a:t>
            </a:r>
            <a:endParaRPr lang="en-US" sz="900" dirty="0"/>
          </a:p>
        </p:txBody>
      </p:sp>
      <p:sp>
        <p:nvSpPr>
          <p:cNvPr id="46" name="Shape 43"/>
          <p:cNvSpPr/>
          <p:nvPr/>
        </p:nvSpPr>
        <p:spPr>
          <a:xfrm>
            <a:off x="6035040" y="3364992"/>
            <a:ext cx="5303520" cy="0"/>
          </a:xfrm>
          <a:prstGeom prst="line">
            <a:avLst/>
          </a:prstGeom>
          <a:noFill/>
          <a:ln w="6350">
            <a:solidFill>
              <a:srgbClr val="D0D0D0"/>
            </a:solidFill>
            <a:prstDash val="solid"/>
          </a:ln>
        </p:spPr>
      </p:sp>
      <p:sp>
        <p:nvSpPr>
          <p:cNvPr id="47" name="Shape 44"/>
          <p:cNvSpPr/>
          <p:nvPr/>
        </p:nvSpPr>
        <p:spPr>
          <a:xfrm>
            <a:off x="6035040" y="3474720"/>
            <a:ext cx="219456" cy="219456"/>
          </a:xfrm>
          <a:prstGeom prst="ellipse">
            <a:avLst/>
          </a:prstGeom>
          <a:solidFill>
            <a:srgbClr val="051C2C"/>
          </a:solidFill>
          <a:ln w="12700">
            <a:solidFill>
              <a:srgbClr val="051C2C"/>
            </a:solidFill>
            <a:prstDash val="solid"/>
          </a:ln>
        </p:spPr>
      </p:sp>
      <p:sp>
        <p:nvSpPr>
          <p:cNvPr id="48" name="Text 45"/>
          <p:cNvSpPr/>
          <p:nvPr/>
        </p:nvSpPr>
        <p:spPr>
          <a:xfrm>
            <a:off x="6035040" y="3474720"/>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4</a:t>
            </a:r>
            <a:endParaRPr lang="en-US" sz="850" dirty="0"/>
          </a:p>
        </p:txBody>
      </p:sp>
      <p:sp>
        <p:nvSpPr>
          <p:cNvPr id="49" name="Text 46"/>
          <p:cNvSpPr/>
          <p:nvPr/>
        </p:nvSpPr>
        <p:spPr>
          <a:xfrm>
            <a:off x="6364224" y="3401568"/>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Date certainty</a:t>
            </a:r>
            <a:endParaRPr lang="en-US" sz="1050" dirty="0"/>
          </a:p>
        </p:txBody>
      </p:sp>
      <p:sp>
        <p:nvSpPr>
          <p:cNvPr id="50" name="Text 47"/>
          <p:cNvSpPr/>
          <p:nvPr/>
        </p:nvSpPr>
        <p:spPr>
          <a:xfrm>
            <a:off x="8083296" y="3401568"/>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Vague dates need a time or venue²</a:t>
            </a:r>
            <a:endParaRPr lang="en-US" sz="1000" dirty="0"/>
          </a:p>
        </p:txBody>
      </p:sp>
      <p:sp>
        <p:nvSpPr>
          <p:cNvPr id="51" name="Text 48"/>
          <p:cNvSpPr/>
          <p:nvPr/>
        </p:nvSpPr>
        <p:spPr>
          <a:xfrm>
            <a:off x="10259568" y="3401568"/>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explicit dates preferred</a:t>
            </a:r>
            <a:endParaRPr lang="en-US" sz="900" dirty="0"/>
          </a:p>
        </p:txBody>
      </p:sp>
      <p:sp>
        <p:nvSpPr>
          <p:cNvPr id="52" name="Shape 49"/>
          <p:cNvSpPr/>
          <p:nvPr/>
        </p:nvSpPr>
        <p:spPr>
          <a:xfrm>
            <a:off x="6035040" y="3877056"/>
            <a:ext cx="5303520" cy="0"/>
          </a:xfrm>
          <a:prstGeom prst="line">
            <a:avLst/>
          </a:prstGeom>
          <a:noFill/>
          <a:ln w="6350">
            <a:solidFill>
              <a:srgbClr val="D0D0D0"/>
            </a:solidFill>
            <a:prstDash val="solid"/>
          </a:ln>
        </p:spPr>
      </p:sp>
      <p:sp>
        <p:nvSpPr>
          <p:cNvPr id="53" name="Shape 50"/>
          <p:cNvSpPr/>
          <p:nvPr/>
        </p:nvSpPr>
        <p:spPr>
          <a:xfrm>
            <a:off x="6035040" y="3986784"/>
            <a:ext cx="219456" cy="219456"/>
          </a:xfrm>
          <a:prstGeom prst="ellipse">
            <a:avLst/>
          </a:prstGeom>
          <a:solidFill>
            <a:srgbClr val="051C2C"/>
          </a:solidFill>
          <a:ln w="12700">
            <a:solidFill>
              <a:srgbClr val="051C2C"/>
            </a:solidFill>
            <a:prstDash val="solid"/>
          </a:ln>
        </p:spPr>
      </p:sp>
      <p:sp>
        <p:nvSpPr>
          <p:cNvPr id="54" name="Text 51"/>
          <p:cNvSpPr/>
          <p:nvPr/>
        </p:nvSpPr>
        <p:spPr>
          <a:xfrm>
            <a:off x="6035040" y="3986784"/>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5</a:t>
            </a:r>
            <a:endParaRPr lang="en-US" sz="850" dirty="0"/>
          </a:p>
        </p:txBody>
      </p:sp>
      <p:sp>
        <p:nvSpPr>
          <p:cNvPr id="55" name="Text 52"/>
          <p:cNvSpPr/>
          <p:nvPr/>
        </p:nvSpPr>
        <p:spPr>
          <a:xfrm>
            <a:off x="6364224" y="3913632"/>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Not in the past</a:t>
            </a:r>
            <a:endParaRPr lang="en-US" sz="1050" dirty="0"/>
          </a:p>
        </p:txBody>
      </p:sp>
      <p:sp>
        <p:nvSpPr>
          <p:cNvPr id="56" name="Text 53"/>
          <p:cNvSpPr/>
          <p:nvPr/>
        </p:nvSpPr>
        <p:spPr>
          <a:xfrm>
            <a:off x="8083296" y="3913632"/>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Past dated mail is never added</a:t>
            </a:r>
            <a:endParaRPr lang="en-US" sz="1000" dirty="0"/>
          </a:p>
        </p:txBody>
      </p:sp>
      <p:sp>
        <p:nvSpPr>
          <p:cNvPr id="57" name="Text 54"/>
          <p:cNvSpPr/>
          <p:nvPr/>
        </p:nvSpPr>
        <p:spPr>
          <a:xfrm>
            <a:off x="10259568" y="3913632"/>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date compared to today</a:t>
            </a:r>
            <a:endParaRPr lang="en-US" sz="900" dirty="0"/>
          </a:p>
        </p:txBody>
      </p:sp>
      <p:sp>
        <p:nvSpPr>
          <p:cNvPr id="58" name="Shape 55"/>
          <p:cNvSpPr/>
          <p:nvPr/>
        </p:nvSpPr>
        <p:spPr>
          <a:xfrm>
            <a:off x="6035040" y="4389120"/>
            <a:ext cx="5303520" cy="0"/>
          </a:xfrm>
          <a:prstGeom prst="line">
            <a:avLst/>
          </a:prstGeom>
          <a:noFill/>
          <a:ln w="6350">
            <a:solidFill>
              <a:srgbClr val="D0D0D0"/>
            </a:solidFill>
            <a:prstDash val="solid"/>
          </a:ln>
        </p:spPr>
      </p:sp>
      <p:sp>
        <p:nvSpPr>
          <p:cNvPr id="59" name="Shape 56"/>
          <p:cNvSpPr/>
          <p:nvPr/>
        </p:nvSpPr>
        <p:spPr>
          <a:xfrm>
            <a:off x="6035040" y="4498848"/>
            <a:ext cx="219456" cy="219456"/>
          </a:xfrm>
          <a:prstGeom prst="ellipse">
            <a:avLst/>
          </a:prstGeom>
          <a:solidFill>
            <a:srgbClr val="051C2C"/>
          </a:solidFill>
          <a:ln w="12700">
            <a:solidFill>
              <a:srgbClr val="051C2C"/>
            </a:solidFill>
            <a:prstDash val="solid"/>
          </a:ln>
        </p:spPr>
      </p:sp>
      <p:sp>
        <p:nvSpPr>
          <p:cNvPr id="60" name="Text 57"/>
          <p:cNvSpPr/>
          <p:nvPr/>
        </p:nvSpPr>
        <p:spPr>
          <a:xfrm>
            <a:off x="6035040" y="4498848"/>
            <a:ext cx="219456"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6</a:t>
            </a:r>
            <a:endParaRPr lang="en-US" sz="850" dirty="0"/>
          </a:p>
        </p:txBody>
      </p:sp>
      <p:sp>
        <p:nvSpPr>
          <p:cNvPr id="61" name="Text 58"/>
          <p:cNvSpPr/>
          <p:nvPr/>
        </p:nvSpPr>
        <p:spPr>
          <a:xfrm>
            <a:off x="6364224" y="4425696"/>
            <a:ext cx="1691640" cy="402336"/>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Not a duplicate</a:t>
            </a:r>
            <a:endParaRPr lang="en-US" sz="1050" dirty="0"/>
          </a:p>
        </p:txBody>
      </p:sp>
      <p:sp>
        <p:nvSpPr>
          <p:cNvPr id="62" name="Text 59"/>
          <p:cNvSpPr/>
          <p:nvPr/>
        </p:nvSpPr>
        <p:spPr>
          <a:xfrm>
            <a:off x="8083296" y="4425696"/>
            <a:ext cx="2148840" cy="402336"/>
          </a:xfrm>
          <a:prstGeom prst="rect">
            <a:avLst/>
          </a:prstGeom>
          <a:noFill/>
          <a:ln/>
        </p:spPr>
        <p:txBody>
          <a:bodyPr wrap="square" lIns="0" tIns="0" rIns="0" bIns="0" rtlCol="0" anchor="ctr"/>
          <a:lstStyle/>
          <a:p>
            <a:pPr indent="0" marL="0">
              <a:lnSpc>
                <a:spcPct val="108000"/>
              </a:lnSpc>
              <a:buNone/>
            </a:pPr>
            <a:r>
              <a:rPr lang="en-US" sz="1000" dirty="0">
                <a:solidFill>
                  <a:srgbClr val="333333"/>
                </a:solidFill>
                <a:latin typeface="Arial" pitchFamily="34" charset="0"/>
                <a:ea typeface="Arial" pitchFamily="34" charset="-122"/>
                <a:cs typeface="Arial" pitchFamily="34" charset="-120"/>
              </a:rPr>
              <a:t>Same title and date is skipped</a:t>
            </a:r>
            <a:endParaRPr lang="en-US" sz="1000" dirty="0"/>
          </a:p>
        </p:txBody>
      </p:sp>
      <p:sp>
        <p:nvSpPr>
          <p:cNvPr id="63" name="Text 60"/>
          <p:cNvSpPr/>
          <p:nvPr/>
        </p:nvSpPr>
        <p:spPr>
          <a:xfrm>
            <a:off x="10259568" y="4425696"/>
            <a:ext cx="1078992" cy="402336"/>
          </a:xfrm>
          <a:prstGeom prst="rect">
            <a:avLst/>
          </a:prstGeom>
          <a:noFill/>
          <a:ln/>
        </p:spPr>
        <p:txBody>
          <a:bodyPr wrap="square" lIns="0" tIns="0" rIns="0" bIns="0" rtlCol="0" anchor="ctr"/>
          <a:lstStyle/>
          <a:p>
            <a:pPr indent="0" marL="0">
              <a:lnSpc>
                <a:spcPct val="108000"/>
              </a:lnSpc>
              <a:buNone/>
            </a:pPr>
            <a:r>
              <a:rPr lang="en-US" sz="900" dirty="0">
                <a:solidFill>
                  <a:srgbClr val="7F7F7F"/>
                </a:solidFill>
                <a:latin typeface="Arial" pitchFamily="34" charset="0"/>
                <a:ea typeface="Arial" pitchFamily="34" charset="-122"/>
                <a:cs typeface="Arial" pitchFamily="34" charset="-120"/>
              </a:rPr>
              <a:t>plus Gmail message id</a:t>
            </a:r>
            <a:endParaRPr lang="en-US" sz="900" dirty="0"/>
          </a:p>
        </p:txBody>
      </p:sp>
      <p:sp>
        <p:nvSpPr>
          <p:cNvPr id="64" name="Shape 61"/>
          <p:cNvSpPr/>
          <p:nvPr/>
        </p:nvSpPr>
        <p:spPr>
          <a:xfrm>
            <a:off x="6035040" y="4901184"/>
            <a:ext cx="5303520" cy="0"/>
          </a:xfrm>
          <a:prstGeom prst="line">
            <a:avLst/>
          </a:prstGeom>
          <a:noFill/>
          <a:ln w="6350">
            <a:solidFill>
              <a:srgbClr val="D0D0D0"/>
            </a:solidFill>
            <a:prstDash val="solid"/>
          </a:ln>
        </p:spPr>
      </p:sp>
      <p:sp>
        <p:nvSpPr>
          <p:cNvPr id="65" name="Text 62"/>
          <p:cNvSpPr/>
          <p:nvPr/>
        </p:nvSpPr>
        <p:spPr>
          <a:xfrm>
            <a:off x="6035040" y="5047488"/>
            <a:ext cx="5303520" cy="512064"/>
          </a:xfrm>
          <a:prstGeom prst="rect">
            <a:avLst/>
          </a:prstGeom>
          <a:noFill/>
          <a:ln/>
        </p:spPr>
        <p:txBody>
          <a:bodyPr wrap="square" lIns="0" tIns="0" rIns="0" bIns="0" rtlCol="0" anchor="ctr"/>
          <a:lstStyle/>
          <a:p>
            <a:pPr indent="0" marL="0">
              <a:lnSpc>
                <a:spcPct val="114000"/>
              </a:lnSpc>
              <a:buNone/>
            </a:pPr>
            <a:r>
              <a:rPr lang="en-US" sz="1000" b="1" dirty="0">
                <a:solidFill>
                  <a:srgbClr val="051C2C"/>
                </a:solidFill>
                <a:latin typeface="Arial" pitchFamily="34" charset="0"/>
                <a:ea typeface="Arial" pitchFamily="34" charset="-122"/>
                <a:cs typeface="Arial" pitchFamily="34" charset="-120"/>
              </a:rPr>
              <a:t>Nothing is lost when the gate rejects a mail:  </a:t>
            </a:r>
            <a:pPr indent="0" marL="0">
              <a:lnSpc>
                <a:spcPct val="114000"/>
              </a:lnSpc>
              <a:buNone/>
            </a:pPr>
            <a:r>
              <a:rPr lang="en-US" sz="1000" dirty="0">
                <a:solidFill>
                  <a:srgbClr val="333333"/>
                </a:solidFill>
                <a:latin typeface="Arial" pitchFamily="34" charset="0"/>
                <a:ea typeface="Arial" pitchFamily="34" charset="-122"/>
                <a:cs typeface="Arial" pitchFamily="34" charset="-120"/>
              </a:rPr>
              <a:t>it stays in the inbox with a one click Add to calendar button, which opens the same parsed draft for the student to correct and confirm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Registration links travel with the event, and one button writes the whole calendar into Google, reversibly</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Screenshots from the live prototype</a:t>
            </a:r>
            <a:endParaRPr lang="en-US" sz="900" dirty="0"/>
          </a:p>
        </p:txBody>
      </p:sp>
      <p:sp>
        <p:nvSpPr>
          <p:cNvPr id="5" name="Shape 3"/>
          <p:cNvSpPr/>
          <p:nvPr/>
        </p:nvSpPr>
        <p:spPr>
          <a:xfrm>
            <a:off x="512064" y="6400800"/>
            <a:ext cx="11173968" cy="0"/>
          </a:xfrm>
          <a:prstGeom prst="line">
            <a:avLst/>
          </a:prstGeom>
          <a:noFill/>
          <a:ln w="6350">
            <a:solidFill>
              <a:srgbClr val="D0D0D0"/>
            </a:solidFill>
            <a:prstDash val="solid"/>
          </a:ln>
        </p:spPr>
      </p:sp>
      <p:sp>
        <p:nvSpPr>
          <p:cNvPr id="6" name="Text 4"/>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event detail views, live IIMA Gmail account, 5 August 2026</a:t>
            </a:r>
            <a:endParaRPr lang="en-US" sz="800" dirty="0"/>
          </a:p>
        </p:txBody>
      </p:sp>
      <p:sp>
        <p:nvSpPr>
          <p:cNvPr id="7" name="Text 5"/>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10</a:t>
            </a:r>
            <a:endParaRPr lang="en-US" sz="900" dirty="0"/>
          </a:p>
        </p:txBody>
      </p:sp>
      <p:pic>
        <p:nvPicPr>
          <p:cNvPr id="9" name="Image 0" descr="/sessions/admiring-lucid-franklin/mnt/Demo/deck/img/s212057.png">    </p:cNvPr>
          <p:cNvPicPr>
            <a:picLocks noChangeAspect="1"/>
          </p:cNvPicPr>
          <p:nvPr/>
        </p:nvPicPr>
        <p:blipFill>
          <a:blip r:embed="rId1"/>
          <a:stretch>
            <a:fillRect/>
          </a:stretch>
        </p:blipFill>
        <p:spPr>
          <a:xfrm>
            <a:off x="694944" y="1773936"/>
            <a:ext cx="3200400" cy="3400970"/>
          </a:xfrm>
          <a:prstGeom prst="rect">
            <a:avLst/>
          </a:prstGeom>
        </p:spPr>
      </p:pic>
      <p:sp>
        <p:nvSpPr>
          <p:cNvPr id="10" name="Text 6"/>
          <p:cNvSpPr/>
          <p:nvPr/>
        </p:nvSpPr>
        <p:spPr>
          <a:xfrm>
            <a:off x="512064" y="5431536"/>
            <a:ext cx="3566160" cy="237744"/>
          </a:xfrm>
          <a:prstGeom prst="rect">
            <a:avLst/>
          </a:prstGeom>
          <a:noFill/>
          <a:ln/>
        </p:spPr>
        <p:txBody>
          <a:bodyPr wrap="square" lIns="0" tIns="0" rIns="0" bIns="0" rtlCol="0" anchor="ctr"/>
          <a:lstStyle/>
          <a:p>
            <a:pPr algn="ctr" indent="0" marL="0">
              <a:buNone/>
            </a:pPr>
            <a:r>
              <a:rPr lang="en-US" sz="900" dirty="0">
                <a:solidFill>
                  <a:srgbClr val="7F7F7F"/>
                </a:solidFill>
                <a:latin typeface="Arial" pitchFamily="34" charset="0"/>
                <a:ea typeface="Arial" pitchFamily="34" charset="-122"/>
                <a:cs typeface="Arial" pitchFamily="34" charset="-120"/>
              </a:rPr>
              <a:t>Seminar parsed from mail, with the registration link promoted to a button</a:t>
            </a:r>
            <a:endParaRPr lang="en-US" sz="900" dirty="0"/>
          </a:p>
        </p:txBody>
      </p:sp>
      <p:pic>
        <p:nvPicPr>
          <p:cNvPr id="11" name="Image 1" descr="/sessions/admiring-lucid-franklin/mnt/Demo/deck/img/s212041.png">    </p:cNvPr>
          <p:cNvPicPr>
            <a:picLocks noChangeAspect="1"/>
          </p:cNvPicPr>
          <p:nvPr/>
        </p:nvPicPr>
        <p:blipFill>
          <a:blip r:embed="rId2"/>
          <a:stretch>
            <a:fillRect/>
          </a:stretch>
        </p:blipFill>
        <p:spPr>
          <a:xfrm>
            <a:off x="3977640" y="1773936"/>
            <a:ext cx="3291840" cy="2003377"/>
          </a:xfrm>
          <a:prstGeom prst="rect">
            <a:avLst/>
          </a:prstGeom>
        </p:spPr>
      </p:pic>
      <p:sp>
        <p:nvSpPr>
          <p:cNvPr id="12" name="Text 7"/>
          <p:cNvSpPr/>
          <p:nvPr/>
        </p:nvSpPr>
        <p:spPr>
          <a:xfrm>
            <a:off x="3886200" y="5431536"/>
            <a:ext cx="3474720" cy="237744"/>
          </a:xfrm>
          <a:prstGeom prst="rect">
            <a:avLst/>
          </a:prstGeom>
          <a:noFill/>
          <a:ln/>
        </p:spPr>
        <p:txBody>
          <a:bodyPr wrap="square" lIns="0" tIns="0" rIns="0" bIns="0" rtlCol="0" anchor="ctr"/>
          <a:lstStyle/>
          <a:p>
            <a:pPr algn="ctr" indent="0" marL="0">
              <a:buNone/>
            </a:pPr>
            <a:r>
              <a:rPr lang="en-US" sz="900" dirty="0">
                <a:solidFill>
                  <a:srgbClr val="7F7F7F"/>
                </a:solidFill>
                <a:latin typeface="Arial" pitchFamily="34" charset="0"/>
                <a:ea typeface="Arial" pitchFamily="34" charset="-122"/>
                <a:cs typeface="Arial" pitchFamily="34" charset="-120"/>
              </a:rPr>
              <a:t>Club event, synced to Google Calendar and traceable to its mail</a:t>
            </a:r>
            <a:endParaRPr lang="en-US" sz="900" dirty="0"/>
          </a:p>
        </p:txBody>
      </p:sp>
      <p:sp>
        <p:nvSpPr>
          <p:cNvPr id="13" name="Text 8"/>
          <p:cNvSpPr/>
          <p:nvPr/>
        </p:nvSpPr>
        <p:spPr>
          <a:xfrm>
            <a:off x="7772400" y="1737360"/>
            <a:ext cx="356616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Why these two matter</a:t>
            </a:r>
            <a:endParaRPr lang="en-US" sz="1200" dirty="0"/>
          </a:p>
        </p:txBody>
      </p:sp>
      <p:sp>
        <p:nvSpPr>
          <p:cNvPr id="14" name="Shape 9"/>
          <p:cNvSpPr/>
          <p:nvPr/>
        </p:nvSpPr>
        <p:spPr>
          <a:xfrm>
            <a:off x="7772400" y="2048256"/>
            <a:ext cx="3566160" cy="0"/>
          </a:xfrm>
          <a:prstGeom prst="line">
            <a:avLst/>
          </a:prstGeom>
          <a:noFill/>
          <a:ln w="6350">
            <a:solidFill>
              <a:srgbClr val="D0D0D0"/>
            </a:solidFill>
            <a:prstDash val="solid"/>
          </a:ln>
        </p:spPr>
      </p:sp>
      <p:sp>
        <p:nvSpPr>
          <p:cNvPr id="15" name="Text 10"/>
          <p:cNvSpPr/>
          <p:nvPr/>
        </p:nvSpPr>
        <p:spPr>
          <a:xfrm>
            <a:off x="7772400" y="2103120"/>
            <a:ext cx="356616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Registration in one tap</a:t>
            </a:r>
            <a:endParaRPr lang="en-US" sz="1100" dirty="0"/>
          </a:p>
        </p:txBody>
      </p:sp>
      <p:sp>
        <p:nvSpPr>
          <p:cNvPr id="16" name="Text 11"/>
          <p:cNvSpPr/>
          <p:nvPr/>
        </p:nvSpPr>
        <p:spPr>
          <a:xfrm>
            <a:off x="7772400" y="2359152"/>
            <a:ext cx="3566160" cy="621792"/>
          </a:xfrm>
          <a:prstGeom prst="rect">
            <a:avLst/>
          </a:prstGeom>
          <a:noFill/>
          <a:ln/>
        </p:spPr>
        <p:txBody>
          <a:bodyPr wrap="square" lIns="0" tIns="0" rIns="0" bIns="0" rtlCol="0" anchor="ctr"/>
          <a:lstStyle/>
          <a:p>
            <a:pPr indent="0" marL="0">
              <a:lnSpc>
                <a:spcPct val="114000"/>
              </a:lnSpc>
              <a:buNone/>
            </a:pPr>
            <a:r>
              <a:rPr lang="en-US" sz="1000" dirty="0">
                <a:solidFill>
                  <a:srgbClr val="333333"/>
                </a:solidFill>
                <a:latin typeface="Arial" pitchFamily="34" charset="0"/>
                <a:ea typeface="Arial" pitchFamily="34" charset="-122"/>
                <a:cs typeface="Arial" pitchFamily="34" charset="-120"/>
              </a:rPr>
              <a:t>The parser classifies every URL as registration, meeting, resource or tracking, and promotes the registration link to a button on the event</a:t>
            </a:r>
            <a:endParaRPr lang="en-US" sz="1000" dirty="0"/>
          </a:p>
        </p:txBody>
      </p:sp>
      <p:sp>
        <p:nvSpPr>
          <p:cNvPr id="17" name="Shape 12"/>
          <p:cNvSpPr/>
          <p:nvPr/>
        </p:nvSpPr>
        <p:spPr>
          <a:xfrm>
            <a:off x="7772400" y="3017520"/>
            <a:ext cx="3566160" cy="0"/>
          </a:xfrm>
          <a:prstGeom prst="line">
            <a:avLst/>
          </a:prstGeom>
          <a:noFill/>
          <a:ln w="6350">
            <a:solidFill>
              <a:srgbClr val="D0D0D0"/>
            </a:solidFill>
            <a:prstDash val="solid"/>
          </a:ln>
        </p:spPr>
      </p:sp>
      <p:sp>
        <p:nvSpPr>
          <p:cNvPr id="18" name="Text 13"/>
          <p:cNvSpPr/>
          <p:nvPr/>
        </p:nvSpPr>
        <p:spPr>
          <a:xfrm>
            <a:off x="7772400" y="3072384"/>
            <a:ext cx="356616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Provenance is visible</a:t>
            </a:r>
            <a:endParaRPr lang="en-US" sz="1100" dirty="0"/>
          </a:p>
        </p:txBody>
      </p:sp>
      <p:sp>
        <p:nvSpPr>
          <p:cNvPr id="19" name="Text 14"/>
          <p:cNvSpPr/>
          <p:nvPr/>
        </p:nvSpPr>
        <p:spPr>
          <a:xfrm>
            <a:off x="7772400" y="3328416"/>
            <a:ext cx="3566160" cy="621792"/>
          </a:xfrm>
          <a:prstGeom prst="rect">
            <a:avLst/>
          </a:prstGeom>
          <a:noFill/>
          <a:ln/>
        </p:spPr>
        <p:txBody>
          <a:bodyPr wrap="square" lIns="0" tIns="0" rIns="0" bIns="0" rtlCol="0" anchor="ctr"/>
          <a:lstStyle/>
          <a:p>
            <a:pPr indent="0" marL="0">
              <a:lnSpc>
                <a:spcPct val="114000"/>
              </a:lnSpc>
              <a:buNone/>
            </a:pPr>
            <a:r>
              <a:rPr lang="en-US" sz="1000" dirty="0">
                <a:solidFill>
                  <a:srgbClr val="333333"/>
                </a:solidFill>
                <a:latin typeface="Arial" pitchFamily="34" charset="0"/>
                <a:ea typeface="Arial" pitchFamily="34" charset="-122"/>
                <a:cs typeface="Arial" pitchFamily="34" charset="-120"/>
              </a:rPr>
              <a:t>Each event states the source label, the layer and the mail it came from, so any student can audit a parse</a:t>
            </a:r>
            <a:endParaRPr lang="en-US" sz="1000" dirty="0"/>
          </a:p>
        </p:txBody>
      </p:sp>
      <p:sp>
        <p:nvSpPr>
          <p:cNvPr id="20" name="Shape 15"/>
          <p:cNvSpPr/>
          <p:nvPr/>
        </p:nvSpPr>
        <p:spPr>
          <a:xfrm>
            <a:off x="7772400" y="3986784"/>
            <a:ext cx="3566160" cy="0"/>
          </a:xfrm>
          <a:prstGeom prst="line">
            <a:avLst/>
          </a:prstGeom>
          <a:noFill/>
          <a:ln w="6350">
            <a:solidFill>
              <a:srgbClr val="D0D0D0"/>
            </a:solidFill>
            <a:prstDash val="solid"/>
          </a:ln>
        </p:spPr>
      </p:sp>
      <p:sp>
        <p:nvSpPr>
          <p:cNvPr id="21" name="Text 16"/>
          <p:cNvSpPr/>
          <p:nvPr/>
        </p:nvSpPr>
        <p:spPr>
          <a:xfrm>
            <a:off x="7772400" y="4041648"/>
            <a:ext cx="356616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Push is idempotent</a:t>
            </a:r>
            <a:endParaRPr lang="en-US" sz="1100" dirty="0"/>
          </a:p>
        </p:txBody>
      </p:sp>
      <p:sp>
        <p:nvSpPr>
          <p:cNvPr id="22" name="Text 17"/>
          <p:cNvSpPr/>
          <p:nvPr/>
        </p:nvSpPr>
        <p:spPr>
          <a:xfrm>
            <a:off x="7772400" y="4297680"/>
            <a:ext cx="3566160" cy="621792"/>
          </a:xfrm>
          <a:prstGeom prst="rect">
            <a:avLst/>
          </a:prstGeom>
          <a:noFill/>
          <a:ln/>
        </p:spPr>
        <p:txBody>
          <a:bodyPr wrap="square" lIns="0" tIns="0" rIns="0" bIns="0" rtlCol="0" anchor="ctr"/>
          <a:lstStyle/>
          <a:p>
            <a:pPr indent="0" marL="0">
              <a:lnSpc>
                <a:spcPct val="114000"/>
              </a:lnSpc>
              <a:buNone/>
            </a:pPr>
            <a:r>
              <a:rPr lang="en-US" sz="1000" dirty="0">
                <a:solidFill>
                  <a:srgbClr val="333333"/>
                </a:solidFill>
                <a:latin typeface="Arial" pitchFamily="34" charset="0"/>
                <a:ea typeface="Arial" pitchFamily="34" charset="-122"/>
                <a:cs typeface="Arial" pitchFamily="34" charset="-120"/>
              </a:rPr>
              <a:t>Events are stamped with an internal id, so a second push updates in place and never duplicates</a:t>
            </a:r>
            <a:endParaRPr lang="en-US" sz="1000" dirty="0"/>
          </a:p>
        </p:txBody>
      </p:sp>
      <p:sp>
        <p:nvSpPr>
          <p:cNvPr id="23" name="Shape 18"/>
          <p:cNvSpPr/>
          <p:nvPr/>
        </p:nvSpPr>
        <p:spPr>
          <a:xfrm>
            <a:off x="7772400" y="4956048"/>
            <a:ext cx="3566160" cy="0"/>
          </a:xfrm>
          <a:prstGeom prst="line">
            <a:avLst/>
          </a:prstGeom>
          <a:noFill/>
          <a:ln w="6350">
            <a:solidFill>
              <a:srgbClr val="D0D0D0"/>
            </a:solidFill>
            <a:prstDash val="solid"/>
          </a:ln>
        </p:spPr>
      </p:sp>
      <p:sp>
        <p:nvSpPr>
          <p:cNvPr id="24" name="Text 19"/>
          <p:cNvSpPr/>
          <p:nvPr/>
        </p:nvSpPr>
        <p:spPr>
          <a:xfrm>
            <a:off x="7772400" y="5010912"/>
            <a:ext cx="356616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Push is reversible</a:t>
            </a:r>
            <a:endParaRPr lang="en-US" sz="1100" dirty="0"/>
          </a:p>
        </p:txBody>
      </p:sp>
      <p:sp>
        <p:nvSpPr>
          <p:cNvPr id="25" name="Text 20"/>
          <p:cNvSpPr/>
          <p:nvPr/>
        </p:nvSpPr>
        <p:spPr>
          <a:xfrm>
            <a:off x="7772400" y="5266944"/>
            <a:ext cx="3566160" cy="621792"/>
          </a:xfrm>
          <a:prstGeom prst="rect">
            <a:avLst/>
          </a:prstGeom>
          <a:noFill/>
          <a:ln/>
        </p:spPr>
        <p:txBody>
          <a:bodyPr wrap="square" lIns="0" tIns="0" rIns="0" bIns="0" rtlCol="0" anchor="ctr"/>
          <a:lstStyle/>
          <a:p>
            <a:pPr indent="0" marL="0">
              <a:lnSpc>
                <a:spcPct val="114000"/>
              </a:lnSpc>
              <a:buNone/>
            </a:pPr>
            <a:r>
              <a:rPr lang="en-US" sz="1000" dirty="0">
                <a:solidFill>
                  <a:srgbClr val="333333"/>
                </a:solidFill>
                <a:latin typeface="Arial" pitchFamily="34" charset="0"/>
                <a:ea typeface="Arial" pitchFamily="34" charset="-122"/>
                <a:cs typeface="Arial" pitchFamily="34" charset="-120"/>
              </a:rPr>
              <a:t>Events go to a dedicated CampusCal calendar and can all be removed in one click</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The segmentation rework cut unclassified events from 89% to 23% of the calendar, without loosening the surety gate</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Same account, same day, before and after</a:t>
            </a:r>
            <a:endParaRPr lang="en-US" sz="900" dirty="0"/>
          </a:p>
        </p:txBody>
      </p:sp>
      <p:sp>
        <p:nvSpPr>
          <p:cNvPr id="5" name="Text 3"/>
          <p:cNvSpPr/>
          <p:nvPr/>
        </p:nvSpPr>
        <p:spPr>
          <a:xfrm>
            <a:off x="512064" y="6016752"/>
            <a:ext cx="11173968" cy="347472"/>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Measured on the same live inbox and the same 118 imported Google Calendar events, before and after the four tier rework on 5 August 2026</a:t>
            </a:r>
            <a:endParaRPr lang="en-US" sz="800" dirty="0"/>
          </a:p>
          <a:p>
            <a:pPr indent="0" marL="0">
              <a:lnSpc>
                <a:spcPct val="105000"/>
              </a:lnSpc>
              <a:buNone/>
            </a:pPr>
            <a:r>
              <a:rPr lang="en-US" sz="800" dirty="0">
                <a:solidFill>
                  <a:srgbClr val="7F7F7F"/>
                </a:solidFill>
                <a:latin typeface="Arial" pitchFamily="34" charset="0"/>
                <a:ea typeface="Arial" pitchFamily="34" charset="-122"/>
                <a:cs typeface="Arial" pitchFamily="34" charset="-120"/>
              </a:rPr>
              <a:t>2. Other is retained deliberately: an event with no reliable signal is left unclassified rather than assigned to a category it may not belong to</a:t>
            </a:r>
            <a:endParaRPr lang="en-US" sz="800" dirty="0"/>
          </a:p>
        </p:txBody>
      </p:sp>
      <p:sp>
        <p:nvSpPr>
          <p:cNvPr id="6" name="Shape 4"/>
          <p:cNvSpPr/>
          <p:nvPr/>
        </p:nvSpPr>
        <p:spPr>
          <a:xfrm>
            <a:off x="512064" y="6400800"/>
            <a:ext cx="11173968" cy="0"/>
          </a:xfrm>
          <a:prstGeom prst="line">
            <a:avLst/>
          </a:prstGeom>
          <a:noFill/>
          <a:ln w="6350">
            <a:solidFill>
              <a:srgbClr val="D0D0D0"/>
            </a:solidFill>
            <a:prstDash val="solid"/>
          </a:ln>
        </p:spPr>
      </p:sp>
      <p:sp>
        <p:nvSpPr>
          <p:cNvPr id="7" name="Text 5"/>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category counters, live IIMA Gmail account, before and after builds of 5 August 2026</a:t>
            </a:r>
            <a:endParaRPr lang="en-US" sz="800" dirty="0"/>
          </a:p>
        </p:txBody>
      </p:sp>
      <p:sp>
        <p:nvSpPr>
          <p:cNvPr id="8" name="Text 6"/>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11</a:t>
            </a:r>
            <a:endParaRPr lang="en-US" sz="900" dirty="0"/>
          </a:p>
        </p:txBody>
      </p:sp>
      <p:sp>
        <p:nvSpPr>
          <p:cNvPr id="10" name="Text 7"/>
          <p:cNvSpPr/>
          <p:nvPr/>
        </p:nvSpPr>
        <p:spPr>
          <a:xfrm>
            <a:off x="512064" y="1463040"/>
            <a:ext cx="676656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Events on the calendar by category</a:t>
            </a:r>
            <a:endParaRPr lang="en-US" sz="1200" dirty="0"/>
          </a:p>
        </p:txBody>
      </p:sp>
      <p:sp>
        <p:nvSpPr>
          <p:cNvPr id="11" name="Text 8"/>
          <p:cNvSpPr/>
          <p:nvPr/>
        </p:nvSpPr>
        <p:spPr>
          <a:xfrm>
            <a:off x="512064" y="1719072"/>
            <a:ext cx="6766560" cy="237744"/>
          </a:xfrm>
          <a:prstGeom prst="rect">
            <a:avLst/>
          </a:prstGeom>
          <a:noFill/>
          <a:ln/>
        </p:spPr>
        <p:txBody>
          <a:bodyPr wrap="square" lIns="0" tIns="0" rIns="0" bIns="0" rtlCol="0" anchor="ctr"/>
          <a:lstStyle/>
          <a:p>
            <a:pPr indent="0" marL="0">
              <a:buNone/>
            </a:pPr>
            <a:r>
              <a:rPr lang="en-US" sz="950" dirty="0">
                <a:solidFill>
                  <a:srgbClr val="7F7F7F"/>
                </a:solidFill>
                <a:latin typeface="Arial" pitchFamily="34" charset="0"/>
                <a:ea typeface="Arial" pitchFamily="34" charset="-122"/>
                <a:cs typeface="Arial" pitchFamily="34" charset="-120"/>
              </a:rPr>
              <a:t>Number of events¹</a:t>
            </a:r>
            <a:endParaRPr lang="en-US" sz="950" dirty="0"/>
          </a:p>
        </p:txBody>
      </p:sp>
      <p:graphicFrame>
        <p:nvGraphicFramePr>
          <p:cNvPr id="12" name="Chart 0" descr=""/>
          <p:cNvGraphicFramePr/>
          <p:nvPr/>
        </p:nvGraphicFramePr>
        <p:xfrm>
          <a:off x="512064" y="1993392"/>
          <a:ext cx="6858000" cy="39776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7635240" y="1463040"/>
            <a:ext cx="3703320" cy="274320"/>
          </a:xfrm>
          <a:prstGeom prst="rect">
            <a:avLst/>
          </a:prstGeom>
          <a:noFill/>
          <a:ln/>
        </p:spPr>
        <p:txBody>
          <a:bodyPr wrap="square" lIns="0" tIns="0" rIns="0" bIns="0" rtlCol="0" anchor="ctr"/>
          <a:lstStyle/>
          <a:p>
            <a:pPr indent="0" marL="0">
              <a:buNone/>
            </a:pPr>
            <a:r>
              <a:rPr lang="en-US" sz="1200" b="1" dirty="0">
                <a:solidFill>
                  <a:srgbClr val="051C2C"/>
                </a:solidFill>
                <a:latin typeface="Arial" pitchFamily="34" charset="0"/>
                <a:ea typeface="Arial" pitchFamily="34" charset="-122"/>
                <a:cs typeface="Arial" pitchFamily="34" charset="-120"/>
              </a:rPr>
              <a:t>What changed</a:t>
            </a:r>
            <a:endParaRPr lang="en-US" sz="1200" dirty="0"/>
          </a:p>
        </p:txBody>
      </p:sp>
      <p:sp>
        <p:nvSpPr>
          <p:cNvPr id="14" name="Shape 10"/>
          <p:cNvSpPr/>
          <p:nvPr/>
        </p:nvSpPr>
        <p:spPr>
          <a:xfrm>
            <a:off x="7635240" y="1755648"/>
            <a:ext cx="3703320" cy="0"/>
          </a:xfrm>
          <a:prstGeom prst="line">
            <a:avLst/>
          </a:prstGeom>
          <a:noFill/>
          <a:ln w="9525">
            <a:solidFill>
              <a:srgbClr val="051C2C"/>
            </a:solidFill>
            <a:prstDash val="solid"/>
          </a:ln>
        </p:spPr>
      </p:sp>
      <p:sp>
        <p:nvSpPr>
          <p:cNvPr id="15" name="Text 11"/>
          <p:cNvSpPr/>
          <p:nvPr/>
        </p:nvSpPr>
        <p:spPr>
          <a:xfrm>
            <a:off x="7635240" y="1883664"/>
            <a:ext cx="1737360" cy="566928"/>
          </a:xfrm>
          <a:prstGeom prst="rect">
            <a:avLst/>
          </a:prstGeom>
          <a:noFill/>
          <a:ln/>
        </p:spPr>
        <p:txBody>
          <a:bodyPr wrap="square" lIns="0" tIns="0" rIns="0" bIns="0" rtlCol="0" anchor="ctr"/>
          <a:lstStyle/>
          <a:p>
            <a:pPr indent="0" marL="0">
              <a:buNone/>
            </a:pPr>
            <a:r>
              <a:rPr lang="en-US" sz="3400" b="1" dirty="0">
                <a:solidFill>
                  <a:srgbClr val="7F7F7F"/>
                </a:solidFill>
                <a:latin typeface="Georgia" pitchFamily="34" charset="0"/>
                <a:ea typeface="Georgia" pitchFamily="34" charset="-122"/>
                <a:cs typeface="Georgia" pitchFamily="34" charset="-120"/>
              </a:rPr>
              <a:t>89%</a:t>
            </a:r>
            <a:endParaRPr lang="en-US" sz="3400" dirty="0"/>
          </a:p>
        </p:txBody>
      </p:sp>
      <p:sp>
        <p:nvSpPr>
          <p:cNvPr id="16" name="Text 12"/>
          <p:cNvSpPr/>
          <p:nvPr/>
        </p:nvSpPr>
        <p:spPr>
          <a:xfrm>
            <a:off x="7635240" y="2432304"/>
            <a:ext cx="1737360" cy="384048"/>
          </a:xfrm>
          <a:prstGeom prst="rect">
            <a:avLst/>
          </a:prstGeom>
          <a:noFill/>
          <a:ln/>
        </p:spPr>
        <p:txBody>
          <a:bodyPr wrap="square" lIns="0" tIns="0" rIns="0" bIns="0" rtlCol="0" anchor="ctr"/>
          <a:lstStyle/>
          <a:p>
            <a:pPr indent="0" marL="0">
              <a:lnSpc>
                <a:spcPct val="110000"/>
              </a:lnSpc>
              <a:buNone/>
            </a:pPr>
            <a:r>
              <a:rPr lang="en-US" sz="950" dirty="0">
                <a:solidFill>
                  <a:srgbClr val="7F7F7F"/>
                </a:solidFill>
                <a:latin typeface="Arial" pitchFamily="34" charset="0"/>
                <a:ea typeface="Arial" pitchFamily="34" charset="-122"/>
                <a:cs typeface="Arial" pitchFamily="34" charset="-120"/>
              </a:rPr>
              <a:t>of events sat in Other before</a:t>
            </a:r>
            <a:endParaRPr lang="en-US" sz="950" dirty="0"/>
          </a:p>
        </p:txBody>
      </p:sp>
      <p:sp>
        <p:nvSpPr>
          <p:cNvPr id="17" name="Text 13"/>
          <p:cNvSpPr/>
          <p:nvPr/>
        </p:nvSpPr>
        <p:spPr>
          <a:xfrm>
            <a:off x="9555480" y="1883664"/>
            <a:ext cx="1737360" cy="566928"/>
          </a:xfrm>
          <a:prstGeom prst="rect">
            <a:avLst/>
          </a:prstGeom>
          <a:noFill/>
          <a:ln/>
        </p:spPr>
        <p:txBody>
          <a:bodyPr wrap="square" lIns="0" tIns="0" rIns="0" bIns="0" rtlCol="0" anchor="ctr"/>
          <a:lstStyle/>
          <a:p>
            <a:pPr indent="0" marL="0">
              <a:buNone/>
            </a:pPr>
            <a:r>
              <a:rPr lang="en-US" sz="3400" b="1" dirty="0">
                <a:solidFill>
                  <a:srgbClr val="00A9F4"/>
                </a:solidFill>
                <a:latin typeface="Georgia" pitchFamily="34" charset="0"/>
                <a:ea typeface="Georgia" pitchFamily="34" charset="-122"/>
                <a:cs typeface="Georgia" pitchFamily="34" charset="-120"/>
              </a:rPr>
              <a:t>23%</a:t>
            </a:r>
            <a:endParaRPr lang="en-US" sz="3400" dirty="0"/>
          </a:p>
        </p:txBody>
      </p:sp>
      <p:sp>
        <p:nvSpPr>
          <p:cNvPr id="18" name="Text 14"/>
          <p:cNvSpPr/>
          <p:nvPr/>
        </p:nvSpPr>
        <p:spPr>
          <a:xfrm>
            <a:off x="9555480" y="2432304"/>
            <a:ext cx="1737360" cy="384048"/>
          </a:xfrm>
          <a:prstGeom prst="rect">
            <a:avLst/>
          </a:prstGeom>
          <a:noFill/>
          <a:ln/>
        </p:spPr>
        <p:txBody>
          <a:bodyPr wrap="square" lIns="0" tIns="0" rIns="0" bIns="0" rtlCol="0" anchor="ctr"/>
          <a:lstStyle/>
          <a:p>
            <a:pPr indent="0" marL="0">
              <a:lnSpc>
                <a:spcPct val="110000"/>
              </a:lnSpc>
              <a:buNone/>
            </a:pPr>
            <a:r>
              <a:rPr lang="en-US" sz="950" dirty="0">
                <a:solidFill>
                  <a:srgbClr val="7F7F7F"/>
                </a:solidFill>
                <a:latin typeface="Arial" pitchFamily="34" charset="0"/>
                <a:ea typeface="Arial" pitchFamily="34" charset="-122"/>
                <a:cs typeface="Arial" pitchFamily="34" charset="-120"/>
              </a:rPr>
              <a:t>after the four tier rework</a:t>
            </a:r>
            <a:endParaRPr lang="en-US" sz="950" dirty="0"/>
          </a:p>
        </p:txBody>
      </p:sp>
      <p:sp>
        <p:nvSpPr>
          <p:cNvPr id="19" name="Shape 15"/>
          <p:cNvSpPr/>
          <p:nvPr/>
        </p:nvSpPr>
        <p:spPr>
          <a:xfrm>
            <a:off x="7635240" y="2980944"/>
            <a:ext cx="3703320" cy="0"/>
          </a:xfrm>
          <a:prstGeom prst="line">
            <a:avLst/>
          </a:prstGeom>
          <a:noFill/>
          <a:ln w="6350">
            <a:solidFill>
              <a:srgbClr val="D0D0D0"/>
            </a:solidFill>
            <a:prstDash val="solid"/>
          </a:ln>
        </p:spPr>
      </p:sp>
      <p:sp>
        <p:nvSpPr>
          <p:cNvPr id="20" name="Text 16"/>
          <p:cNvSpPr/>
          <p:nvPr/>
        </p:nvSpPr>
        <p:spPr>
          <a:xfrm>
            <a:off x="7635240" y="3035808"/>
            <a:ext cx="3703320" cy="658368"/>
          </a:xfrm>
          <a:prstGeom prst="rect">
            <a:avLst/>
          </a:prstGeom>
          <a:noFill/>
          <a:ln/>
        </p:spPr>
        <p:txBody>
          <a:bodyPr wrap="square" lIns="0" tIns="0" rIns="0" bIns="0" rtlCol="0" anchor="ctr"/>
          <a:lstStyle/>
          <a:p>
            <a:pPr indent="0" marL="0">
              <a:lnSpc>
                <a:spcPct val="114000"/>
              </a:lnSpc>
              <a:buNone/>
            </a:pPr>
            <a:r>
              <a:rPr lang="en-US" sz="1000" b="1" dirty="0">
                <a:solidFill>
                  <a:srgbClr val="051C2C"/>
                </a:solidFill>
                <a:latin typeface="Arial" pitchFamily="34" charset="0"/>
                <a:ea typeface="Arial" pitchFamily="34" charset="-122"/>
                <a:cs typeface="Arial" pitchFamily="34" charset="-120"/>
              </a:rPr>
              <a:t>Root cause:  </a:t>
            </a:r>
            <a:pPr indent="0" marL="0">
              <a:lnSpc>
                <a:spcPct val="114000"/>
              </a:lnSpc>
              <a:buNone/>
            </a:pPr>
            <a:r>
              <a:rPr lang="en-US" sz="1000" dirty="0">
                <a:solidFill>
                  <a:srgbClr val="333333"/>
                </a:solidFill>
                <a:latin typeface="Arial" pitchFamily="34" charset="0"/>
                <a:ea typeface="Arial" pitchFamily="34" charset="-122"/>
                <a:cs typeface="Arial" pitchFamily="34" charset="-120"/>
              </a:rPr>
              <a:t>118 imported Google Calendar events were never classified, so they defaulted into Other and masked every other category</a:t>
            </a:r>
            <a:endParaRPr lang="en-US" sz="1000" dirty="0"/>
          </a:p>
        </p:txBody>
      </p:sp>
      <p:sp>
        <p:nvSpPr>
          <p:cNvPr id="21" name="Shape 17"/>
          <p:cNvSpPr/>
          <p:nvPr/>
        </p:nvSpPr>
        <p:spPr>
          <a:xfrm>
            <a:off x="7635240" y="3712464"/>
            <a:ext cx="3703320" cy="0"/>
          </a:xfrm>
          <a:prstGeom prst="line">
            <a:avLst/>
          </a:prstGeom>
          <a:noFill/>
          <a:ln w="6350">
            <a:solidFill>
              <a:srgbClr val="D0D0D0"/>
            </a:solidFill>
            <a:prstDash val="solid"/>
          </a:ln>
        </p:spPr>
      </p:sp>
      <p:sp>
        <p:nvSpPr>
          <p:cNvPr id="22" name="Text 18"/>
          <p:cNvSpPr/>
          <p:nvPr/>
        </p:nvSpPr>
        <p:spPr>
          <a:xfrm>
            <a:off x="7635240" y="3767328"/>
            <a:ext cx="3703320" cy="658368"/>
          </a:xfrm>
          <a:prstGeom prst="rect">
            <a:avLst/>
          </a:prstGeom>
          <a:noFill/>
          <a:ln/>
        </p:spPr>
        <p:txBody>
          <a:bodyPr wrap="square" lIns="0" tIns="0" rIns="0" bIns="0" rtlCol="0" anchor="ctr"/>
          <a:lstStyle/>
          <a:p>
            <a:pPr indent="0" marL="0">
              <a:lnSpc>
                <a:spcPct val="114000"/>
              </a:lnSpc>
              <a:buNone/>
            </a:pPr>
            <a:r>
              <a:rPr lang="en-US" sz="1000" b="1" dirty="0">
                <a:solidFill>
                  <a:srgbClr val="051C2C"/>
                </a:solidFill>
                <a:latin typeface="Arial" pitchFamily="34" charset="0"/>
                <a:ea typeface="Arial" pitchFamily="34" charset="-122"/>
                <a:cs typeface="Arial" pitchFamily="34" charset="-120"/>
              </a:rPr>
              <a:t>Fix:  </a:t>
            </a:r>
            <a:pPr indent="0" marL="0">
              <a:lnSpc>
                <a:spcPct val="114000"/>
              </a:lnSpc>
              <a:buNone/>
            </a:pPr>
            <a:r>
              <a:rPr lang="en-US" sz="1000" dirty="0">
                <a:solidFill>
                  <a:srgbClr val="333333"/>
                </a:solidFill>
                <a:latin typeface="Arial" pitchFamily="34" charset="0"/>
                <a:ea typeface="Arial" pitchFamily="34" charset="-122"/>
                <a:cs typeface="Arial" pitchFamily="34" charset="-120"/>
              </a:rPr>
              <a:t>Calendar titles now run through the same classifier as mail, and the keyword vocabulary was widened to 237 terms</a:t>
            </a:r>
            <a:endParaRPr lang="en-US" sz="1000" dirty="0"/>
          </a:p>
        </p:txBody>
      </p:sp>
      <p:sp>
        <p:nvSpPr>
          <p:cNvPr id="23" name="Shape 19"/>
          <p:cNvSpPr/>
          <p:nvPr/>
        </p:nvSpPr>
        <p:spPr>
          <a:xfrm>
            <a:off x="7635240" y="4443984"/>
            <a:ext cx="3703320" cy="0"/>
          </a:xfrm>
          <a:prstGeom prst="line">
            <a:avLst/>
          </a:prstGeom>
          <a:noFill/>
          <a:ln w="6350">
            <a:solidFill>
              <a:srgbClr val="D0D0D0"/>
            </a:solidFill>
            <a:prstDash val="solid"/>
          </a:ln>
        </p:spPr>
      </p:sp>
      <p:sp>
        <p:nvSpPr>
          <p:cNvPr id="24" name="Text 20"/>
          <p:cNvSpPr/>
          <p:nvPr/>
        </p:nvSpPr>
        <p:spPr>
          <a:xfrm>
            <a:off x="7635240" y="4498848"/>
            <a:ext cx="3703320" cy="658368"/>
          </a:xfrm>
          <a:prstGeom prst="rect">
            <a:avLst/>
          </a:prstGeom>
          <a:noFill/>
          <a:ln/>
        </p:spPr>
        <p:txBody>
          <a:bodyPr wrap="square" lIns="0" tIns="0" rIns="0" bIns="0" rtlCol="0" anchor="ctr"/>
          <a:lstStyle/>
          <a:p>
            <a:pPr indent="0" marL="0">
              <a:lnSpc>
                <a:spcPct val="114000"/>
              </a:lnSpc>
              <a:buNone/>
            </a:pPr>
            <a:r>
              <a:rPr lang="en-US" sz="1000" b="1" dirty="0">
                <a:solidFill>
                  <a:srgbClr val="051C2C"/>
                </a:solidFill>
                <a:latin typeface="Arial" pitchFamily="34" charset="0"/>
                <a:ea typeface="Arial" pitchFamily="34" charset="-122"/>
                <a:cs typeface="Arial" pitchFamily="34" charset="-120"/>
              </a:rPr>
              <a:t>Result:  </a:t>
            </a:r>
            <a:pPr indent="0" marL="0">
              <a:lnSpc>
                <a:spcPct val="114000"/>
              </a:lnSpc>
              <a:buNone/>
            </a:pPr>
            <a:r>
              <a:rPr lang="en-US" sz="1000" dirty="0">
                <a:solidFill>
                  <a:srgbClr val="333333"/>
                </a:solidFill>
                <a:latin typeface="Arial" pitchFamily="34" charset="0"/>
                <a:ea typeface="Arial" pitchFamily="34" charset="-122"/>
                <a:cs typeface="Arial" pitchFamily="34" charset="-120"/>
              </a:rPr>
              <a:t>103 of 133 events now carry a named category, and 8 of 9 categories are populated</a:t>
            </a:r>
            <a:endParaRPr lang="en-US" sz="1000" dirty="0"/>
          </a:p>
        </p:txBody>
      </p:sp>
      <p:sp>
        <p:nvSpPr>
          <p:cNvPr id="25" name="Shape 21"/>
          <p:cNvSpPr/>
          <p:nvPr/>
        </p:nvSpPr>
        <p:spPr>
          <a:xfrm>
            <a:off x="7635240" y="5175504"/>
            <a:ext cx="3703320" cy="0"/>
          </a:xfrm>
          <a:prstGeom prst="line">
            <a:avLst/>
          </a:prstGeom>
          <a:noFill/>
          <a:ln w="6350">
            <a:solidFill>
              <a:srgbClr val="D0D0D0"/>
            </a:solidFill>
            <a:prstDash val="solid"/>
          </a:ln>
        </p:spPr>
      </p:sp>
      <p:sp>
        <p:nvSpPr>
          <p:cNvPr id="26" name="Text 22"/>
          <p:cNvSpPr/>
          <p:nvPr/>
        </p:nvSpPr>
        <p:spPr>
          <a:xfrm>
            <a:off x="7635240" y="5230368"/>
            <a:ext cx="3703320" cy="658368"/>
          </a:xfrm>
          <a:prstGeom prst="rect">
            <a:avLst/>
          </a:prstGeom>
          <a:noFill/>
          <a:ln/>
        </p:spPr>
        <p:txBody>
          <a:bodyPr wrap="square" lIns="0" tIns="0" rIns="0" bIns="0" rtlCol="0" anchor="ctr"/>
          <a:lstStyle/>
          <a:p>
            <a:pPr indent="0" marL="0">
              <a:lnSpc>
                <a:spcPct val="114000"/>
              </a:lnSpc>
              <a:buNone/>
            </a:pPr>
            <a:r>
              <a:rPr lang="en-US" sz="1000" b="1" dirty="0">
                <a:solidFill>
                  <a:srgbClr val="051C2C"/>
                </a:solidFill>
                <a:latin typeface="Arial" pitchFamily="34" charset="0"/>
                <a:ea typeface="Arial" pitchFamily="34" charset="-122"/>
                <a:cs typeface="Arial" pitchFamily="34" charset="-120"/>
              </a:rPr>
              <a:t>Deliberately conservative²:  </a:t>
            </a:r>
            <a:pPr indent="0" marL="0">
              <a:lnSpc>
                <a:spcPct val="114000"/>
              </a:lnSpc>
              <a:buNone/>
            </a:pPr>
            <a:r>
              <a:rPr lang="en-US" sz="1000" dirty="0">
                <a:solidFill>
                  <a:srgbClr val="333333"/>
                </a:solidFill>
                <a:latin typeface="Arial" pitchFamily="34" charset="0"/>
                <a:ea typeface="Arial" pitchFamily="34" charset="-122"/>
                <a:cs typeface="Arial" pitchFamily="34" charset="-120"/>
              </a:rPr>
              <a:t>The remaining 30 are events such as Gym or Team standup, which carry no campus signal at all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The prototype is complete end to end: every component is built, running and covered by automated checks</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Status as at 5 August 2026</a:t>
            </a:r>
            <a:endParaRPr lang="en-US" sz="900" dirty="0"/>
          </a:p>
        </p:txBody>
      </p:sp>
      <p:sp>
        <p:nvSpPr>
          <p:cNvPr id="5" name="Text 3"/>
          <p:cNvSpPr/>
          <p:nvPr/>
        </p:nvSpPr>
        <p:spPr>
          <a:xfrm>
            <a:off x="512064" y="6163056"/>
            <a:ext cx="11173968" cy="201168"/>
          </a:xfrm>
          <a:prstGeom prst="rect">
            <a:avLst/>
          </a:prstGeom>
          <a:noFill/>
          <a:ln/>
        </p:spPr>
        <p:txBody>
          <a:bodyPr wrap="square" lIns="0" tIns="0" rIns="0" bIns="0" rtlCol="0" anchor="ctr"/>
          <a:lstStyle/>
          <a:p>
            <a:pPr indent="0" marL="0">
              <a:lnSpc>
                <a:spcPct val="105000"/>
              </a:lnSpc>
              <a:buNone/>
            </a:pPr>
            <a:r>
              <a:rPr lang="en-US" sz="800" dirty="0">
                <a:solidFill>
                  <a:srgbClr val="7F7F7F"/>
                </a:solidFill>
                <a:latin typeface="Arial" pitchFamily="34" charset="0"/>
                <a:ea typeface="Arial" pitchFamily="34" charset="-122"/>
                <a:cs typeface="Arial" pitchFamily="34" charset="-120"/>
              </a:rPr>
              <a:t>1. 126 assertions covering rule coverage, label routing, the denylist, tier precedence, the surety gate, quoted text handling, link extraction and time formats</a:t>
            </a:r>
            <a:endParaRPr lang="en-US" sz="800" dirty="0"/>
          </a:p>
        </p:txBody>
      </p:sp>
      <p:sp>
        <p:nvSpPr>
          <p:cNvPr id="6" name="Shape 4"/>
          <p:cNvSpPr/>
          <p:nvPr/>
        </p:nvSpPr>
        <p:spPr>
          <a:xfrm>
            <a:off x="512064" y="6400800"/>
            <a:ext cx="11173968" cy="0"/>
          </a:xfrm>
          <a:prstGeom prst="line">
            <a:avLst/>
          </a:prstGeom>
          <a:noFill/>
          <a:ln w="6350">
            <a:solidFill>
              <a:srgbClr val="D0D0D0"/>
            </a:solidFill>
            <a:prstDash val="solid"/>
          </a:ln>
        </p:spPr>
      </p:sp>
      <p:sp>
        <p:nvSpPr>
          <p:cNvPr id="7" name="Text 5"/>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repository; python test_classification.py, 126 passed, 0 failed</a:t>
            </a:r>
            <a:endParaRPr lang="en-US" sz="800" dirty="0"/>
          </a:p>
        </p:txBody>
      </p:sp>
      <p:sp>
        <p:nvSpPr>
          <p:cNvPr id="8" name="Text 6"/>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12</a:t>
            </a:r>
            <a:endParaRPr lang="en-US" sz="900" dirty="0"/>
          </a:p>
        </p:txBody>
      </p:sp>
      <p:sp>
        <p:nvSpPr>
          <p:cNvPr id="10" name="Text 7"/>
          <p:cNvSpPr/>
          <p:nvPr/>
        </p:nvSpPr>
        <p:spPr>
          <a:xfrm>
            <a:off x="512064" y="1463040"/>
            <a:ext cx="219456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Component</a:t>
            </a:r>
            <a:endParaRPr lang="en-US" sz="1100" dirty="0"/>
          </a:p>
        </p:txBody>
      </p:sp>
      <p:sp>
        <p:nvSpPr>
          <p:cNvPr id="11" name="Text 8"/>
          <p:cNvSpPr/>
          <p:nvPr/>
        </p:nvSpPr>
        <p:spPr>
          <a:xfrm>
            <a:off x="2752344" y="1463040"/>
            <a:ext cx="82296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Status</a:t>
            </a:r>
            <a:endParaRPr lang="en-US" sz="1100" dirty="0"/>
          </a:p>
        </p:txBody>
      </p:sp>
      <p:sp>
        <p:nvSpPr>
          <p:cNvPr id="12" name="Text 9"/>
          <p:cNvSpPr/>
          <p:nvPr/>
        </p:nvSpPr>
        <p:spPr>
          <a:xfrm>
            <a:off x="3621024" y="1463040"/>
            <a:ext cx="466344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What is implemented</a:t>
            </a:r>
            <a:endParaRPr lang="en-US" sz="1100" dirty="0"/>
          </a:p>
        </p:txBody>
      </p:sp>
      <p:sp>
        <p:nvSpPr>
          <p:cNvPr id="13" name="Text 10"/>
          <p:cNvSpPr/>
          <p:nvPr/>
        </p:nvSpPr>
        <p:spPr>
          <a:xfrm>
            <a:off x="8375904" y="1463040"/>
            <a:ext cx="2971800" cy="27432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Evidence¹</a:t>
            </a:r>
            <a:endParaRPr lang="en-US" sz="1100" dirty="0"/>
          </a:p>
        </p:txBody>
      </p:sp>
      <p:sp>
        <p:nvSpPr>
          <p:cNvPr id="14" name="Shape 11"/>
          <p:cNvSpPr/>
          <p:nvPr/>
        </p:nvSpPr>
        <p:spPr>
          <a:xfrm>
            <a:off x="512064" y="1737360"/>
            <a:ext cx="10826496" cy="0"/>
          </a:xfrm>
          <a:prstGeom prst="line">
            <a:avLst/>
          </a:prstGeom>
          <a:noFill/>
          <a:ln w="9525">
            <a:solidFill>
              <a:srgbClr val="051C2C"/>
            </a:solidFill>
            <a:prstDash val="solid"/>
          </a:ln>
        </p:spPr>
      </p:sp>
      <p:sp>
        <p:nvSpPr>
          <p:cNvPr id="15" name="Text 12"/>
          <p:cNvSpPr/>
          <p:nvPr/>
        </p:nvSpPr>
        <p:spPr>
          <a:xfrm>
            <a:off x="512064" y="18470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Gmail ingestion</a:t>
            </a:r>
            <a:endParaRPr lang="en-US" sz="1050" dirty="0"/>
          </a:p>
        </p:txBody>
      </p:sp>
      <p:sp>
        <p:nvSpPr>
          <p:cNvPr id="16" name="Shape 13"/>
          <p:cNvSpPr/>
          <p:nvPr/>
        </p:nvSpPr>
        <p:spPr>
          <a:xfrm>
            <a:off x="2752344" y="2002536"/>
            <a:ext cx="146304" cy="146304"/>
          </a:xfrm>
          <a:prstGeom prst="ellipse">
            <a:avLst/>
          </a:prstGeom>
          <a:solidFill>
            <a:srgbClr val="00A9F4"/>
          </a:solidFill>
          <a:ln w="12700">
            <a:solidFill>
              <a:srgbClr val="00A9F4"/>
            </a:solidFill>
            <a:prstDash val="solid"/>
          </a:ln>
        </p:spPr>
      </p:sp>
      <p:sp>
        <p:nvSpPr>
          <p:cNvPr id="17" name="Text 14"/>
          <p:cNvSpPr/>
          <p:nvPr/>
        </p:nvSpPr>
        <p:spPr>
          <a:xfrm>
            <a:off x="2944368" y="18470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18" name="Text 15"/>
          <p:cNvSpPr/>
          <p:nvPr/>
        </p:nvSpPr>
        <p:spPr>
          <a:xfrm>
            <a:off x="3621024" y="18470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Read only OAuth, 100 mails per page, 45 second poll</a:t>
            </a:r>
            <a:endParaRPr lang="en-US" sz="1000" dirty="0"/>
          </a:p>
        </p:txBody>
      </p:sp>
      <p:sp>
        <p:nvSpPr>
          <p:cNvPr id="19" name="Text 16"/>
          <p:cNvSpPr/>
          <p:nvPr/>
        </p:nvSpPr>
        <p:spPr>
          <a:xfrm>
            <a:off x="8375904" y="18470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Demonstrated on a real account</a:t>
            </a:r>
            <a:endParaRPr lang="en-US" sz="1000" dirty="0"/>
          </a:p>
        </p:txBody>
      </p:sp>
      <p:sp>
        <p:nvSpPr>
          <p:cNvPr id="20" name="Shape 17"/>
          <p:cNvSpPr/>
          <p:nvPr/>
        </p:nvSpPr>
        <p:spPr>
          <a:xfrm>
            <a:off x="512064" y="2304288"/>
            <a:ext cx="10826496" cy="0"/>
          </a:xfrm>
          <a:prstGeom prst="line">
            <a:avLst/>
          </a:prstGeom>
          <a:noFill/>
          <a:ln w="6350">
            <a:solidFill>
              <a:srgbClr val="D0D0D0"/>
            </a:solidFill>
            <a:prstDash val="solid"/>
          </a:ln>
        </p:spPr>
      </p:sp>
      <p:sp>
        <p:nvSpPr>
          <p:cNvPr id="21" name="Text 18"/>
          <p:cNvSpPr/>
          <p:nvPr/>
        </p:nvSpPr>
        <p:spPr>
          <a:xfrm>
            <a:off x="512064" y="23042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Segmentation engine</a:t>
            </a:r>
            <a:endParaRPr lang="en-US" sz="1050" dirty="0"/>
          </a:p>
        </p:txBody>
      </p:sp>
      <p:sp>
        <p:nvSpPr>
          <p:cNvPr id="22" name="Shape 19"/>
          <p:cNvSpPr/>
          <p:nvPr/>
        </p:nvSpPr>
        <p:spPr>
          <a:xfrm>
            <a:off x="2752344" y="2459736"/>
            <a:ext cx="146304" cy="146304"/>
          </a:xfrm>
          <a:prstGeom prst="ellipse">
            <a:avLst/>
          </a:prstGeom>
          <a:solidFill>
            <a:srgbClr val="00A9F4"/>
          </a:solidFill>
          <a:ln w="12700">
            <a:solidFill>
              <a:srgbClr val="00A9F4"/>
            </a:solidFill>
            <a:prstDash val="solid"/>
          </a:ln>
        </p:spPr>
      </p:sp>
      <p:sp>
        <p:nvSpPr>
          <p:cNvPr id="23" name="Text 20"/>
          <p:cNvSpPr/>
          <p:nvPr/>
        </p:nvSpPr>
        <p:spPr>
          <a:xfrm>
            <a:off x="2944368" y="23042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24" name="Text 21"/>
          <p:cNvSpPr/>
          <p:nvPr/>
        </p:nvSpPr>
        <p:spPr>
          <a:xfrm>
            <a:off x="3621024" y="23042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4 tiers, 21 rules, 18 labels, 9 categories, 237 keywords</a:t>
            </a:r>
            <a:endParaRPr lang="en-US" sz="1000" dirty="0"/>
          </a:p>
        </p:txBody>
      </p:sp>
      <p:sp>
        <p:nvSpPr>
          <p:cNvPr id="25" name="Text 22"/>
          <p:cNvSpPr/>
          <p:nvPr/>
        </p:nvSpPr>
        <p:spPr>
          <a:xfrm>
            <a:off x="8375904" y="23042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126 automated checks pass</a:t>
            </a:r>
            <a:endParaRPr lang="en-US" sz="1000" dirty="0"/>
          </a:p>
        </p:txBody>
      </p:sp>
      <p:sp>
        <p:nvSpPr>
          <p:cNvPr id="26" name="Shape 23"/>
          <p:cNvSpPr/>
          <p:nvPr/>
        </p:nvSpPr>
        <p:spPr>
          <a:xfrm>
            <a:off x="512064" y="2761488"/>
            <a:ext cx="10826496" cy="0"/>
          </a:xfrm>
          <a:prstGeom prst="line">
            <a:avLst/>
          </a:prstGeom>
          <a:noFill/>
          <a:ln w="6350">
            <a:solidFill>
              <a:srgbClr val="D0D0D0"/>
            </a:solidFill>
            <a:prstDash val="solid"/>
          </a:ln>
        </p:spPr>
      </p:sp>
      <p:sp>
        <p:nvSpPr>
          <p:cNvPr id="27" name="Text 24"/>
          <p:cNvSpPr/>
          <p:nvPr/>
        </p:nvSpPr>
        <p:spPr>
          <a:xfrm>
            <a:off x="512064" y="27614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Event extraction</a:t>
            </a:r>
            <a:endParaRPr lang="en-US" sz="1050" dirty="0"/>
          </a:p>
        </p:txBody>
      </p:sp>
      <p:sp>
        <p:nvSpPr>
          <p:cNvPr id="28" name="Shape 25"/>
          <p:cNvSpPr/>
          <p:nvPr/>
        </p:nvSpPr>
        <p:spPr>
          <a:xfrm>
            <a:off x="2752344" y="2916936"/>
            <a:ext cx="146304" cy="146304"/>
          </a:xfrm>
          <a:prstGeom prst="ellipse">
            <a:avLst/>
          </a:prstGeom>
          <a:solidFill>
            <a:srgbClr val="00A9F4"/>
          </a:solidFill>
          <a:ln w="12700">
            <a:solidFill>
              <a:srgbClr val="00A9F4"/>
            </a:solidFill>
            <a:prstDash val="solid"/>
          </a:ln>
        </p:spPr>
      </p:sp>
      <p:sp>
        <p:nvSpPr>
          <p:cNvPr id="29" name="Text 26"/>
          <p:cNvSpPr/>
          <p:nvPr/>
        </p:nvSpPr>
        <p:spPr>
          <a:xfrm>
            <a:off x="2944368" y="27614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30" name="Text 27"/>
          <p:cNvSpPr/>
          <p:nvPr/>
        </p:nvSpPr>
        <p:spPr>
          <a:xfrm>
            <a:off x="3621024" y="27614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5 date formats, 6 time formats, campus venue gazetteer</a:t>
            </a:r>
            <a:endParaRPr lang="en-US" sz="1000" dirty="0"/>
          </a:p>
        </p:txBody>
      </p:sp>
      <p:sp>
        <p:nvSpPr>
          <p:cNvPr id="31" name="Text 28"/>
          <p:cNvSpPr/>
          <p:nvPr/>
        </p:nvSpPr>
        <p:spPr>
          <a:xfrm>
            <a:off x="8375904" y="27614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Regression cases in the test suite</a:t>
            </a:r>
            <a:endParaRPr lang="en-US" sz="1000" dirty="0"/>
          </a:p>
        </p:txBody>
      </p:sp>
      <p:sp>
        <p:nvSpPr>
          <p:cNvPr id="32" name="Shape 29"/>
          <p:cNvSpPr/>
          <p:nvPr/>
        </p:nvSpPr>
        <p:spPr>
          <a:xfrm>
            <a:off x="512064" y="3218688"/>
            <a:ext cx="10826496" cy="0"/>
          </a:xfrm>
          <a:prstGeom prst="line">
            <a:avLst/>
          </a:prstGeom>
          <a:noFill/>
          <a:ln w="6350">
            <a:solidFill>
              <a:srgbClr val="D0D0D0"/>
            </a:solidFill>
            <a:prstDash val="solid"/>
          </a:ln>
        </p:spPr>
      </p:sp>
      <p:sp>
        <p:nvSpPr>
          <p:cNvPr id="33" name="Text 30"/>
          <p:cNvSpPr/>
          <p:nvPr/>
        </p:nvSpPr>
        <p:spPr>
          <a:xfrm>
            <a:off x="512064" y="32186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Registration links</a:t>
            </a:r>
            <a:endParaRPr lang="en-US" sz="1050" dirty="0"/>
          </a:p>
        </p:txBody>
      </p:sp>
      <p:sp>
        <p:nvSpPr>
          <p:cNvPr id="34" name="Shape 31"/>
          <p:cNvSpPr/>
          <p:nvPr/>
        </p:nvSpPr>
        <p:spPr>
          <a:xfrm>
            <a:off x="2752344" y="3374136"/>
            <a:ext cx="146304" cy="146304"/>
          </a:xfrm>
          <a:prstGeom prst="ellipse">
            <a:avLst/>
          </a:prstGeom>
          <a:solidFill>
            <a:srgbClr val="00A9F4"/>
          </a:solidFill>
          <a:ln w="12700">
            <a:solidFill>
              <a:srgbClr val="00A9F4"/>
            </a:solidFill>
            <a:prstDash val="solid"/>
          </a:ln>
        </p:spPr>
      </p:sp>
      <p:sp>
        <p:nvSpPr>
          <p:cNvPr id="35" name="Text 32"/>
          <p:cNvSpPr/>
          <p:nvPr/>
        </p:nvSpPr>
        <p:spPr>
          <a:xfrm>
            <a:off x="2944368" y="32186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36" name="Text 33"/>
          <p:cNvSpPr/>
          <p:nvPr/>
        </p:nvSpPr>
        <p:spPr>
          <a:xfrm>
            <a:off x="3621024" y="32186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4 link classes, tracking and unsubscribe links dropped</a:t>
            </a:r>
            <a:endParaRPr lang="en-US" sz="1000" dirty="0"/>
          </a:p>
        </p:txBody>
      </p:sp>
      <p:sp>
        <p:nvSpPr>
          <p:cNvPr id="37" name="Text 34"/>
          <p:cNvSpPr/>
          <p:nvPr/>
        </p:nvSpPr>
        <p:spPr>
          <a:xfrm>
            <a:off x="8375904" y="32186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Visible on live events</a:t>
            </a:r>
            <a:endParaRPr lang="en-US" sz="1000" dirty="0"/>
          </a:p>
        </p:txBody>
      </p:sp>
      <p:sp>
        <p:nvSpPr>
          <p:cNvPr id="38" name="Shape 35"/>
          <p:cNvSpPr/>
          <p:nvPr/>
        </p:nvSpPr>
        <p:spPr>
          <a:xfrm>
            <a:off x="512064" y="3675888"/>
            <a:ext cx="10826496" cy="0"/>
          </a:xfrm>
          <a:prstGeom prst="line">
            <a:avLst/>
          </a:prstGeom>
          <a:noFill/>
          <a:ln w="6350">
            <a:solidFill>
              <a:srgbClr val="D0D0D0"/>
            </a:solidFill>
            <a:prstDash val="solid"/>
          </a:ln>
        </p:spPr>
      </p:sp>
      <p:sp>
        <p:nvSpPr>
          <p:cNvPr id="39" name="Text 36"/>
          <p:cNvSpPr/>
          <p:nvPr/>
        </p:nvSpPr>
        <p:spPr>
          <a:xfrm>
            <a:off x="512064" y="36758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Google Calendar read</a:t>
            </a:r>
            <a:endParaRPr lang="en-US" sz="1050" dirty="0"/>
          </a:p>
        </p:txBody>
      </p:sp>
      <p:sp>
        <p:nvSpPr>
          <p:cNvPr id="40" name="Shape 37"/>
          <p:cNvSpPr/>
          <p:nvPr/>
        </p:nvSpPr>
        <p:spPr>
          <a:xfrm>
            <a:off x="2752344" y="3831336"/>
            <a:ext cx="146304" cy="146304"/>
          </a:xfrm>
          <a:prstGeom prst="ellipse">
            <a:avLst/>
          </a:prstGeom>
          <a:solidFill>
            <a:srgbClr val="00A9F4"/>
          </a:solidFill>
          <a:ln w="12700">
            <a:solidFill>
              <a:srgbClr val="00A9F4"/>
            </a:solidFill>
            <a:prstDash val="solid"/>
          </a:ln>
        </p:spPr>
      </p:sp>
      <p:sp>
        <p:nvSpPr>
          <p:cNvPr id="41" name="Text 38"/>
          <p:cNvSpPr/>
          <p:nvPr/>
        </p:nvSpPr>
        <p:spPr>
          <a:xfrm>
            <a:off x="2944368" y="36758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42" name="Text 39"/>
          <p:cNvSpPr/>
          <p:nvPr/>
        </p:nvSpPr>
        <p:spPr>
          <a:xfrm>
            <a:off x="3621024" y="36758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118 events imported and classified from existing calendars</a:t>
            </a:r>
            <a:endParaRPr lang="en-US" sz="1000" dirty="0"/>
          </a:p>
        </p:txBody>
      </p:sp>
      <p:sp>
        <p:nvSpPr>
          <p:cNvPr id="43" name="Text 40"/>
          <p:cNvSpPr/>
          <p:nvPr/>
        </p:nvSpPr>
        <p:spPr>
          <a:xfrm>
            <a:off x="8375904" y="36758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Class schedule appears in app</a:t>
            </a:r>
            <a:endParaRPr lang="en-US" sz="1000" dirty="0"/>
          </a:p>
        </p:txBody>
      </p:sp>
      <p:sp>
        <p:nvSpPr>
          <p:cNvPr id="44" name="Shape 41"/>
          <p:cNvSpPr/>
          <p:nvPr/>
        </p:nvSpPr>
        <p:spPr>
          <a:xfrm>
            <a:off x="512064" y="4133088"/>
            <a:ext cx="10826496" cy="0"/>
          </a:xfrm>
          <a:prstGeom prst="line">
            <a:avLst/>
          </a:prstGeom>
          <a:noFill/>
          <a:ln w="6350">
            <a:solidFill>
              <a:srgbClr val="D0D0D0"/>
            </a:solidFill>
            <a:prstDash val="solid"/>
          </a:ln>
        </p:spPr>
      </p:sp>
      <p:sp>
        <p:nvSpPr>
          <p:cNvPr id="45" name="Text 42"/>
          <p:cNvSpPr/>
          <p:nvPr/>
        </p:nvSpPr>
        <p:spPr>
          <a:xfrm>
            <a:off x="512064" y="41330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Google Calendar push</a:t>
            </a:r>
            <a:endParaRPr lang="en-US" sz="1050" dirty="0"/>
          </a:p>
        </p:txBody>
      </p:sp>
      <p:sp>
        <p:nvSpPr>
          <p:cNvPr id="46" name="Shape 43"/>
          <p:cNvSpPr/>
          <p:nvPr/>
        </p:nvSpPr>
        <p:spPr>
          <a:xfrm>
            <a:off x="2752344" y="4288536"/>
            <a:ext cx="146304" cy="146304"/>
          </a:xfrm>
          <a:prstGeom prst="ellipse">
            <a:avLst/>
          </a:prstGeom>
          <a:solidFill>
            <a:srgbClr val="00A9F4"/>
          </a:solidFill>
          <a:ln w="12700">
            <a:solidFill>
              <a:srgbClr val="00A9F4"/>
            </a:solidFill>
            <a:prstDash val="solid"/>
          </a:ln>
        </p:spPr>
      </p:sp>
      <p:sp>
        <p:nvSpPr>
          <p:cNvPr id="47" name="Text 44"/>
          <p:cNvSpPr/>
          <p:nvPr/>
        </p:nvSpPr>
        <p:spPr>
          <a:xfrm>
            <a:off x="2944368" y="41330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48" name="Text 45"/>
          <p:cNvSpPr/>
          <p:nvPr/>
        </p:nvSpPr>
        <p:spPr>
          <a:xfrm>
            <a:off x="3621024" y="41330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Dedicated calendar, idempotent, one click undo</a:t>
            </a:r>
            <a:endParaRPr lang="en-US" sz="1000" dirty="0"/>
          </a:p>
        </p:txBody>
      </p:sp>
      <p:sp>
        <p:nvSpPr>
          <p:cNvPr id="49" name="Text 46"/>
          <p:cNvSpPr/>
          <p:nvPr/>
        </p:nvSpPr>
        <p:spPr>
          <a:xfrm>
            <a:off x="8375904" y="41330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Verified by repeat push</a:t>
            </a:r>
            <a:endParaRPr lang="en-US" sz="1000" dirty="0"/>
          </a:p>
        </p:txBody>
      </p:sp>
      <p:sp>
        <p:nvSpPr>
          <p:cNvPr id="50" name="Shape 47"/>
          <p:cNvSpPr/>
          <p:nvPr/>
        </p:nvSpPr>
        <p:spPr>
          <a:xfrm>
            <a:off x="512064" y="4590288"/>
            <a:ext cx="10826496" cy="0"/>
          </a:xfrm>
          <a:prstGeom prst="line">
            <a:avLst/>
          </a:prstGeom>
          <a:noFill/>
          <a:ln w="6350">
            <a:solidFill>
              <a:srgbClr val="D0D0D0"/>
            </a:solidFill>
            <a:prstDash val="solid"/>
          </a:ln>
        </p:spPr>
      </p:sp>
      <p:sp>
        <p:nvSpPr>
          <p:cNvPr id="51" name="Text 48"/>
          <p:cNvSpPr/>
          <p:nvPr/>
        </p:nvSpPr>
        <p:spPr>
          <a:xfrm>
            <a:off x="512064" y="45902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Interface</a:t>
            </a:r>
            <a:endParaRPr lang="en-US" sz="1050" dirty="0"/>
          </a:p>
        </p:txBody>
      </p:sp>
      <p:sp>
        <p:nvSpPr>
          <p:cNvPr id="52" name="Shape 49"/>
          <p:cNvSpPr/>
          <p:nvPr/>
        </p:nvSpPr>
        <p:spPr>
          <a:xfrm>
            <a:off x="2752344" y="4745736"/>
            <a:ext cx="146304" cy="146304"/>
          </a:xfrm>
          <a:prstGeom prst="ellipse">
            <a:avLst/>
          </a:prstGeom>
          <a:solidFill>
            <a:srgbClr val="00A9F4"/>
          </a:solidFill>
          <a:ln w="12700">
            <a:solidFill>
              <a:srgbClr val="00A9F4"/>
            </a:solidFill>
            <a:prstDash val="solid"/>
          </a:ln>
        </p:spPr>
      </p:sp>
      <p:sp>
        <p:nvSpPr>
          <p:cNvPr id="53" name="Text 50"/>
          <p:cNvSpPr/>
          <p:nvPr/>
        </p:nvSpPr>
        <p:spPr>
          <a:xfrm>
            <a:off x="2944368" y="45902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54" name="Text 51"/>
          <p:cNvSpPr/>
          <p:nvPr/>
        </p:nvSpPr>
        <p:spPr>
          <a:xfrm>
            <a:off x="3621024" y="45902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Desktop, tablet and mobile, light and dark themes</a:t>
            </a:r>
            <a:endParaRPr lang="en-US" sz="1000" dirty="0"/>
          </a:p>
        </p:txBody>
      </p:sp>
      <p:sp>
        <p:nvSpPr>
          <p:cNvPr id="55" name="Text 52"/>
          <p:cNvSpPr/>
          <p:nvPr/>
        </p:nvSpPr>
        <p:spPr>
          <a:xfrm>
            <a:off x="8375904" y="45902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Screenshots on the next page</a:t>
            </a:r>
            <a:endParaRPr lang="en-US" sz="1000" dirty="0"/>
          </a:p>
        </p:txBody>
      </p:sp>
      <p:sp>
        <p:nvSpPr>
          <p:cNvPr id="56" name="Shape 53"/>
          <p:cNvSpPr/>
          <p:nvPr/>
        </p:nvSpPr>
        <p:spPr>
          <a:xfrm>
            <a:off x="512064" y="5047488"/>
            <a:ext cx="10826496" cy="0"/>
          </a:xfrm>
          <a:prstGeom prst="line">
            <a:avLst/>
          </a:prstGeom>
          <a:noFill/>
          <a:ln w="6350">
            <a:solidFill>
              <a:srgbClr val="D0D0D0"/>
            </a:solidFill>
            <a:prstDash val="solid"/>
          </a:ln>
        </p:spPr>
      </p:sp>
      <p:sp>
        <p:nvSpPr>
          <p:cNvPr id="57" name="Text 54"/>
          <p:cNvSpPr/>
          <p:nvPr/>
        </p:nvSpPr>
        <p:spPr>
          <a:xfrm>
            <a:off x="512064" y="5047488"/>
            <a:ext cx="2194560"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Persistence</a:t>
            </a:r>
            <a:endParaRPr lang="en-US" sz="1050" dirty="0"/>
          </a:p>
        </p:txBody>
      </p:sp>
      <p:sp>
        <p:nvSpPr>
          <p:cNvPr id="58" name="Shape 55"/>
          <p:cNvSpPr/>
          <p:nvPr/>
        </p:nvSpPr>
        <p:spPr>
          <a:xfrm>
            <a:off x="2752344" y="5202936"/>
            <a:ext cx="146304" cy="146304"/>
          </a:xfrm>
          <a:prstGeom prst="ellipse">
            <a:avLst/>
          </a:prstGeom>
          <a:solidFill>
            <a:srgbClr val="00A9F4"/>
          </a:solidFill>
          <a:ln w="12700">
            <a:solidFill>
              <a:srgbClr val="00A9F4"/>
            </a:solidFill>
            <a:prstDash val="solid"/>
          </a:ln>
        </p:spPr>
      </p:sp>
      <p:sp>
        <p:nvSpPr>
          <p:cNvPr id="59" name="Text 56"/>
          <p:cNvSpPr/>
          <p:nvPr/>
        </p:nvSpPr>
        <p:spPr>
          <a:xfrm>
            <a:off x="2944368" y="5047488"/>
            <a:ext cx="658368" cy="457200"/>
          </a:xfrm>
          <a:prstGeom prst="rect">
            <a:avLst/>
          </a:prstGeom>
          <a:noFill/>
          <a:ln/>
        </p:spPr>
        <p:txBody>
          <a:bodyPr wrap="square" lIns="0" tIns="0" rIns="0" bIns="0" rtlCol="0" anchor="ctr"/>
          <a:lstStyle/>
          <a:p>
            <a:pPr indent="0" marL="0">
              <a:buNone/>
            </a:pPr>
            <a:r>
              <a:rPr lang="en-US" sz="1000" dirty="0">
                <a:solidFill>
                  <a:srgbClr val="333333"/>
                </a:solidFill>
                <a:latin typeface="Arial" pitchFamily="34" charset="0"/>
                <a:ea typeface="Arial" pitchFamily="34" charset="-122"/>
                <a:cs typeface="Arial" pitchFamily="34" charset="-120"/>
              </a:rPr>
              <a:t>Live</a:t>
            </a:r>
            <a:endParaRPr lang="en-US" sz="1000" dirty="0"/>
          </a:p>
        </p:txBody>
      </p:sp>
      <p:sp>
        <p:nvSpPr>
          <p:cNvPr id="60" name="Text 57"/>
          <p:cNvSpPr/>
          <p:nvPr/>
        </p:nvSpPr>
        <p:spPr>
          <a:xfrm>
            <a:off x="3621024" y="5047488"/>
            <a:ext cx="4663440" cy="457200"/>
          </a:xfrm>
          <a:prstGeom prst="rect">
            <a:avLst/>
          </a:prstGeom>
          <a:noFill/>
          <a:ln/>
        </p:spPr>
        <p:txBody>
          <a:bodyPr wrap="square" lIns="0" tIns="0" rIns="0" bIns="0" rtlCol="0" anchor="ctr"/>
          <a:lstStyle/>
          <a:p>
            <a:pPr indent="0" marL="0">
              <a:lnSpc>
                <a:spcPct val="110000"/>
              </a:lnSpc>
              <a:buNone/>
            </a:pPr>
            <a:r>
              <a:rPr lang="en-US" sz="1000" dirty="0">
                <a:solidFill>
                  <a:srgbClr val="333333"/>
                </a:solidFill>
                <a:latin typeface="Arial" pitchFamily="34" charset="0"/>
                <a:ea typeface="Arial" pitchFamily="34" charset="-122"/>
                <a:cs typeface="Arial" pitchFamily="34" charset="-120"/>
              </a:rPr>
              <a:t>SQLite with automatic schema migration on start</a:t>
            </a:r>
            <a:endParaRPr lang="en-US" sz="1000" dirty="0"/>
          </a:p>
        </p:txBody>
      </p:sp>
      <p:sp>
        <p:nvSpPr>
          <p:cNvPr id="61" name="Text 58"/>
          <p:cNvSpPr/>
          <p:nvPr/>
        </p:nvSpPr>
        <p:spPr>
          <a:xfrm>
            <a:off x="8375904" y="5047488"/>
            <a:ext cx="2971800" cy="420624"/>
          </a:xfrm>
          <a:prstGeom prst="rect">
            <a:avLst/>
          </a:prstGeom>
          <a:noFill/>
          <a:ln/>
        </p:spPr>
        <p:txBody>
          <a:bodyPr wrap="square" lIns="0" tIns="0" rIns="0" bIns="0" rtlCol="0" anchor="ctr"/>
          <a:lstStyle/>
          <a:p>
            <a:pPr indent="0" marL="0">
              <a:lnSpc>
                <a:spcPct val="110000"/>
              </a:lnSpc>
              <a:buNone/>
            </a:pPr>
            <a:r>
              <a:rPr lang="en-US" sz="1000" dirty="0">
                <a:solidFill>
                  <a:srgbClr val="7F7F7F"/>
                </a:solidFill>
                <a:latin typeface="Arial" pitchFamily="34" charset="0"/>
                <a:ea typeface="Arial" pitchFamily="34" charset="-122"/>
                <a:cs typeface="Arial" pitchFamily="34" charset="-120"/>
              </a:rPr>
              <a:t>Survives restart without data loss</a:t>
            </a:r>
            <a:endParaRPr lang="en-US" sz="1000" dirty="0"/>
          </a:p>
        </p:txBody>
      </p:sp>
      <p:sp>
        <p:nvSpPr>
          <p:cNvPr id="62" name="Shape 59"/>
          <p:cNvSpPr/>
          <p:nvPr/>
        </p:nvSpPr>
        <p:spPr>
          <a:xfrm>
            <a:off x="512064" y="5504688"/>
            <a:ext cx="10826496" cy="0"/>
          </a:xfrm>
          <a:prstGeom prst="line">
            <a:avLst/>
          </a:prstGeom>
          <a:noFill/>
          <a:ln w="6350">
            <a:solidFill>
              <a:srgbClr val="D0D0D0"/>
            </a:solidFill>
            <a:prstDash val="solid"/>
          </a:ln>
        </p:spPr>
      </p:sp>
      <p:sp>
        <p:nvSpPr>
          <p:cNvPr id="63" name="Text 60"/>
          <p:cNvSpPr/>
          <p:nvPr/>
        </p:nvSpPr>
        <p:spPr>
          <a:xfrm>
            <a:off x="512064" y="5650992"/>
            <a:ext cx="10826496" cy="402336"/>
          </a:xfrm>
          <a:prstGeom prst="rect">
            <a:avLst/>
          </a:prstGeom>
          <a:noFill/>
          <a:ln/>
        </p:spPr>
        <p:txBody>
          <a:bodyPr wrap="square" lIns="0" tIns="0" rIns="0" bIns="0" rtlCol="0" anchor="ctr"/>
          <a:lstStyle/>
          <a:p>
            <a:pPr indent="0" marL="0">
              <a:lnSpc>
                <a:spcPct val="112000"/>
              </a:lnSpc>
              <a:buNone/>
            </a:pPr>
            <a:r>
              <a:rPr lang="en-US" sz="1050" b="1" dirty="0">
                <a:solidFill>
                  <a:srgbClr val="051C2C"/>
                </a:solidFill>
                <a:latin typeface="Arial" pitchFamily="34" charset="0"/>
                <a:ea typeface="Arial" pitchFamily="34" charset="-122"/>
                <a:cs typeface="Arial" pitchFamily="34" charset="-120"/>
              </a:rPr>
              <a:t>Not yet production:  </a:t>
            </a:r>
            <a:pPr indent="0" marL="0">
              <a:lnSpc>
                <a:spcPct val="112000"/>
              </a:lnSpc>
              <a:buNone/>
            </a:pPr>
            <a:r>
              <a:rPr lang="en-US" sz="1050" dirty="0">
                <a:solidFill>
                  <a:srgbClr val="333333"/>
                </a:solidFill>
                <a:latin typeface="Arial" pitchFamily="34" charset="0"/>
                <a:ea typeface="Arial" pitchFamily="34" charset="-122"/>
                <a:cs typeface="Arial" pitchFamily="34" charset="-120"/>
              </a:rPr>
              <a:t>the app runs against one account at a time and polls Gmail rather than subscribing to push notifications, and the extraction layer is deterministic rather than model based. Both are deliberate choices for a prototype, and both are single component swaps.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12064" y="329184"/>
            <a:ext cx="11173968" cy="786384"/>
          </a:xfrm>
          <a:prstGeom prst="rect">
            <a:avLst/>
          </a:prstGeom>
          <a:noFill/>
          <a:ln/>
        </p:spPr>
        <p:txBody>
          <a:bodyPr wrap="square" lIns="0" tIns="0" rIns="0" bIns="0" rtlCol="0" anchor="t"/>
          <a:lstStyle/>
          <a:p>
            <a:pPr algn="l" indent="0" marL="0">
              <a:lnSpc>
                <a:spcPct val="108000"/>
              </a:lnSpc>
              <a:buNone/>
            </a:pPr>
            <a:r>
              <a:rPr lang="en-US" sz="2300" b="1" dirty="0">
                <a:solidFill>
                  <a:srgbClr val="051C2C"/>
                </a:solidFill>
                <a:latin typeface="Georgia" pitchFamily="34" charset="0"/>
                <a:ea typeface="Georgia" pitchFamily="34" charset="-122"/>
                <a:cs typeface="Georgia" pitchFamily="34" charset="-120"/>
              </a:rPr>
              <a:t>One build serves desktop, mobile and dark mode, so the calendar is usable wherever mail is read</a:t>
            </a:r>
            <a:endParaRPr lang="en-US" sz="2300" dirty="0"/>
          </a:p>
        </p:txBody>
      </p:sp>
      <p:sp>
        <p:nvSpPr>
          <p:cNvPr id="3" name="Shape 1"/>
          <p:cNvSpPr/>
          <p:nvPr/>
        </p:nvSpPr>
        <p:spPr>
          <a:xfrm>
            <a:off x="512064" y="1216152"/>
            <a:ext cx="11173968" cy="0"/>
          </a:xfrm>
          <a:prstGeom prst="line">
            <a:avLst/>
          </a:prstGeom>
          <a:noFill/>
          <a:ln w="9525">
            <a:solidFill>
              <a:srgbClr val="051C2C"/>
            </a:solidFill>
            <a:prstDash val="solid"/>
          </a:ln>
        </p:spPr>
      </p:sp>
      <p:sp>
        <p:nvSpPr>
          <p:cNvPr id="4" name="Text 2"/>
          <p:cNvSpPr/>
          <p:nvPr/>
        </p:nvSpPr>
        <p:spPr>
          <a:xfrm>
            <a:off x="512064" y="1271016"/>
            <a:ext cx="4572000" cy="219456"/>
          </a:xfrm>
          <a:prstGeom prst="rect">
            <a:avLst/>
          </a:prstGeom>
          <a:noFill/>
          <a:ln/>
        </p:spPr>
        <p:txBody>
          <a:bodyPr wrap="square" lIns="0" tIns="0" rIns="0" bIns="0" rtlCol="0" anchor="ctr"/>
          <a:lstStyle/>
          <a:p>
            <a:pPr indent="0" marL="0">
              <a:buNone/>
            </a:pPr>
            <a:r>
              <a:rPr lang="en-US" sz="900" b="1" u="sng" dirty="0">
                <a:solidFill>
                  <a:srgbClr val="051C2C"/>
                </a:solidFill>
                <a:latin typeface="Arial" pitchFamily="34" charset="0"/>
                <a:ea typeface="Arial" pitchFamily="34" charset="-122"/>
                <a:cs typeface="Arial" pitchFamily="34" charset="-120"/>
              </a:rPr>
              <a:t>Screenshots from the live prototype</a:t>
            </a:r>
            <a:endParaRPr lang="en-US" sz="900" dirty="0"/>
          </a:p>
        </p:txBody>
      </p:sp>
      <p:sp>
        <p:nvSpPr>
          <p:cNvPr id="5" name="Shape 3"/>
          <p:cNvSpPr/>
          <p:nvPr/>
        </p:nvSpPr>
        <p:spPr>
          <a:xfrm>
            <a:off x="512064" y="6400800"/>
            <a:ext cx="11173968" cy="0"/>
          </a:xfrm>
          <a:prstGeom prst="line">
            <a:avLst/>
          </a:prstGeom>
          <a:noFill/>
          <a:ln w="6350">
            <a:solidFill>
              <a:srgbClr val="D0D0D0"/>
            </a:solidFill>
            <a:prstDash val="solid"/>
          </a:ln>
        </p:spPr>
      </p:sp>
      <p:sp>
        <p:nvSpPr>
          <p:cNvPr id="6" name="Text 4"/>
          <p:cNvSpPr/>
          <p:nvPr/>
        </p:nvSpPr>
        <p:spPr>
          <a:xfrm>
            <a:off x="512064" y="6455664"/>
            <a:ext cx="10442448" cy="219456"/>
          </a:xfrm>
          <a:prstGeom prst="rect">
            <a:avLst/>
          </a:prstGeom>
          <a:noFill/>
          <a:ln/>
        </p:spPr>
        <p:txBody>
          <a:bodyPr wrap="square" lIns="0" tIns="0" rIns="0" bIns="0" rtlCol="0" anchor="ctr"/>
          <a:lstStyle/>
          <a:p>
            <a:pPr indent="0" marL="0">
              <a:buNone/>
            </a:pPr>
            <a:r>
              <a:rPr lang="en-US" sz="800" dirty="0">
                <a:solidFill>
                  <a:srgbClr val="7F7F7F"/>
                </a:solidFill>
                <a:latin typeface="Arial" pitchFamily="34" charset="0"/>
                <a:ea typeface="Arial" pitchFamily="34" charset="-122"/>
                <a:cs typeface="Arial" pitchFamily="34" charset="-120"/>
              </a:rPr>
              <a:t>Source: CampusCal interface, live IIMA Gmail account, 5 August 2026</a:t>
            </a:r>
            <a:endParaRPr lang="en-US" sz="800" dirty="0"/>
          </a:p>
        </p:txBody>
      </p:sp>
      <p:sp>
        <p:nvSpPr>
          <p:cNvPr id="7" name="Text 5"/>
          <p:cNvSpPr/>
          <p:nvPr/>
        </p:nvSpPr>
        <p:spPr>
          <a:xfrm>
            <a:off x="11045952" y="6455664"/>
            <a:ext cx="640080" cy="219456"/>
          </a:xfrm>
          <a:prstGeom prst="rect">
            <a:avLst/>
          </a:prstGeom>
          <a:noFill/>
          <a:ln/>
        </p:spPr>
        <p:txBody>
          <a:bodyPr wrap="square" lIns="0" tIns="0" rIns="0" bIns="0" rtlCol="0" anchor="ctr"/>
          <a:lstStyle/>
          <a:p>
            <a:pPr algn="r" indent="0" marL="0">
              <a:buNone/>
            </a:pPr>
            <a:r>
              <a:rPr lang="en-US" sz="900" dirty="0">
                <a:solidFill>
                  <a:srgbClr val="7F7F7F"/>
                </a:solidFill>
                <a:latin typeface="Arial" pitchFamily="34" charset="0"/>
                <a:ea typeface="Arial" pitchFamily="34" charset="-122"/>
                <a:cs typeface="Arial" pitchFamily="34" charset="-120"/>
              </a:rPr>
              <a:t>13</a:t>
            </a:r>
            <a:endParaRPr lang="en-US" sz="900" dirty="0"/>
          </a:p>
        </p:txBody>
      </p:sp>
      <p:sp>
        <p:nvSpPr>
          <p:cNvPr id="9" name="Text 6"/>
          <p:cNvSpPr/>
          <p:nvPr/>
        </p:nvSpPr>
        <p:spPr>
          <a:xfrm>
            <a:off x="512064" y="1463040"/>
            <a:ext cx="557784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Desktop, 1,920 px</a:t>
            </a:r>
            <a:endParaRPr lang="en-US" sz="1100" dirty="0"/>
          </a:p>
        </p:txBody>
      </p:sp>
      <p:pic>
        <p:nvPicPr>
          <p:cNvPr id="10" name="Image 0" descr="/sessions/admiring-lucid-franklin/mnt/Demo/deck/img/s211957.png">    </p:cNvPr>
          <p:cNvPicPr>
            <a:picLocks noChangeAspect="1"/>
          </p:cNvPicPr>
          <p:nvPr/>
        </p:nvPicPr>
        <p:blipFill>
          <a:blip r:embed="rId1"/>
          <a:stretch>
            <a:fillRect/>
          </a:stretch>
        </p:blipFill>
        <p:spPr>
          <a:xfrm>
            <a:off x="1077425" y="1755648"/>
            <a:ext cx="4264237" cy="1828800"/>
          </a:xfrm>
          <a:prstGeom prst="rect">
            <a:avLst/>
          </a:prstGeom>
        </p:spPr>
      </p:pic>
      <p:sp>
        <p:nvSpPr>
          <p:cNvPr id="11" name="Text 7"/>
          <p:cNvSpPr/>
          <p:nvPr/>
        </p:nvSpPr>
        <p:spPr>
          <a:xfrm>
            <a:off x="512064" y="3657600"/>
            <a:ext cx="5394960" cy="237744"/>
          </a:xfrm>
          <a:prstGeom prst="rect">
            <a:avLst/>
          </a:prstGeom>
          <a:noFill/>
          <a:ln/>
        </p:spPr>
        <p:txBody>
          <a:bodyPr wrap="square" lIns="0" tIns="0" rIns="0" bIns="0" rtlCol="0" anchor="ctr"/>
          <a:lstStyle/>
          <a:p>
            <a:pPr algn="ctr" indent="0" marL="0">
              <a:buNone/>
            </a:pPr>
            <a:r>
              <a:rPr lang="en-US" sz="900" dirty="0">
                <a:solidFill>
                  <a:srgbClr val="7F7F7F"/>
                </a:solidFill>
                <a:latin typeface="Arial" pitchFamily="34" charset="0"/>
                <a:ea typeface="Arial" pitchFamily="34" charset="-122"/>
                <a:cs typeface="Arial" pitchFamily="34" charset="-120"/>
              </a:rPr>
              <a:t>Month grid with an always visible agenda rail</a:t>
            </a:r>
            <a:endParaRPr lang="en-US" sz="900" dirty="0"/>
          </a:p>
        </p:txBody>
      </p:sp>
      <p:sp>
        <p:nvSpPr>
          <p:cNvPr id="12" name="Text 8"/>
          <p:cNvSpPr/>
          <p:nvPr/>
        </p:nvSpPr>
        <p:spPr>
          <a:xfrm>
            <a:off x="512064" y="3895344"/>
            <a:ext cx="557784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Dark mode, same build</a:t>
            </a:r>
            <a:endParaRPr lang="en-US" sz="1100" dirty="0"/>
          </a:p>
        </p:txBody>
      </p:sp>
      <p:pic>
        <p:nvPicPr>
          <p:cNvPr id="13" name="Image 1" descr="/sessions/admiring-lucid-franklin/mnt/Demo/deck/img/s212741.png">    </p:cNvPr>
          <p:cNvPicPr>
            <a:picLocks noChangeAspect="1"/>
          </p:cNvPicPr>
          <p:nvPr/>
        </p:nvPicPr>
        <p:blipFill>
          <a:blip r:embed="rId2"/>
          <a:stretch>
            <a:fillRect/>
          </a:stretch>
        </p:blipFill>
        <p:spPr>
          <a:xfrm>
            <a:off x="1025271" y="4187952"/>
            <a:ext cx="4368546" cy="1828800"/>
          </a:xfrm>
          <a:prstGeom prst="rect">
            <a:avLst/>
          </a:prstGeom>
        </p:spPr>
      </p:pic>
      <p:sp>
        <p:nvSpPr>
          <p:cNvPr id="14" name="Text 9"/>
          <p:cNvSpPr/>
          <p:nvPr/>
        </p:nvSpPr>
        <p:spPr>
          <a:xfrm>
            <a:off x="512064" y="6053328"/>
            <a:ext cx="5394960" cy="237744"/>
          </a:xfrm>
          <a:prstGeom prst="rect">
            <a:avLst/>
          </a:prstGeom>
          <a:noFill/>
          <a:ln/>
        </p:spPr>
        <p:txBody>
          <a:bodyPr wrap="square" lIns="0" tIns="0" rIns="0" bIns="0" rtlCol="0" anchor="ctr"/>
          <a:lstStyle/>
          <a:p>
            <a:pPr algn="ctr" indent="0" marL="0">
              <a:buNone/>
            </a:pPr>
            <a:r>
              <a:rPr lang="en-US" sz="900" dirty="0">
                <a:solidFill>
                  <a:srgbClr val="7F7F7F"/>
                </a:solidFill>
                <a:latin typeface="Arial" pitchFamily="34" charset="0"/>
                <a:ea typeface="Arial" pitchFamily="34" charset="-122"/>
                <a:cs typeface="Arial" pitchFamily="34" charset="-120"/>
              </a:rPr>
              <a:t>Theme switched from the top bar, no separate stylesheet</a:t>
            </a:r>
            <a:endParaRPr lang="en-US" sz="900" dirty="0"/>
          </a:p>
        </p:txBody>
      </p:sp>
      <p:sp>
        <p:nvSpPr>
          <p:cNvPr id="15" name="Text 10"/>
          <p:cNvSpPr/>
          <p:nvPr/>
        </p:nvSpPr>
        <p:spPr>
          <a:xfrm>
            <a:off x="6263640" y="1463040"/>
            <a:ext cx="5029200" cy="256032"/>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Mobile, 320 px</a:t>
            </a:r>
            <a:endParaRPr lang="en-US" sz="1100" dirty="0"/>
          </a:p>
        </p:txBody>
      </p:sp>
      <p:pic>
        <p:nvPicPr>
          <p:cNvPr id="16" name="Image 2" descr="/sessions/admiring-lucid-franklin/mnt/Demo/deck/img/s212810.png">    </p:cNvPr>
          <p:cNvPicPr>
            <a:picLocks noChangeAspect="1"/>
          </p:cNvPicPr>
          <p:nvPr/>
        </p:nvPicPr>
        <p:blipFill>
          <a:blip r:embed="rId3"/>
          <a:stretch>
            <a:fillRect/>
          </a:stretch>
        </p:blipFill>
        <p:spPr>
          <a:xfrm>
            <a:off x="6355080" y="1773936"/>
            <a:ext cx="1600200" cy="3467941"/>
          </a:xfrm>
          <a:prstGeom prst="rect">
            <a:avLst/>
          </a:prstGeom>
        </p:spPr>
      </p:pic>
      <p:sp>
        <p:nvSpPr>
          <p:cNvPr id="17" name="Text 11"/>
          <p:cNvSpPr/>
          <p:nvPr/>
        </p:nvSpPr>
        <p:spPr>
          <a:xfrm>
            <a:off x="6263640" y="5333317"/>
            <a:ext cx="1783080" cy="457200"/>
          </a:xfrm>
          <a:prstGeom prst="rect">
            <a:avLst/>
          </a:prstGeom>
          <a:noFill/>
          <a:ln/>
        </p:spPr>
        <p:txBody>
          <a:bodyPr wrap="square" lIns="0" tIns="0" rIns="0" bIns="0" rtlCol="0" anchor="ctr"/>
          <a:lstStyle/>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Month grid collapses</a:t>
            </a:r>
            <a:endParaRPr lang="en-US" sz="900" dirty="0"/>
          </a:p>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to category dots</a:t>
            </a:r>
            <a:endParaRPr lang="en-US" sz="900" dirty="0"/>
          </a:p>
        </p:txBody>
      </p:sp>
      <p:pic>
        <p:nvPicPr>
          <p:cNvPr id="18" name="Image 3" descr="/sessions/admiring-lucid-franklin/mnt/Demo/deck/img/s212838.png">    </p:cNvPr>
          <p:cNvPicPr>
            <a:picLocks noChangeAspect="1"/>
          </p:cNvPicPr>
          <p:nvPr/>
        </p:nvPicPr>
        <p:blipFill>
          <a:blip r:embed="rId4"/>
          <a:stretch>
            <a:fillRect/>
          </a:stretch>
        </p:blipFill>
        <p:spPr>
          <a:xfrm>
            <a:off x="8055864" y="1773936"/>
            <a:ext cx="1600200" cy="3478916"/>
          </a:xfrm>
          <a:prstGeom prst="rect">
            <a:avLst/>
          </a:prstGeom>
        </p:spPr>
      </p:pic>
      <p:sp>
        <p:nvSpPr>
          <p:cNvPr id="19" name="Text 12"/>
          <p:cNvSpPr/>
          <p:nvPr/>
        </p:nvSpPr>
        <p:spPr>
          <a:xfrm>
            <a:off x="7964424" y="5344292"/>
            <a:ext cx="1783080" cy="457200"/>
          </a:xfrm>
          <a:prstGeom prst="rect">
            <a:avLst/>
          </a:prstGeom>
          <a:noFill/>
          <a:ln/>
        </p:spPr>
        <p:txBody>
          <a:bodyPr wrap="square" lIns="0" tIns="0" rIns="0" bIns="0" rtlCol="0" anchor="ctr"/>
          <a:lstStyle/>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Agenda view,</a:t>
            </a:r>
            <a:endParaRPr lang="en-US" sz="900" dirty="0"/>
          </a:p>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grouped by day</a:t>
            </a:r>
            <a:endParaRPr lang="en-US" sz="900" dirty="0"/>
          </a:p>
        </p:txBody>
      </p:sp>
      <p:pic>
        <p:nvPicPr>
          <p:cNvPr id="20" name="Image 4" descr="/sessions/admiring-lucid-franklin/mnt/Demo/deck/img/s212922.png">    </p:cNvPr>
          <p:cNvPicPr>
            <a:picLocks noChangeAspect="1"/>
          </p:cNvPicPr>
          <p:nvPr/>
        </p:nvPicPr>
        <p:blipFill>
          <a:blip r:embed="rId5"/>
          <a:stretch>
            <a:fillRect/>
          </a:stretch>
        </p:blipFill>
        <p:spPr>
          <a:xfrm>
            <a:off x="9756648" y="1773936"/>
            <a:ext cx="1600200" cy="3490882"/>
          </a:xfrm>
          <a:prstGeom prst="rect">
            <a:avLst/>
          </a:prstGeom>
        </p:spPr>
      </p:pic>
      <p:sp>
        <p:nvSpPr>
          <p:cNvPr id="21" name="Text 13"/>
          <p:cNvSpPr/>
          <p:nvPr/>
        </p:nvSpPr>
        <p:spPr>
          <a:xfrm>
            <a:off x="9665208" y="5356258"/>
            <a:ext cx="1783080" cy="457200"/>
          </a:xfrm>
          <a:prstGeom prst="rect">
            <a:avLst/>
          </a:prstGeom>
          <a:noFill/>
          <a:ln/>
        </p:spPr>
        <p:txBody>
          <a:bodyPr wrap="square" lIns="0" tIns="0" rIns="0" bIns="0" rtlCol="0" anchor="ctr"/>
          <a:lstStyle/>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Register directly</a:t>
            </a:r>
            <a:endParaRPr lang="en-US" sz="900" dirty="0"/>
          </a:p>
          <a:p>
            <a:pPr algn="ctr" indent="0" marL="0">
              <a:lnSpc>
                <a:spcPct val="110000"/>
              </a:lnSpc>
              <a:buNone/>
            </a:pPr>
            <a:r>
              <a:rPr lang="en-US" sz="900" dirty="0">
                <a:solidFill>
                  <a:srgbClr val="7F7F7F"/>
                </a:solidFill>
                <a:latin typeface="Arial" pitchFamily="34" charset="0"/>
                <a:ea typeface="Arial" pitchFamily="34" charset="-122"/>
                <a:cs typeface="Arial" pitchFamily="34" charset="-120"/>
              </a:rPr>
              <a:t>from the phone</a:t>
            </a:r>
            <a:endParaRPr lang="en-US" sz="900" dirty="0"/>
          </a:p>
        </p:txBody>
      </p:sp>
      <p:sp>
        <p:nvSpPr>
          <p:cNvPr id="22" name="Text 14"/>
          <p:cNvSpPr/>
          <p:nvPr/>
        </p:nvSpPr>
        <p:spPr>
          <a:xfrm>
            <a:off x="6263640" y="5870448"/>
            <a:ext cx="5074920" cy="457200"/>
          </a:xfrm>
          <a:prstGeom prst="rect">
            <a:avLst/>
          </a:prstGeom>
          <a:noFill/>
          <a:ln/>
        </p:spPr>
        <p:txBody>
          <a:bodyPr wrap="square" lIns="0" tIns="0" rIns="0" bIns="0" rtlCol="0" anchor="ctr"/>
          <a:lstStyle/>
          <a:p>
            <a:pPr indent="0" marL="0">
              <a:lnSpc>
                <a:spcPct val="112000"/>
              </a:lnSpc>
              <a:buNone/>
            </a:pPr>
            <a:r>
              <a:rPr lang="en-US" sz="950" b="1" dirty="0">
                <a:solidFill>
                  <a:srgbClr val="051C2C"/>
                </a:solidFill>
                <a:latin typeface="Arial" pitchFamily="34" charset="0"/>
                <a:ea typeface="Arial" pitchFamily="34" charset="-122"/>
                <a:cs typeface="Arial" pitchFamily="34" charset="-120"/>
              </a:rPr>
              <a:t>Students read mail on the phone, so the phone view is the primary one:  </a:t>
            </a:r>
            <a:pPr indent="0" marL="0">
              <a:lnSpc>
                <a:spcPct val="112000"/>
              </a:lnSpc>
              <a:buNone/>
            </a:pPr>
            <a:r>
              <a:rPr lang="en-US" sz="950" dirty="0">
                <a:solidFill>
                  <a:srgbClr val="333333"/>
                </a:solidFill>
                <a:latin typeface="Arial" pitchFamily="34" charset="0"/>
                <a:ea typeface="Arial" pitchFamily="34" charset="-122"/>
                <a:cs typeface="Arial" pitchFamily="34" charset="-120"/>
              </a:rPr>
              <a:t>the sidebar becomes a bottom tab bar and the month grid becomes a dot grid with a tap-through day sheet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51C2C"/>
        </a:solidFill>
      </p:bgPr>
    </p:bg>
    <p:spTree>
      <p:nvGrpSpPr>
        <p:cNvPr id="1" name=""/>
        <p:cNvGrpSpPr/>
        <p:nvPr/>
      </p:nvGrpSpPr>
      <p:grpSpPr>
        <a:xfrm>
          <a:off x="0" y="0"/>
          <a:ext cx="0" cy="0"/>
          <a:chOff x="0" y="0"/>
          <a:chExt cx="0" cy="0"/>
        </a:xfrm>
      </p:grpSpPr>
      <p:sp>
        <p:nvSpPr>
          <p:cNvPr id="2" name="Shape 0"/>
          <p:cNvSpPr/>
          <p:nvPr/>
        </p:nvSpPr>
        <p:spPr>
          <a:xfrm>
            <a:off x="822960" y="1371600"/>
            <a:ext cx="1371600" cy="0"/>
          </a:xfrm>
          <a:prstGeom prst="line">
            <a:avLst/>
          </a:prstGeom>
          <a:noFill/>
          <a:ln w="19050">
            <a:solidFill>
              <a:srgbClr val="00A9F4"/>
            </a:solidFill>
            <a:prstDash val="solid"/>
          </a:ln>
        </p:spPr>
      </p:sp>
      <p:sp>
        <p:nvSpPr>
          <p:cNvPr id="3" name="Text 1"/>
          <p:cNvSpPr/>
          <p:nvPr/>
        </p:nvSpPr>
        <p:spPr>
          <a:xfrm>
            <a:off x="822960" y="1627632"/>
            <a:ext cx="6766560" cy="1920240"/>
          </a:xfrm>
          <a:prstGeom prst="rect">
            <a:avLst/>
          </a:prstGeom>
          <a:noFill/>
          <a:ln/>
        </p:spPr>
        <p:txBody>
          <a:bodyPr wrap="square" lIns="0" tIns="0" rIns="0" bIns="0" rtlCol="0" anchor="ctr"/>
          <a:lstStyle/>
          <a:p>
            <a:pPr indent="0" marL="0">
              <a:lnSpc>
                <a:spcPct val="112000"/>
              </a:lnSpc>
              <a:buNone/>
            </a:pPr>
            <a:r>
              <a:rPr lang="en-US" sz="3400" b="1" dirty="0">
                <a:solidFill>
                  <a:srgbClr val="FFFFFF"/>
                </a:solidFill>
                <a:latin typeface="Georgia" pitchFamily="34" charset="0"/>
                <a:ea typeface="Georgia" pitchFamily="34" charset="-122"/>
                <a:cs typeface="Georgia" pitchFamily="34" charset="-120"/>
              </a:rPr>
              <a:t>From 100 scattered mails to one calendar that fills itself</a:t>
            </a:r>
            <a:endParaRPr lang="en-US" sz="3400" dirty="0"/>
          </a:p>
        </p:txBody>
      </p:sp>
      <p:sp>
        <p:nvSpPr>
          <p:cNvPr id="4" name="Text 2"/>
          <p:cNvSpPr/>
          <p:nvPr/>
        </p:nvSpPr>
        <p:spPr>
          <a:xfrm>
            <a:off x="822960" y="3657600"/>
            <a:ext cx="6400800" cy="1097280"/>
          </a:xfrm>
          <a:prstGeom prst="rect">
            <a:avLst/>
          </a:prstGeom>
          <a:noFill/>
          <a:ln/>
        </p:spPr>
        <p:txBody>
          <a:bodyPr wrap="square" lIns="0" tIns="0" rIns="0" bIns="0" rtlCol="0" anchor="ctr"/>
          <a:lstStyle/>
          <a:p>
            <a:pPr indent="0" marL="0">
              <a:lnSpc>
                <a:spcPct val="128000"/>
              </a:lnSpc>
              <a:buNone/>
            </a:pPr>
            <a:r>
              <a:rPr lang="en-US" sz="1300" dirty="0">
                <a:solidFill>
                  <a:srgbClr val="AFC2CE"/>
                </a:solidFill>
                <a:latin typeface="Arial" pitchFamily="34" charset="0"/>
                <a:ea typeface="Arial" pitchFamily="34" charset="-122"/>
                <a:cs typeface="Arial" pitchFamily="34" charset="-120"/>
              </a:rPr>
              <a:t>The information was always there. CampusCal removes the only step that was ever manual, and gives every student the same view of the campus that the best informed student has.</a:t>
            </a:r>
            <a:endParaRPr lang="en-US" sz="1300" dirty="0"/>
          </a:p>
        </p:txBody>
      </p:sp>
      <p:sp>
        <p:nvSpPr>
          <p:cNvPr id="5" name="Shape 3"/>
          <p:cNvSpPr/>
          <p:nvPr/>
        </p:nvSpPr>
        <p:spPr>
          <a:xfrm>
            <a:off x="8138160" y="1463040"/>
            <a:ext cx="3200400" cy="0"/>
          </a:xfrm>
          <a:prstGeom prst="line">
            <a:avLst/>
          </a:prstGeom>
          <a:noFill/>
          <a:ln w="9525">
            <a:solidFill>
              <a:srgbClr val="1E3A4C"/>
            </a:solidFill>
            <a:prstDash val="solid"/>
          </a:ln>
        </p:spPr>
      </p:sp>
      <p:sp>
        <p:nvSpPr>
          <p:cNvPr id="6" name="Text 4"/>
          <p:cNvSpPr/>
          <p:nvPr/>
        </p:nvSpPr>
        <p:spPr>
          <a:xfrm>
            <a:off x="8138160" y="1572768"/>
            <a:ext cx="3200400" cy="566928"/>
          </a:xfrm>
          <a:prstGeom prst="rect">
            <a:avLst/>
          </a:prstGeom>
          <a:noFill/>
          <a:ln/>
        </p:spPr>
        <p:txBody>
          <a:bodyPr wrap="square" lIns="0" tIns="0" rIns="0" bIns="0" rtlCol="0" anchor="ctr"/>
          <a:lstStyle/>
          <a:p>
            <a:pPr indent="0" marL="0">
              <a:buNone/>
            </a:pPr>
            <a:r>
              <a:rPr lang="en-US" sz="2700" b="1" dirty="0">
                <a:solidFill>
                  <a:srgbClr val="00A9F4"/>
                </a:solidFill>
                <a:latin typeface="Georgia" pitchFamily="34" charset="0"/>
                <a:ea typeface="Georgia" pitchFamily="34" charset="-122"/>
                <a:cs typeface="Georgia" pitchFamily="34" charset="-120"/>
              </a:rPr>
              <a:t>133</a:t>
            </a:r>
            <a:endParaRPr lang="en-US" sz="2700" dirty="0"/>
          </a:p>
        </p:txBody>
      </p:sp>
      <p:sp>
        <p:nvSpPr>
          <p:cNvPr id="7" name="Text 5"/>
          <p:cNvSpPr/>
          <p:nvPr/>
        </p:nvSpPr>
        <p:spPr>
          <a:xfrm>
            <a:off x="8138160" y="2103120"/>
            <a:ext cx="3200400" cy="365760"/>
          </a:xfrm>
          <a:prstGeom prst="rect">
            <a:avLst/>
          </a:prstGeom>
          <a:noFill/>
          <a:ln/>
        </p:spPr>
        <p:txBody>
          <a:bodyPr wrap="square" lIns="0" tIns="0" rIns="0" bIns="0" rtlCol="0" anchor="ctr"/>
          <a:lstStyle/>
          <a:p>
            <a:pPr indent="0" marL="0">
              <a:lnSpc>
                <a:spcPct val="110000"/>
              </a:lnSpc>
              <a:buNone/>
            </a:pPr>
            <a:r>
              <a:rPr lang="en-US" sz="1000" dirty="0">
                <a:solidFill>
                  <a:srgbClr val="AFC2CE"/>
                </a:solidFill>
                <a:latin typeface="Arial" pitchFamily="34" charset="0"/>
                <a:ea typeface="Arial" pitchFamily="34" charset="-122"/>
                <a:cs typeface="Arial" pitchFamily="34" charset="-120"/>
              </a:rPr>
              <a:t>events live on the calendar</a:t>
            </a:r>
            <a:endParaRPr lang="en-US" sz="1000" dirty="0"/>
          </a:p>
        </p:txBody>
      </p:sp>
      <p:sp>
        <p:nvSpPr>
          <p:cNvPr id="8" name="Shape 6"/>
          <p:cNvSpPr/>
          <p:nvPr/>
        </p:nvSpPr>
        <p:spPr>
          <a:xfrm>
            <a:off x="8138160" y="2505456"/>
            <a:ext cx="3200400" cy="0"/>
          </a:xfrm>
          <a:prstGeom prst="line">
            <a:avLst/>
          </a:prstGeom>
          <a:noFill/>
          <a:ln w="9525">
            <a:solidFill>
              <a:srgbClr val="1E3A4C"/>
            </a:solidFill>
            <a:prstDash val="solid"/>
          </a:ln>
        </p:spPr>
      </p:sp>
      <p:sp>
        <p:nvSpPr>
          <p:cNvPr id="9" name="Text 7"/>
          <p:cNvSpPr/>
          <p:nvPr/>
        </p:nvSpPr>
        <p:spPr>
          <a:xfrm>
            <a:off x="8138160" y="2615184"/>
            <a:ext cx="3200400" cy="566928"/>
          </a:xfrm>
          <a:prstGeom prst="rect">
            <a:avLst/>
          </a:prstGeom>
          <a:noFill/>
          <a:ln/>
        </p:spPr>
        <p:txBody>
          <a:bodyPr wrap="square" lIns="0" tIns="0" rIns="0" bIns="0" rtlCol="0" anchor="ctr"/>
          <a:lstStyle/>
          <a:p>
            <a:pPr indent="0" marL="0">
              <a:buNone/>
            </a:pPr>
            <a:r>
              <a:rPr lang="en-US" sz="2700" b="1" dirty="0">
                <a:solidFill>
                  <a:srgbClr val="00A9F4"/>
                </a:solidFill>
                <a:latin typeface="Georgia" pitchFamily="34" charset="0"/>
                <a:ea typeface="Georgia" pitchFamily="34" charset="-122"/>
                <a:cs typeface="Georgia" pitchFamily="34" charset="-120"/>
              </a:rPr>
              <a:t>89% to 23%</a:t>
            </a:r>
            <a:endParaRPr lang="en-US" sz="2700" dirty="0"/>
          </a:p>
        </p:txBody>
      </p:sp>
      <p:sp>
        <p:nvSpPr>
          <p:cNvPr id="10" name="Text 8"/>
          <p:cNvSpPr/>
          <p:nvPr/>
        </p:nvSpPr>
        <p:spPr>
          <a:xfrm>
            <a:off x="8138160" y="3145536"/>
            <a:ext cx="3200400" cy="365760"/>
          </a:xfrm>
          <a:prstGeom prst="rect">
            <a:avLst/>
          </a:prstGeom>
          <a:noFill/>
          <a:ln/>
        </p:spPr>
        <p:txBody>
          <a:bodyPr wrap="square" lIns="0" tIns="0" rIns="0" bIns="0" rtlCol="0" anchor="ctr"/>
          <a:lstStyle/>
          <a:p>
            <a:pPr indent="0" marL="0">
              <a:lnSpc>
                <a:spcPct val="110000"/>
              </a:lnSpc>
              <a:buNone/>
            </a:pPr>
            <a:r>
              <a:rPr lang="en-US" sz="1000" dirty="0">
                <a:solidFill>
                  <a:srgbClr val="AFC2CE"/>
                </a:solidFill>
                <a:latin typeface="Arial" pitchFamily="34" charset="0"/>
                <a:ea typeface="Arial" pitchFamily="34" charset="-122"/>
                <a:cs typeface="Arial" pitchFamily="34" charset="-120"/>
              </a:rPr>
              <a:t>unclassified events, before and after</a:t>
            </a:r>
            <a:endParaRPr lang="en-US" sz="1000" dirty="0"/>
          </a:p>
        </p:txBody>
      </p:sp>
      <p:sp>
        <p:nvSpPr>
          <p:cNvPr id="11" name="Shape 9"/>
          <p:cNvSpPr/>
          <p:nvPr/>
        </p:nvSpPr>
        <p:spPr>
          <a:xfrm>
            <a:off x="8138160" y="3547872"/>
            <a:ext cx="3200400" cy="0"/>
          </a:xfrm>
          <a:prstGeom prst="line">
            <a:avLst/>
          </a:prstGeom>
          <a:noFill/>
          <a:ln w="9525">
            <a:solidFill>
              <a:srgbClr val="1E3A4C"/>
            </a:solidFill>
            <a:prstDash val="solid"/>
          </a:ln>
        </p:spPr>
      </p:sp>
      <p:sp>
        <p:nvSpPr>
          <p:cNvPr id="12" name="Text 10"/>
          <p:cNvSpPr/>
          <p:nvPr/>
        </p:nvSpPr>
        <p:spPr>
          <a:xfrm>
            <a:off x="8138160" y="3657600"/>
            <a:ext cx="3200400" cy="566928"/>
          </a:xfrm>
          <a:prstGeom prst="rect">
            <a:avLst/>
          </a:prstGeom>
          <a:noFill/>
          <a:ln/>
        </p:spPr>
        <p:txBody>
          <a:bodyPr wrap="square" lIns="0" tIns="0" rIns="0" bIns="0" rtlCol="0" anchor="ctr"/>
          <a:lstStyle/>
          <a:p>
            <a:pPr indent="0" marL="0">
              <a:buNone/>
            </a:pPr>
            <a:r>
              <a:rPr lang="en-US" sz="2700" b="1" dirty="0">
                <a:solidFill>
                  <a:srgbClr val="00A9F4"/>
                </a:solidFill>
                <a:latin typeface="Georgia" pitchFamily="34" charset="0"/>
                <a:ea typeface="Georgia" pitchFamily="34" charset="-122"/>
                <a:cs typeface="Georgia" pitchFamily="34" charset="-120"/>
              </a:rPr>
              <a:t>126</a:t>
            </a:r>
            <a:endParaRPr lang="en-US" sz="2700" dirty="0"/>
          </a:p>
        </p:txBody>
      </p:sp>
      <p:sp>
        <p:nvSpPr>
          <p:cNvPr id="13" name="Text 11"/>
          <p:cNvSpPr/>
          <p:nvPr/>
        </p:nvSpPr>
        <p:spPr>
          <a:xfrm>
            <a:off x="8138160" y="4187952"/>
            <a:ext cx="3200400" cy="365760"/>
          </a:xfrm>
          <a:prstGeom prst="rect">
            <a:avLst/>
          </a:prstGeom>
          <a:noFill/>
          <a:ln/>
        </p:spPr>
        <p:txBody>
          <a:bodyPr wrap="square" lIns="0" tIns="0" rIns="0" bIns="0" rtlCol="0" anchor="ctr"/>
          <a:lstStyle/>
          <a:p>
            <a:pPr indent="0" marL="0">
              <a:lnSpc>
                <a:spcPct val="110000"/>
              </a:lnSpc>
              <a:buNone/>
            </a:pPr>
            <a:r>
              <a:rPr lang="en-US" sz="1000" dirty="0">
                <a:solidFill>
                  <a:srgbClr val="AFC2CE"/>
                </a:solidFill>
                <a:latin typeface="Arial" pitchFamily="34" charset="0"/>
                <a:ea typeface="Arial" pitchFamily="34" charset="-122"/>
                <a:cs typeface="Arial" pitchFamily="34" charset="-120"/>
              </a:rPr>
              <a:t>automated checks passing</a:t>
            </a:r>
            <a:endParaRPr lang="en-US" sz="1000" dirty="0"/>
          </a:p>
        </p:txBody>
      </p:sp>
      <p:sp>
        <p:nvSpPr>
          <p:cNvPr id="14" name="Shape 12"/>
          <p:cNvSpPr/>
          <p:nvPr/>
        </p:nvSpPr>
        <p:spPr>
          <a:xfrm>
            <a:off x="8138160" y="4590288"/>
            <a:ext cx="3200400" cy="0"/>
          </a:xfrm>
          <a:prstGeom prst="line">
            <a:avLst/>
          </a:prstGeom>
          <a:noFill/>
          <a:ln w="9525">
            <a:solidFill>
              <a:srgbClr val="1E3A4C"/>
            </a:solidFill>
            <a:prstDash val="solid"/>
          </a:ln>
        </p:spPr>
      </p:sp>
      <p:sp>
        <p:nvSpPr>
          <p:cNvPr id="15" name="Text 13"/>
          <p:cNvSpPr/>
          <p:nvPr/>
        </p:nvSpPr>
        <p:spPr>
          <a:xfrm>
            <a:off x="8138160" y="4700016"/>
            <a:ext cx="3200400" cy="566928"/>
          </a:xfrm>
          <a:prstGeom prst="rect">
            <a:avLst/>
          </a:prstGeom>
          <a:noFill/>
          <a:ln/>
        </p:spPr>
        <p:txBody>
          <a:bodyPr wrap="square" lIns="0" tIns="0" rIns="0" bIns="0" rtlCol="0" anchor="ctr"/>
          <a:lstStyle/>
          <a:p>
            <a:pPr indent="0" marL="0">
              <a:buNone/>
            </a:pPr>
            <a:r>
              <a:rPr lang="en-US" sz="2700" b="1" dirty="0">
                <a:solidFill>
                  <a:srgbClr val="00A9F4"/>
                </a:solidFill>
                <a:latin typeface="Georgia" pitchFamily="34" charset="0"/>
                <a:ea typeface="Georgia" pitchFamily="34" charset="-122"/>
                <a:cs typeface="Georgia" pitchFamily="34" charset="-120"/>
              </a:rPr>
              <a:t>0</a:t>
            </a:r>
            <a:endParaRPr lang="en-US" sz="2700" dirty="0"/>
          </a:p>
        </p:txBody>
      </p:sp>
      <p:sp>
        <p:nvSpPr>
          <p:cNvPr id="16" name="Text 14"/>
          <p:cNvSpPr/>
          <p:nvPr/>
        </p:nvSpPr>
        <p:spPr>
          <a:xfrm>
            <a:off x="8138160" y="5230368"/>
            <a:ext cx="3200400" cy="365760"/>
          </a:xfrm>
          <a:prstGeom prst="rect">
            <a:avLst/>
          </a:prstGeom>
          <a:noFill/>
          <a:ln/>
        </p:spPr>
        <p:txBody>
          <a:bodyPr wrap="square" lIns="0" tIns="0" rIns="0" bIns="0" rtlCol="0" anchor="ctr"/>
          <a:lstStyle/>
          <a:p>
            <a:pPr indent="0" marL="0">
              <a:lnSpc>
                <a:spcPct val="110000"/>
              </a:lnSpc>
              <a:buNone/>
            </a:pPr>
            <a:r>
              <a:rPr lang="en-US" sz="1000" dirty="0">
                <a:solidFill>
                  <a:srgbClr val="AFC2CE"/>
                </a:solidFill>
                <a:latin typeface="Arial" pitchFamily="34" charset="0"/>
                <a:ea typeface="Arial" pitchFamily="34" charset="-122"/>
                <a:cs typeface="Arial" pitchFamily="34" charset="-120"/>
              </a:rPr>
              <a:t>events typed in by hand</a:t>
            </a:r>
            <a:endParaRPr lang="en-US" sz="1000" dirty="0"/>
          </a:p>
        </p:txBody>
      </p:sp>
      <p:sp>
        <p:nvSpPr>
          <p:cNvPr id="17" name="Text 15"/>
          <p:cNvSpPr/>
          <p:nvPr/>
        </p:nvSpPr>
        <p:spPr>
          <a:xfrm>
            <a:off x="822960" y="6181344"/>
            <a:ext cx="7315200" cy="274320"/>
          </a:xfrm>
          <a:prstGeom prst="rect">
            <a:avLst/>
          </a:prstGeom>
          <a:noFill/>
          <a:ln/>
        </p:spPr>
        <p:txBody>
          <a:bodyPr wrap="square" lIns="0" tIns="0" rIns="0" bIns="0" rtlCol="0" anchor="ctr"/>
          <a:lstStyle/>
          <a:p>
            <a:pPr indent="0" marL="0">
              <a:buNone/>
            </a:pPr>
            <a:r>
              <a:rPr lang="en-US" sz="800" dirty="0">
                <a:solidFill>
                  <a:srgbClr val="6E8794"/>
                </a:solidFill>
                <a:latin typeface="Arial" pitchFamily="34" charset="0"/>
                <a:ea typeface="Arial" pitchFamily="34" charset="-122"/>
                <a:cs typeface="Arial" pitchFamily="34" charset="-120"/>
              </a:rPr>
              <a:t>Source: CampusCal prototype, live IIMA Gmail account, 5 August 2026</a:t>
            </a:r>
            <a:endParaRPr lang="en-US" sz="800" dirty="0"/>
          </a:p>
        </p:txBody>
      </p:sp>
      <p:sp>
        <p:nvSpPr>
          <p:cNvPr id="18" name="Text 16"/>
          <p:cNvSpPr/>
          <p:nvPr/>
        </p:nvSpPr>
        <p:spPr>
          <a:xfrm>
            <a:off x="10881360" y="6181344"/>
            <a:ext cx="640080" cy="274320"/>
          </a:xfrm>
          <a:prstGeom prst="rect">
            <a:avLst/>
          </a:prstGeom>
          <a:noFill/>
          <a:ln/>
        </p:spPr>
        <p:txBody>
          <a:bodyPr wrap="square" lIns="0" tIns="0" rIns="0" bIns="0" rtlCol="0" anchor="ctr"/>
          <a:lstStyle/>
          <a:p>
            <a:pPr algn="r" indent="0" marL="0">
              <a:buNone/>
            </a:pPr>
            <a:r>
              <a:rPr lang="en-US" sz="900" dirty="0">
                <a:solidFill>
                  <a:srgbClr val="6E8794"/>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CampusCal</dc:title>
  <dc:subject>PptxGenJS Presentation</dc:subject>
  <dc:creator>Agile CCC Ideathon</dc:creator>
  <cp:lastModifiedBy>Agile CCC Ideathon</cp:lastModifiedBy>
  <cp:revision>1</cp:revision>
  <dcterms:created xsi:type="dcterms:W3CDTF">2026-08-05T16:20:57Z</dcterms:created>
  <dcterms:modified xsi:type="dcterms:W3CDTF">2026-08-05T16:20:57Z</dcterms:modified>
</cp:coreProperties>
</file>