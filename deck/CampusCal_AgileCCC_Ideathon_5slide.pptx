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rework</c:v>
                </c:pt>
              </c:strCache>
            </c:strRef>
          </c:tx>
          <c:spPr>
            <a:solidFill>
              <a:srgbClr val="D0D0D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51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Other</c:v>
                  </c:pt>
                  <c:pt idx="1">
                    <c:v>Notices &amp; admin</c:v>
                  </c:pt>
                  <c:pt idx="2">
                    <c:v>Club events</c:v>
                  </c:pt>
                  <c:pt idx="3">
                    <c:v>Talks &amp; seminars</c:v>
                  </c:pt>
                  <c:pt idx="4">
                    <c:v>Workshops</c:v>
                  </c:pt>
                  <c:pt idx="5">
                    <c:v>Placement</c:v>
                  </c:pt>
                  <c:pt idx="6">
                    <c:v>Classes</c:v>
                  </c:pt>
                  <c:pt idx="7">
                    <c:v>Assignments</c:v>
                  </c:pt>
                  <c:pt idx="8">
                    <c:v>Exams &amp; quizzes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118</c:v>
                </c:pt>
                <c:pt idx="1">
                  <c:v>1</c:v>
                </c:pt>
                <c:pt idx="2">
                  <c:v>5</c:v>
                </c:pt>
                <c:pt idx="3">
                  <c:v>0</c:v>
                </c:pt>
                <c:pt idx="4">
                  <c:v>3</c:v>
                </c:pt>
                <c:pt idx="5">
                  <c:v>0</c:v>
                </c:pt>
                <c:pt idx="6">
                  <c:v>5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rework</c:v>
                </c:pt>
              </c:strCache>
            </c:strRef>
          </c:tx>
          <c:spPr>
            <a:solidFill>
              <a:srgbClr val="00A9F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51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Other</c:v>
                  </c:pt>
                  <c:pt idx="1">
                    <c:v>Notices &amp; admin</c:v>
                  </c:pt>
                  <c:pt idx="2">
                    <c:v>Club events</c:v>
                  </c:pt>
                  <c:pt idx="3">
                    <c:v>Talks &amp; seminars</c:v>
                  </c:pt>
                  <c:pt idx="4">
                    <c:v>Workshops</c:v>
                  </c:pt>
                  <c:pt idx="5">
                    <c:v>Placement</c:v>
                  </c:pt>
                  <c:pt idx="6">
                    <c:v>Classes</c:v>
                  </c:pt>
                  <c:pt idx="7">
                    <c:v>Assignments</c:v>
                  </c:pt>
                  <c:pt idx="8">
                    <c:v>Exams &amp; quizzes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30</c:v>
                </c:pt>
                <c:pt idx="1">
                  <c:v>23</c:v>
                </c:pt>
                <c:pt idx="2">
                  <c:v>9</c:v>
                </c:pt>
                <c:pt idx="3">
                  <c:v>6</c:v>
                </c:pt>
                <c:pt idx="4">
                  <c:v>4</c:v>
                </c:pt>
                <c:pt idx="5">
                  <c:v>3</c:v>
                </c:pt>
                <c:pt idx="6">
                  <c:v>47</c:v>
                </c:pt>
                <c:pt idx="7">
                  <c:v>8</c:v>
                </c:pt>
                <c:pt idx="8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051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51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b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7F7F7F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Governing thought: campus information is not missing, it is scattered across email. CampusCal makes the inbox fill the calendar, and it already runs on live IIMA 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beats: the volume is real (screenshot, timestamps), and the details are all present in the mail. The only missing step is entry, which is manual and therefore never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half is the pipeline, bottom half is what that pipeline delivers. Stress that all six capabilities are running, not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USP slide. Two points: certainty is tiered, and the two axes are separate so the calendar stays readable while provenance stays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proof slide. Name the root cause honestly: the imported Google Calendar events were never classified and masked every other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proof. Offer to demonstrate live: sign in, watch the pipeline classify, open an event, push to Google Calendar.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governing thought, then hand over to the future plans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0">
            <a:off x="6949440" y="365760"/>
            <a:ext cx="2194560" cy="0"/>
          </a:xfrm>
          <a:prstGeom prst="line">
            <a:avLst/>
          </a:prstGeom>
          <a:noFill/>
          <a:ln w="9525">
            <a:solidFill>
              <a:srgbClr val="00A9F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720000">
            <a:off x="7205472" y="365760"/>
            <a:ext cx="2139696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720000">
            <a:off x="7461504" y="365760"/>
            <a:ext cx="2084832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3720000">
            <a:off x="7717536" y="365760"/>
            <a:ext cx="2029968" cy="0"/>
          </a:xfrm>
          <a:prstGeom prst="line">
            <a:avLst/>
          </a:prstGeom>
          <a:noFill/>
          <a:ln w="9525">
            <a:solidFill>
              <a:srgbClr val="00A9F4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720000">
            <a:off x="7973568" y="365760"/>
            <a:ext cx="1975104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720000">
            <a:off x="8229600" y="365760"/>
            <a:ext cx="1920240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3720000">
            <a:off x="8485632" y="365760"/>
            <a:ext cx="1865376" cy="0"/>
          </a:xfrm>
          <a:prstGeom prst="line">
            <a:avLst/>
          </a:prstGeom>
          <a:noFill/>
          <a:ln w="9525">
            <a:solidFill>
              <a:srgbClr val="00A9F4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3720000">
            <a:off x="8741664" y="365760"/>
            <a:ext cx="1810512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3720000">
            <a:off x="8997696" y="365760"/>
            <a:ext cx="1755648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3720000">
            <a:off x="9253728" y="365760"/>
            <a:ext cx="1700784" cy="0"/>
          </a:xfrm>
          <a:prstGeom prst="line">
            <a:avLst/>
          </a:prstGeom>
          <a:noFill/>
          <a:ln w="9525">
            <a:solidFill>
              <a:srgbClr val="00A9F4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3720000">
            <a:off x="9509760" y="365760"/>
            <a:ext cx="1645920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3720000">
            <a:off x="9765792" y="365760"/>
            <a:ext cx="1591056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3720000">
            <a:off x="10021824" y="365760"/>
            <a:ext cx="1536192" cy="0"/>
          </a:xfrm>
          <a:prstGeom prst="line">
            <a:avLst/>
          </a:prstGeom>
          <a:noFill/>
          <a:ln w="9525">
            <a:solidFill>
              <a:srgbClr val="00A9F4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3720000">
            <a:off x="10277856" y="365760"/>
            <a:ext cx="1481328" cy="0"/>
          </a:xfrm>
          <a:prstGeom prst="line">
            <a:avLst/>
          </a:prstGeom>
          <a:noFill/>
          <a:ln w="9525">
            <a:solidFill>
              <a:srgbClr val="2251FF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029968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CampusCal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822960" y="290779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AAE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the campus inbox into a calendar that fills itself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41248" y="4041648"/>
            <a:ext cx="1371600" cy="0"/>
          </a:xfrm>
          <a:prstGeom prst="line">
            <a:avLst/>
          </a:prstGeom>
          <a:noFill/>
          <a:ln w="19050">
            <a:solidFill>
              <a:srgbClr val="00A9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224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CCC Ideathon  |  Solutions Cell submission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5354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running on live IIMA Gmail  |  August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61447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throughout are from the live prototype and show a real student inbox.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29184"/>
            <a:ext cx="8266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 information is not missing, it is scattered: 14 mails reached one inbox in four hours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12064" y="1216152"/>
            <a:ext cx="8266176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12618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student inbox, not a mock-up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2064" y="6172200"/>
            <a:ext cx="8266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Timestamps read from the live inbox capture: 14 mails between 4:59 pm and 9:23 pm on 5 August 2026; the 100 most recent inbox mails span barely a week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12064" y="6400800"/>
            <a:ext cx="8266176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6455664"/>
            <a:ext cx="7534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CampusCal inbox view, live IIMA Gmail account, 5 August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138160" y="6455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2064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arrives in one evening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" y="17007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as captured, most recent first¹</a:t>
            </a:r>
            <a:endParaRPr lang="en-US" sz="950" dirty="0"/>
          </a:p>
        </p:txBody>
      </p:sp>
      <p:pic>
        <p:nvPicPr>
          <p:cNvPr id="12" name="Image 0" descr="/sessions/admiring-lucid-franklin/mnt/Demo/deck/img/s2128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025" y="1975104"/>
            <a:ext cx="1366079" cy="2926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63240" y="1463040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carried a dated commitment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063240" y="1700784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Parsed by CampusCal into calendar events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063240" y="2029968"/>
            <a:ext cx="5623560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063240" y="209397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9:23 pm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904488" y="2093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Ideathon case competition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684264" y="20939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event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7690104" y="2093976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link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063240" y="2450592"/>
            <a:ext cx="5623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063240" y="25146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8:15 pm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904488" y="25146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 writing competition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684264" y="2514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event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7690104" y="251460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date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063240" y="2871216"/>
            <a:ext cx="5623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063240" y="293522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8:00 pm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904488" y="29352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 representative elections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684264" y="29352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7690104" y="2935224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window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063240" y="3291840"/>
            <a:ext cx="5623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063240" y="33558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5:00 pm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3904488" y="33558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PLACECOM batch meet, 10 August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6684264" y="33558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7690104" y="3355848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dated, compulsory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063240" y="3712464"/>
            <a:ext cx="5623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063240" y="3803904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10 were notices, surveys and newsletters, which must never reach a calendar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3063240" y="42245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 are still missed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3063240" y="4535424"/>
            <a:ext cx="5623560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063240" y="4645152"/>
            <a:ext cx="201168" cy="201168"/>
          </a:xfrm>
          <a:prstGeom prst="ellipse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063240" y="4645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3355848" y="4590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is assumed to read every mail on the day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6080760" y="45902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are skimmed, many are never opened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063240" y="4956048"/>
            <a:ext cx="5623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3063240" y="5065776"/>
            <a:ext cx="201168" cy="201168"/>
          </a:xfrm>
          <a:prstGeom prst="ellipse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06324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3355848" y="50109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is assumed to copy the details into a calendar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6080760" y="50109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entry is the one step nobody performs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3063240" y="5376672"/>
            <a:ext cx="5623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3063240" y="5486400"/>
            <a:ext cx="201168" cy="201168"/>
          </a:xfrm>
          <a:prstGeom prst="ellipse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063240" y="5486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3355848" y="54315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Clubs are assumed to publish to a shared calendar</a:t>
            </a:r>
            <a:endParaRPr lang="en-US" sz="950" dirty="0"/>
          </a:p>
        </p:txBody>
      </p:sp>
      <p:sp>
        <p:nvSpPr>
          <p:cNvPr id="52" name="Text 48"/>
          <p:cNvSpPr/>
          <p:nvPr/>
        </p:nvSpPr>
        <p:spPr>
          <a:xfrm>
            <a:off x="6080760" y="543153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shared calendar exists, only email broadcasts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3063240" y="5797296"/>
            <a:ext cx="5623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512064" y="5047488"/>
            <a:ext cx="23774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512064" y="510235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100" dirty="0"/>
          </a:p>
        </p:txBody>
      </p:sp>
      <p:sp>
        <p:nvSpPr>
          <p:cNvPr id="56" name="Text 52"/>
          <p:cNvSpPr/>
          <p:nvPr/>
        </p:nvSpPr>
        <p:spPr>
          <a:xfrm>
            <a:off x="1243584" y="51023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mails in 4h 24m</a:t>
            </a:r>
            <a:endParaRPr lang="en-US" sz="950" dirty="0"/>
          </a:p>
        </p:txBody>
      </p:sp>
      <p:sp>
        <p:nvSpPr>
          <p:cNvPr id="57" name="Shape 53"/>
          <p:cNvSpPr/>
          <p:nvPr/>
        </p:nvSpPr>
        <p:spPr>
          <a:xfrm>
            <a:off x="512064" y="5504688"/>
            <a:ext cx="23774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512064" y="555955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2100" dirty="0"/>
          </a:p>
        </p:txBody>
      </p:sp>
      <p:sp>
        <p:nvSpPr>
          <p:cNvPr id="59" name="Text 55"/>
          <p:cNvSpPr/>
          <p:nvPr/>
        </p:nvSpPr>
        <p:spPr>
          <a:xfrm>
            <a:off x="1243584" y="55595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first inbox page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9052560" y="0"/>
            <a:ext cx="3139135" cy="6858000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9436608" y="822960"/>
            <a:ext cx="5669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9436608" y="969264"/>
            <a:ext cx="23710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find out second hand, because reading everything on the day is the only way not to</a:t>
            </a:r>
            <a:endParaRPr lang="en-US" sz="1300" dirty="0"/>
          </a:p>
        </p:txBody>
      </p:sp>
      <p:sp>
        <p:nvSpPr>
          <p:cNvPr id="63" name="Text 59"/>
          <p:cNvSpPr/>
          <p:nvPr/>
        </p:nvSpPr>
        <p:spPr>
          <a:xfrm>
            <a:off x="9436608" y="2011680"/>
            <a:ext cx="23710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quiz notice and a food delivery receipt arrive in the same stream, with the same weight and no ranking.</a:t>
            </a:r>
            <a:endParaRPr lang="en-US" sz="1050" dirty="0"/>
          </a:p>
        </p:txBody>
      </p:sp>
      <p:sp>
        <p:nvSpPr>
          <p:cNvPr id="64" name="Text 60"/>
          <p:cNvSpPr/>
          <p:nvPr/>
        </p:nvSpPr>
        <p:spPr>
          <a:xfrm>
            <a:off x="9436608" y="2907792"/>
            <a:ext cx="23710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detail needed is already in the mail: date, time, venue, registration link. None of it reaches a calendar.</a:t>
            </a:r>
            <a:endParaRPr lang="en-US" sz="1050" dirty="0"/>
          </a:p>
        </p:txBody>
      </p:sp>
      <p:sp>
        <p:nvSpPr>
          <p:cNvPr id="65" name="Text 61"/>
          <p:cNvSpPr/>
          <p:nvPr/>
        </p:nvSpPr>
        <p:spPr>
          <a:xfrm>
            <a:off x="9436608" y="3803904"/>
            <a:ext cx="23710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per hour</a:t>
            </a:r>
            <a:endParaRPr lang="en-US" sz="2900" dirty="0"/>
          </a:p>
        </p:txBody>
      </p:sp>
      <p:sp>
        <p:nvSpPr>
          <p:cNvPr id="66" name="Text 62"/>
          <p:cNvSpPr/>
          <p:nvPr/>
        </p:nvSpPr>
        <p:spPr>
          <a:xfrm>
            <a:off x="9436608" y="4279392"/>
            <a:ext cx="23710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inbound rate across the captured window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29184"/>
            <a:ext cx="11173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CampusCal removes the manual step: it ingests, classifies, extracts and publishes, across six live capabilities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12064" y="1216152"/>
            <a:ext cx="11173968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400800"/>
            <a:ext cx="11173968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455664"/>
            <a:ext cx="10442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CampusCal architecture and codebase, 5,978 lines across backend and frontend, 5 August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45952" y="6455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12064" y="1463040"/>
            <a:ext cx="2615184" cy="621792"/>
          </a:xfrm>
          <a:prstGeom prst="chevron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4630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Ingest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12064" y="21671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" y="22128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API, read only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2064" y="26243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" y="26700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mails per page, 45 second poll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73552" y="1463040"/>
            <a:ext cx="2615184" cy="621792"/>
          </a:xfrm>
          <a:prstGeom prst="chevron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75888" y="14630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Classify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273552" y="21671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73552" y="22128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tiers, 18 labels, 9 categories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73552" y="26243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73552" y="26700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Denylist blocks newsletters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35040" y="1463040"/>
            <a:ext cx="2615184" cy="621792"/>
          </a:xfrm>
          <a:prstGeom prst="chevron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37376" y="14630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Extract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035040" y="21671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22128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time, venue, links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35040" y="26243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35040" y="26700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Quoted reply text stripped first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796528" y="1463040"/>
            <a:ext cx="2615184" cy="621792"/>
          </a:xfrm>
          <a:prstGeom prst="chevron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98864" y="14630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Publish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796528" y="21671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796528" y="22128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layer or personal layer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796528" y="2624328"/>
            <a:ext cx="2432304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796528" y="26700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push to Google Calendar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12064" y="3072384"/>
            <a:ext cx="10826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layers, one pipeline: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broadcasts anyone may attend land on the campus calendar; exams, assignments, classes and placement mail land on the student's own calendar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12064" y="3493008"/>
            <a:ext cx="10826496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2064" y="3547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2660904" y="3547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in the running build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821424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scale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12064" y="3822192"/>
            <a:ext cx="8229600" cy="0"/>
          </a:xfrm>
          <a:prstGeom prst="line">
            <a:avLst/>
          </a:prstGeom>
          <a:noFill/>
          <a:ln w="6350">
            <a:solidFill>
              <a:srgbClr val="B3B3B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12064" y="38953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Gmail ingestion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2660904" y="38953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inbox over the Gmail API, paged, with a live poll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821424" y="38953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mails per page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12064" y="4279392"/>
            <a:ext cx="82296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2064" y="4279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Segmentation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2660904" y="4279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each mail to one source label and one category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821424" y="4279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labels, 9 categories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12064" y="4663440"/>
            <a:ext cx="82296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12064" y="4663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Event extraction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2660904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title, date, time, venue and links from the body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821424" y="4663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237 weighted keywords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512064" y="5047488"/>
            <a:ext cx="82296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12064" y="5047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Registration links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2660904" y="5047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Promotes the registration URL to a button on the event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821424" y="50474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 classes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12064" y="5431536"/>
            <a:ext cx="82296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12064" y="54315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Google Calendar sync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660904" y="5431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existing calendars, pushes events back reversibly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821424" y="54315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events read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512064" y="5815584"/>
            <a:ext cx="82296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12064" y="58155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Responsive interface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2660904" y="58155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codebase across desktop and mobile, with dark mode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821424" y="58155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breakpoints, 2 themes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512064" y="6199632"/>
            <a:ext cx="82296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887968" y="3566160"/>
            <a:ext cx="0" cy="246888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107424" y="387705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133</a:t>
            </a:r>
            <a:endParaRPr lang="en-US" sz="2900" dirty="0"/>
          </a:p>
        </p:txBody>
      </p:sp>
      <p:sp>
        <p:nvSpPr>
          <p:cNvPr id="64" name="Text 61"/>
          <p:cNvSpPr/>
          <p:nvPr/>
        </p:nvSpPr>
        <p:spPr>
          <a:xfrm>
            <a:off x="9107424" y="4370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live on the calendar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9107424" y="471830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126</a:t>
            </a:r>
            <a:endParaRPr lang="en-US" sz="2900" dirty="0"/>
          </a:p>
        </p:txBody>
      </p:sp>
      <p:sp>
        <p:nvSpPr>
          <p:cNvPr id="66" name="Text 63"/>
          <p:cNvSpPr/>
          <p:nvPr/>
        </p:nvSpPr>
        <p:spPr>
          <a:xfrm>
            <a:off x="9107424" y="5212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 passing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9107424" y="555955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900" dirty="0"/>
          </a:p>
        </p:txBody>
      </p:sp>
      <p:sp>
        <p:nvSpPr>
          <p:cNvPr id="68" name="Text 65"/>
          <p:cNvSpPr/>
          <p:nvPr/>
        </p:nvSpPr>
        <p:spPr>
          <a:xfrm>
            <a:off x="9107424" y="60533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typed in by hand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29184"/>
            <a:ext cx="11173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differentiator is segmentation: four tiers resolve every mail onto 18 source labels and 9 calendar categories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12064" y="1216152"/>
            <a:ext cx="11173968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12618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generated from the student's own Gmail filter export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2064" y="6172200"/>
            <a:ext cx="11173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Tier 2 evaluates the same query grammar Gmail uses: from, to, cc, subject, negation, OR and parentheses; subject tags such as [Gen NB] and [PLACECOM] outrank sender rules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12064" y="6400800"/>
            <a:ext cx="11173968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6455664"/>
            <a:ext cx="10442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backend/rules_engine.py, backend/categories.py; rule set generated from gmail_filters_import.xml, 21 rules covering 18 labels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45952" y="6455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2064" y="1463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tiers, most certain first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" y="17007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mail stops at the first tier that matches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12064" y="1993392"/>
            <a:ext cx="5486400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2064" y="2084832"/>
            <a:ext cx="82296" cy="347472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029968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353312" y="20299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already applied by the student's Gmail filters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626864" y="20299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Authoritative, zero logic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12064" y="2505456"/>
            <a:ext cx="54864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2064" y="2596896"/>
            <a:ext cx="82296" cy="347472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" y="254203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353312" y="254203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21 filter rules, re-evaluated inside the app¹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sender patterns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12064" y="3017520"/>
            <a:ext cx="54864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12064" y="3108960"/>
            <a:ext cx="82296" cy="347472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6656" y="3054096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353312" y="30540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senders: LinkedIn, Unstop, Coursera, banks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626864" y="30540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rules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12064" y="3529584"/>
            <a:ext cx="54864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12064" y="3621024"/>
            <a:ext cx="82296" cy="347472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6656" y="356616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353312" y="35661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keywords; highest score wins, else Other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626864" y="35661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237 keywords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12064" y="4041648"/>
            <a:ext cx="54864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2064" y="4187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alone does not create an event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12064" y="4498848"/>
            <a:ext cx="5486400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12064" y="4599432"/>
            <a:ext cx="182880" cy="182880"/>
          </a:xfrm>
          <a:prstGeom prst="ellipse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2064" y="45994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86384" y="454456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parseable, future date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2615184" y="45445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quoted reply text stripped first, so an older message cannot create a phantom event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12064" y="4882896"/>
            <a:ext cx="54864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12064" y="4983480"/>
            <a:ext cx="182880" cy="182880"/>
          </a:xfrm>
          <a:prstGeom prst="ellipse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2064" y="4983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86384" y="49286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corroborating signal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2615184" y="49286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time, a venue, or event language; a vague date needs one of them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12064" y="5266944"/>
            <a:ext cx="54864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12064" y="5367528"/>
            <a:ext cx="182880" cy="182880"/>
          </a:xfrm>
          <a:prstGeom prst="ellipse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12064" y="53675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786384" y="53126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already on the calendar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2615184" y="53126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 on Gmail message id, and on same title with same date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12064" y="5650992"/>
            <a:ext cx="54864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12064" y="57241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mail is not lost: it keeps a one click Add to calendar button that opens the same parsed draft for the student to confirm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400800" y="1463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axes decide where it lands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6400800" y="17007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and colour are kept separate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400800" y="20116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1: source label, 18 values²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6400800" y="224942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Notices, Assignments &amp; Quizzes, Placement Committee, Career Clubs, Other Clubs, Seminars &amp; Talks, Section Admin, REM &amp; Doubt Sessions, Course Forums, General Notice Board, Student Governance, SIF, Hostel &amp; Facilities, Wellness, Library, The Ken, Form Receipts, Personal &amp; Govt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640080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the calendar layer and carries provenance on every event. Four labels are denylisted and never create events: The Ken, Form Receipts, Library, Personal &amp; Govt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400800" y="314553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2: category, 9 values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6400800" y="3483864"/>
            <a:ext cx="137160" cy="13716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620256" y="34198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Exams &amp; quizzes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8065008" y="3483864"/>
            <a:ext cx="137160" cy="137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284464" y="34198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Assignments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9729216" y="3483864"/>
            <a:ext cx="137160" cy="137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948672" y="34198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6400800" y="3794760"/>
            <a:ext cx="137160" cy="1371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620256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8065008" y="3794760"/>
            <a:ext cx="13716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284464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9729216" y="3794760"/>
            <a:ext cx="137160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948672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Talks &amp; seminars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6400800" y="4105656"/>
            <a:ext cx="137160" cy="1371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620256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events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8065008" y="4105656"/>
            <a:ext cx="13716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284464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Notices &amp; admin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9729216" y="4105656"/>
            <a:ext cx="137160" cy="137160"/>
          </a:xfrm>
          <a:prstGeom prst="rect">
            <a:avLst/>
          </a:prstGeom>
          <a:solidFill>
            <a:srgbClr val="8B8D98"/>
          </a:solidFill>
          <a:ln w="12700">
            <a:solidFill>
              <a:srgbClr val="8B8D9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948672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950" dirty="0"/>
          </a:p>
        </p:txBody>
      </p:sp>
      <p:sp>
        <p:nvSpPr>
          <p:cNvPr id="75" name="Text 72"/>
          <p:cNvSpPr/>
          <p:nvPr/>
        </p:nvSpPr>
        <p:spPr>
          <a:xfrm>
            <a:off x="6400800" y="440740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colour on the calendar and the category filter. Nine colours read cleanly on a month grid; eighteen do not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6400800" y="4919472"/>
            <a:ext cx="4937760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400800" y="499262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example, one real inbox mail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6400800" y="5230368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“Re: [COMPETITION] Brand Baazigar 2026” from niche@iima.ac.in.  </a:t>
            </a:r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matches the Career Clubs rule; that label maps to Workshops by default; the word COMPETITION scores higher within the activity set, so the category becomes Club events; Career Clubs is a broadcast label, so it lands on the campus calendar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29184"/>
            <a:ext cx="11173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tiered rework cut unclassified events from 89% to 23% of the calendar, without loosening the surety gate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12064" y="1216152"/>
            <a:ext cx="11173968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12618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account, same day, before and after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2064" y="6035040"/>
            <a:ext cx="11173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Measured on the same live inbox and the same 118 imported Google Calendar events, before and after the tiered rework on 5 August 2026</a:t>
            </a:r>
            <a:endParaRPr lang="en-US" sz="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surety gate still applies: an explicit future date plus a time, a venue or event language, with quoted reply text stripped and past or duplicate events skipped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12064" y="6400800"/>
            <a:ext cx="11173968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6455664"/>
            <a:ext cx="10442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CampusCal category counters, live IIMA Gmail account, before and after builds of 5 August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45952" y="6455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2064" y="14630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on the calendar by category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" y="1700784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events¹</a:t>
            </a:r>
            <a:endParaRPr lang="en-US" sz="9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12064" y="192024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/>
          <p:nvPr/>
        </p:nvSpPr>
        <p:spPr>
          <a:xfrm>
            <a:off x="7635240" y="14630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635240" y="1737360"/>
            <a:ext cx="3703320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635240" y="18653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7F7F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3300" dirty="0"/>
          </a:p>
        </p:txBody>
      </p:sp>
      <p:sp>
        <p:nvSpPr>
          <p:cNvPr id="16" name="Text 12"/>
          <p:cNvSpPr/>
          <p:nvPr/>
        </p:nvSpPr>
        <p:spPr>
          <a:xfrm>
            <a:off x="7635240" y="2395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events sat in Other before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9555480" y="18653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23%</a:t>
            </a:r>
            <a:endParaRPr lang="en-US" sz="3300" dirty="0"/>
          </a:p>
        </p:txBody>
      </p:sp>
      <p:sp>
        <p:nvSpPr>
          <p:cNvPr id="18" name="Text 14"/>
          <p:cNvSpPr/>
          <p:nvPr/>
        </p:nvSpPr>
        <p:spPr>
          <a:xfrm>
            <a:off x="9555480" y="2395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tiered rework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635240" y="2926080"/>
            <a:ext cx="370332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35240" y="298094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 </a:t>
            </a:r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imported Google Calendar events were never classified, so they defaulted into Other and masked every other category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635240" y="3639312"/>
            <a:ext cx="370332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635240" y="369417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 </a:t>
            </a:r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titles now run through the same four tier classifier as mail, and the keyword vocabulary was widened to 237 terms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7635240" y="4352544"/>
            <a:ext cx="370332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35240" y="440740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 </a:t>
            </a:r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of 133 events now carry a named category, and 8 of the 9 categories are populated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7635240" y="5065776"/>
            <a:ext cx="370332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35240" y="512064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back deliberately²:  </a:t>
            </a:r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remaining 30 are entries such as Gym or Team standup, which carry no campus signal at all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29184"/>
            <a:ext cx="11173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prototype is live end to end: every capability runs today, on one build, across every device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12064" y="1216152"/>
            <a:ext cx="11173968" cy="0"/>
          </a:xfrm>
          <a:prstGeom prst="line">
            <a:avLst/>
          </a:prstGeom>
          <a:noFill/>
          <a:ln w="9525">
            <a:solidFill>
              <a:srgbClr val="051C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12618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from the live prototype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12064" y="6400800"/>
            <a:ext cx="11173968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455664"/>
            <a:ext cx="10442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CampusCal interface and repository; python test_classification.py, 126 passed, 0 failed, 5 August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45952" y="6455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12064" y="1517904"/>
            <a:ext cx="137160" cy="137160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444752"/>
            <a:ext cx="153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ingestion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3232" y="1664208"/>
            <a:ext cx="153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only, paged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16480" y="1517904"/>
            <a:ext cx="137160" cy="137160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7648" y="1444752"/>
            <a:ext cx="153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17648" y="1664208"/>
            <a:ext cx="153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tiers, 18 labels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120896" y="1517904"/>
            <a:ext cx="137160" cy="137160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22064" y="1444752"/>
            <a:ext cx="153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322064" y="1664208"/>
            <a:ext cx="153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date, 6 time formats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25312" y="1517904"/>
            <a:ext cx="137160" cy="137160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1444752"/>
            <a:ext cx="153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links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26480" y="1664208"/>
            <a:ext cx="153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surfaced on the event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729728" y="1517904"/>
            <a:ext cx="137160" cy="137160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30896" y="1444752"/>
            <a:ext cx="153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930896" y="1664208"/>
            <a:ext cx="153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and reversible push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534144" y="1517904"/>
            <a:ext cx="137160" cy="137160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35312" y="1444752"/>
            <a:ext cx="153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735312" y="1664208"/>
            <a:ext cx="153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desktop, mobile, dark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12064" y="1956816"/>
            <a:ext cx="10826496" cy="0"/>
          </a:xfrm>
          <a:prstGeom prst="line">
            <a:avLst/>
          </a:prstGeom>
          <a:noFill/>
          <a:ln w="6350">
            <a:solidFill>
              <a:srgbClr val="B3B3B3"/>
            </a:solidFill>
            <a:prstDash val="solid"/>
          </a:ln>
        </p:spPr>
      </p:sp>
      <p:pic>
        <p:nvPicPr>
          <p:cNvPr id="28" name="Image 0" descr="/sessions/admiring-lucid-franklin/mnt/Demo/deck/img/s2119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637" y="2103120"/>
            <a:ext cx="3837813" cy="16459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12064" y="38221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Desktop: month grid, agenda rail, campus and personal layers in one view</a:t>
            </a:r>
            <a:endParaRPr lang="en-US" sz="850" dirty="0"/>
          </a:p>
        </p:txBody>
      </p:sp>
      <p:pic>
        <p:nvPicPr>
          <p:cNvPr id="30" name="Image 1" descr="/sessions/admiring-lucid-franklin/mnt/Demo/deck/img/s2127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698" y="4169664"/>
            <a:ext cx="3931691" cy="16459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12064" y="5870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mode: identical layout, theme switched from the top bar</a:t>
            </a:r>
            <a:endParaRPr lang="en-US" sz="850" dirty="0"/>
          </a:p>
        </p:txBody>
      </p:sp>
      <p:pic>
        <p:nvPicPr>
          <p:cNvPr id="32" name="Image 2" descr="/sessions/admiring-lucid-franklin/mnt/Demo/deck/img/s2128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379" y="2103120"/>
            <a:ext cx="1350171" cy="29260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245352" y="5102352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grid becomes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dot grid</a:t>
            </a:r>
            <a:endParaRPr lang="en-US" sz="850" dirty="0"/>
          </a:p>
        </p:txBody>
      </p:sp>
      <p:pic>
        <p:nvPicPr>
          <p:cNvPr id="34" name="Image 3" descr="/sessions/admiring-lucid-franklin/mnt/Demo/deck/img/s21283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292" y="2103120"/>
            <a:ext cx="1345912" cy="29260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946136" y="5102352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Agenda, grouped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day</a:t>
            </a:r>
            <a:endParaRPr lang="en-US" sz="850" dirty="0"/>
          </a:p>
        </p:txBody>
      </p:sp>
      <p:pic>
        <p:nvPicPr>
          <p:cNvPr id="36" name="Image 4" descr="/sessions/admiring-lucid-franklin/mnt/Demo/deck/img/s21292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2383" y="2103120"/>
            <a:ext cx="1341298" cy="29260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646920" y="5102352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from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6355080" y="561441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 automated checks pass on every build,  </a:t>
            </a:r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 rule coverage, label routing, the denylist, tier precedence, the surety gate, quoted reply handling, link extraction and time formats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371600" cy="0"/>
          </a:xfrm>
          <a:prstGeom prst="line">
            <a:avLst/>
          </a:prstGeom>
          <a:noFill/>
          <a:ln w="19050">
            <a:solidFill>
              <a:srgbClr val="00A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627632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100 scattered mails to one calendar that fills itself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AF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was always there. CampusCal removes the only step that was ever manual, and gives every student the same view of the campus that the best informed student has.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38160" y="1463040"/>
            <a:ext cx="3200400" cy="0"/>
          </a:xfrm>
          <a:prstGeom prst="line">
            <a:avLst/>
          </a:prstGeom>
          <a:noFill/>
          <a:ln w="9525">
            <a:solidFill>
              <a:srgbClr val="1E3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15727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133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1381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live on the calendar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138160" y="2505456"/>
            <a:ext cx="3200400" cy="0"/>
          </a:xfrm>
          <a:prstGeom prst="line">
            <a:avLst/>
          </a:prstGeom>
          <a:noFill/>
          <a:ln w="9525">
            <a:solidFill>
              <a:srgbClr val="1E3A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26151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 to 23%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138160" y="31455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unclassified, before and after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38160" y="3547872"/>
            <a:ext cx="3200400" cy="0"/>
          </a:xfrm>
          <a:prstGeom prst="line">
            <a:avLst/>
          </a:prstGeom>
          <a:noFill/>
          <a:ln w="9525">
            <a:solidFill>
              <a:srgbClr val="1E3A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3657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126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138160" y="4187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 passing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4590288"/>
            <a:ext cx="3200400" cy="0"/>
          </a:xfrm>
          <a:prstGeom prst="line">
            <a:avLst/>
          </a:prstGeom>
          <a:noFill/>
          <a:ln w="9525">
            <a:solidFill>
              <a:srgbClr val="1E3A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70001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138160" y="5230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typed in by hand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61813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CampusCal prototype, live IIMA Gmail account, 5 August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881360" y="61813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CampusCal</dc:title>
  <dc:subject>PptxGenJS Presentation</dc:subject>
  <dc:creator>Agile CCC Ideathon</dc:creator>
  <cp:lastModifiedBy>Agile CCC Ideathon</cp:lastModifiedBy>
  <cp:revision>1</cp:revision>
  <dcterms:created xsi:type="dcterms:W3CDTF">2026-08-05T18:11:40Z</dcterms:created>
  <dcterms:modified xsi:type="dcterms:W3CDTF">2026-08-05T18:11:40Z</dcterms:modified>
</cp:coreProperties>
</file>