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-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10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Governing thought: campus information is not missing, it is scattered across email. CampusCal makes the inbox fill the calendar, and it already runs on live IIMA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beats: the volume is real (screenshot, timestamps), and the details are all present in the mail. The only missing step is entry, which is manual and therefore never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half is the pipeline, bottom half is what that pipeline delivers. Stress that all six capabilities are running, not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USP slide. Two points: certainty is tiered, and the two axes are separate so the calendar stays readable while provenance stays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proof. Offer to demonstrate live: sign in, watch the pipeline classify, open an event, push to Google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Paste the demo video URL over the bracketed placeholder, and hyperlink the 'Watch the demo' line to the same URL. Offer a live walkthrough if the panel prefers it to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9spOImLvVjOKSwhh0pQ9pZnEI9uTpPA/view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adan-2004/Agile-CampusCal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0">
            <a:off x="6949440" y="365760"/>
            <a:ext cx="2194560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3720000">
            <a:off x="7205472" y="365760"/>
            <a:ext cx="2139696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3720000">
            <a:off x="7461504" y="365760"/>
            <a:ext cx="2084832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3720000">
            <a:off x="7717536" y="365760"/>
            <a:ext cx="2029968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3720000">
            <a:off x="7973568" y="365760"/>
            <a:ext cx="1975104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 rot="3720000">
            <a:off x="8229600" y="365760"/>
            <a:ext cx="1920240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rot="3720000">
            <a:off x="8485632" y="365760"/>
            <a:ext cx="1865376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rot="3720000">
            <a:off x="8741664" y="365760"/>
            <a:ext cx="1810512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 rot="3720000">
            <a:off x="8997696" y="365760"/>
            <a:ext cx="1755648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 rot="3720000">
            <a:off x="9253728" y="365760"/>
            <a:ext cx="1700784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rot="3720000">
            <a:off x="9509760" y="365760"/>
            <a:ext cx="1645920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 rot="3720000">
            <a:off x="9765792" y="365760"/>
            <a:ext cx="1591056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rot="3720000">
            <a:off x="10021824" y="365760"/>
            <a:ext cx="1536192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 rot="3720000">
            <a:off x="10277856" y="365760"/>
            <a:ext cx="1481328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202996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CampusCal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22960" y="290779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AA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campus inbox into a calendar that fills itself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41248" y="4041648"/>
            <a:ext cx="1371600" cy="0"/>
          </a:xfrm>
          <a:prstGeom prst="line">
            <a:avLst/>
          </a:prstGeom>
          <a:noFill/>
          <a:ln w="1905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CCC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submission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5354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running on live IIMA Gmail  |  August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144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throughout are from the live prototype and show a real student inbox.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8266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information is not missing, it is scattered: 14 mails reached one inbox in four hours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8266176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student inbox, not a mock-up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172200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Timestamps read from the live inbox capture: 14 mails between 4:59 pm and 9:23 pm on 5 August 2026; the 100 most recent inbox mails span barely a week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" y="6400800"/>
            <a:ext cx="8266176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6455664"/>
            <a:ext cx="7534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inbox view, live IIMA Gmail account, 5 August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138160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arrives in one evening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as captured, most recent first</a:t>
            </a:r>
            <a:endParaRPr lang="en-US" sz="950" dirty="0"/>
          </a:p>
        </p:txBody>
      </p:sp>
      <p:pic>
        <p:nvPicPr>
          <p:cNvPr id="12" name="Image 0" descr="/tmp/img_deck/s212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25" y="1975104"/>
            <a:ext cx="1366079" cy="2926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146304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carried a dated commitment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63240" y="170078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by CampusCal into calendar events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063240" y="2029968"/>
            <a:ext cx="56235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063240" y="20939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9:23 pm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904488" y="2093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 case competition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684264" y="20939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690104" y="2093976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063240" y="2450592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3063240" y="2514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8:15 pm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904488" y="2514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writing competition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84264" y="2514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690104" y="251460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date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063240" y="2871216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3063240" y="29352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 pm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904488" y="2935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 representative elections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684264" y="29352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690104" y="2935224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window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063240" y="3291840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063240" y="33558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 pm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904488" y="3355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PLACECOM batch meet, 10 August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684264" y="3355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690104" y="3355848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dated, compulsory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063240" y="3712464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3063240" y="380390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10 were notices, surveys and newsletters, which were intelligently filtered out of the calendar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063240" y="42245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are still missed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3063240" y="4535424"/>
            <a:ext cx="56235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3063240" y="4645152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3063240" y="4645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3355848" y="4590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is assumed to read every mail on the day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080760" y="4590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are skimmed, many are never opened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063240" y="4956048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>
            <a:off x="3063240" y="5065776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06324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3355848" y="5010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is assumed to copy the details into a calendar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080760" y="5010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 is the one step nobody performs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063240" y="5376672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3063240" y="5486400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063240" y="5486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3355848" y="5431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are assumed to publish to a shared calendar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6080760" y="5431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calendar exists, only email broadcasts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3063240" y="5797296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512064" y="5047488"/>
            <a:ext cx="2377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512064" y="51023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dirty="0"/>
          </a:p>
        </p:txBody>
      </p:sp>
      <p:sp>
        <p:nvSpPr>
          <p:cNvPr id="56" name="Text 52"/>
          <p:cNvSpPr/>
          <p:nvPr/>
        </p:nvSpPr>
        <p:spPr>
          <a:xfrm>
            <a:off x="1243584" y="5102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mails in 4h 24m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512064" y="5504688"/>
            <a:ext cx="2377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512064" y="55595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100" dirty="0"/>
          </a:p>
        </p:txBody>
      </p:sp>
      <p:sp>
        <p:nvSpPr>
          <p:cNvPr id="59" name="Text 55"/>
          <p:cNvSpPr/>
          <p:nvPr/>
        </p:nvSpPr>
        <p:spPr>
          <a:xfrm>
            <a:off x="1243584" y="55595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first inbox page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9061186" y="0"/>
            <a:ext cx="3139135" cy="6858000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7"/>
          <p:cNvSpPr/>
          <p:nvPr/>
        </p:nvSpPr>
        <p:spPr>
          <a:xfrm>
            <a:off x="9436608" y="822960"/>
            <a:ext cx="5669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9436608" y="969264"/>
            <a:ext cx="2371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find out second hand, because reading everything on the day is the only way not to</a:t>
            </a:r>
            <a:endParaRPr lang="en-US" sz="1300" dirty="0"/>
          </a:p>
        </p:txBody>
      </p:sp>
      <p:sp>
        <p:nvSpPr>
          <p:cNvPr id="63" name="Text 59"/>
          <p:cNvSpPr/>
          <p:nvPr/>
        </p:nvSpPr>
        <p:spPr>
          <a:xfrm>
            <a:off x="9436608" y="2011680"/>
            <a:ext cx="2371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quiz notice and a food delivery receipt arrive in the same stream, with the same weight and no ranking.</a:t>
            </a:r>
            <a:endParaRPr lang="en-US" sz="1050" dirty="0"/>
          </a:p>
        </p:txBody>
      </p:sp>
      <p:sp>
        <p:nvSpPr>
          <p:cNvPr id="64" name="Text 60"/>
          <p:cNvSpPr/>
          <p:nvPr/>
        </p:nvSpPr>
        <p:spPr>
          <a:xfrm>
            <a:off x="9436608" y="2907792"/>
            <a:ext cx="2371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detail needed is already in the mail: date, time, venue, registration link. None of it reaches a calendar.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9436608" y="3803904"/>
            <a:ext cx="23710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 hour</a:t>
            </a:r>
            <a:endParaRPr lang="en-US" sz="2900" dirty="0"/>
          </a:p>
        </p:txBody>
      </p:sp>
      <p:sp>
        <p:nvSpPr>
          <p:cNvPr id="66" name="Text 62"/>
          <p:cNvSpPr/>
          <p:nvPr/>
        </p:nvSpPr>
        <p:spPr>
          <a:xfrm>
            <a:off x="9436608" y="4279392"/>
            <a:ext cx="23710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inbound rate across the captured window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CampusCal removes the manual step: it ingests, classifies, extracts and publishes, across six live capabilities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architecture and codebase, 5 August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2064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Ingest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2064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12064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API, read only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12064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mails per page, 45 second poll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73552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675888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Classify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73552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73552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tiers, 18 labels, 9 categories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73552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273552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Denylist blocks newsletters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437376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Extract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35040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035040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time, venue, links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035040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reply text stripped first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796528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198864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Publish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796528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8796528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layer or personal layer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796528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796528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push to Google Calendar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" y="3072384"/>
            <a:ext cx="10826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layers, one pipeline:  </a:t>
            </a: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broadcasts anyone may attend land on the campus calendar; exams, assignments, classes and placement mail land on the student's own calendar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12064" y="3493008"/>
            <a:ext cx="10826496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12064" y="3547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660904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in the running build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821424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scale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12064" y="3822192"/>
            <a:ext cx="8229600" cy="0"/>
          </a:xfrm>
          <a:prstGeom prst="line">
            <a:avLst/>
          </a:prstGeom>
          <a:noFill/>
          <a:ln w="635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12064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Gmail ingestion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660904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inbox over the Gmail API, paged, with a live poll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21424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mails per page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12064" y="4279392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12064" y="4279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Segmentation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660904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mail to one source label and one category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821424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labels, 9 categories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12064" y="4663440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512064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Event extraction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2660904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title, date, time, venue and links from the body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821424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weighted keywords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12064" y="5047488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512064" y="5047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Registration links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660904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the registration URL to a button on the event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821424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 classes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12064" y="5431536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512064" y="5431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Google Calendar sync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60904" y="5431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existing calendars, pushes events back reversibly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821424" y="5431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events read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12064" y="5815584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512064" y="5815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Responsive interface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2660904" y="5815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across desktop and mobile, with dark mode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821424" y="5815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breakpoints, 2 themes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12064" y="6199632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8887968" y="3566160"/>
            <a:ext cx="0" cy="246888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9107424" y="38770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</a:t>
            </a:r>
            <a:endParaRPr lang="en-US" sz="2900" dirty="0"/>
          </a:p>
        </p:txBody>
      </p:sp>
      <p:sp>
        <p:nvSpPr>
          <p:cNvPr id="64" name="Text 61"/>
          <p:cNvSpPr/>
          <p:nvPr/>
        </p:nvSpPr>
        <p:spPr>
          <a:xfrm>
            <a:off x="9107424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live on the calendar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9107424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</a:t>
            </a:r>
            <a:endParaRPr lang="en-US" sz="2900" dirty="0"/>
          </a:p>
        </p:txBody>
      </p:sp>
      <p:sp>
        <p:nvSpPr>
          <p:cNvPr id="66" name="Text 63"/>
          <p:cNvSpPr/>
          <p:nvPr/>
        </p:nvSpPr>
        <p:spPr>
          <a:xfrm>
            <a:off x="9107424" y="5212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passing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9107424" y="55595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</a:rPr>
              <a:t>100%</a:t>
            </a:r>
            <a:endParaRPr lang="en-US" sz="2900" dirty="0"/>
          </a:p>
        </p:txBody>
      </p:sp>
      <p:sp>
        <p:nvSpPr>
          <p:cNvPr id="68" name="Text 65"/>
          <p:cNvSpPr/>
          <p:nvPr/>
        </p:nvSpPr>
        <p:spPr>
          <a:xfrm>
            <a:off x="9107424" y="6053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of listing events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differentiator is segmentation: four tiers resolve every mail onto 18 source labels and 9 calendar categories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generated from the student's own Gmail filter export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172200"/>
            <a:ext cx="11173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Tier 2 evaluates the same query grammar Gmail uses: from, to, cc, subject, negation, OR and parentheses; subject tags such as [Gen NB] and [PLACECOM] outrank sender rules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backend/rules_engine.py, backend/categories.py; rule set generated from gmail_filters_import.xml, 21 rules covering 18 labels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tiers, most certain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mail stops at the first tier that matches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2064" y="1993392"/>
            <a:ext cx="548640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064" y="2084832"/>
            <a:ext cx="82296" cy="347472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76656" y="202996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53312" y="2029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already applied by the student's Gmail filters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Authoritative, zero logic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2064" y="2505456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12064" y="2596896"/>
            <a:ext cx="82296" cy="34747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76656" y="254203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53312" y="25420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21 filter rules, re-evaluated inside the app¹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sender patterns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2064" y="3017520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12064" y="3108960"/>
            <a:ext cx="82296" cy="34747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76656" y="305409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353312" y="30540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senders: LinkedIn, Unstop, Coursera, banks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26864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rules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064" y="3529584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12064" y="3621024"/>
            <a:ext cx="82296" cy="347472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76656" y="35661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353312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keywords; highest score wins, else Other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26864" y="3566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keywords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2064" y="4041648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12064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alone does not create an event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2064" y="4498848"/>
            <a:ext cx="548640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12064" y="4599432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12064" y="4599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86384" y="45445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parseable, future date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615184" y="4544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reply text stripped first, so an older message cannot create a phantom event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12064" y="4882896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512064" y="4983480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12064" y="4983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86384" y="49286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corroborating signal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615184" y="4928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time, a venue, or event language; a vague date needs one of them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2064" y="5266944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512064" y="5367528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512064" y="5367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86384" y="53126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already on the calendar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2615184" y="5312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on Gmail message id, and on same title with same date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12064" y="5650992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512064" y="5724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mail is not lost, it keeps a one click Add to calendar button that opens the same parsed draft for the student to confirm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400800" y="1463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axes decide where it lands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400800" y="17007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and colour are kept separate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400800" y="20116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1: source label, 18 values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400800" y="22494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Notices, Assignments &amp; Quizzes, Placement Committee, Career Clubs, Other Clubs, Seminars &amp; Talks, Section Admin, REM &amp; Doubt Sessions, Course Forums, General Notice Board, Student Governance, SIF, Hostel &amp; Facilities, Wellness, Library, The Ken, Form Receipts, Personal &amp; Govt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400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the calendar layer and carries provenance on every event. Four labels are denylisted and never create events: The Ken, Form Receipts, Library, Personal &amp; Govt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400800" y="3145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2: category, 9 values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400800" y="3483864"/>
            <a:ext cx="137160" cy="1371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6620256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 &amp; quizzes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8065008" y="3483864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8284464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9729216" y="3483864"/>
            <a:ext cx="13716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9948672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400800" y="3794760"/>
            <a:ext cx="137160" cy="137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6620256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8065008" y="3794760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8284464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9729216" y="3794760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9948672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&amp; seminars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400800" y="4105656"/>
            <a:ext cx="137160" cy="137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6620256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events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8065008" y="4105656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8284464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&amp; admin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9729216" y="4105656"/>
            <a:ext cx="137160" cy="137160"/>
          </a:xfrm>
          <a:prstGeom prst="rect">
            <a:avLst/>
          </a:prstGeom>
          <a:solidFill>
            <a:srgbClr val="8B8D98"/>
          </a:solidFill>
          <a:ln w="12700">
            <a:solidFill>
              <a:srgbClr val="8B8D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9948672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6400800" y="4407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colour on the calendar and the category filter. Nine colours read cleanly on a month grid; eighteen do not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400800" y="4919472"/>
            <a:ext cx="49377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4"/>
          <p:cNvSpPr/>
          <p:nvPr/>
        </p:nvSpPr>
        <p:spPr>
          <a:xfrm>
            <a:off x="6400800" y="49926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example, one real inbox mail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400800" y="523036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“Re: [COMPETITION] Brand Baazigar 2026” from niche@iima.ac.in.  Tier 2 matches the Career Clubs rule; that label maps to Workshops by default; the word COMPETITION scores higher within the activity set, so the category becomes Club events; Career Clubs is a broadcast label, so it lands on the campus calendar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prototype is live end to end: every capability runs today, on one build, across every device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from the live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interface and repository; python test_classification.py, 5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2064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13232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ingestion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only, paged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16480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517648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7648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tiers, 18 labels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20896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322064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22064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date, 6 time formats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25312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26480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on the event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29728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930896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30896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reversible push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534144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735312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735312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desktop, mobile, dark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" y="1956816"/>
            <a:ext cx="10826496" cy="0"/>
          </a:xfrm>
          <a:prstGeom prst="line">
            <a:avLst/>
          </a:prstGeom>
          <a:noFill/>
          <a:ln w="635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0" descr="/tmp/img_deck/s2119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7" y="2103120"/>
            <a:ext cx="3837813" cy="1645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2064" y="3822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Desktop: month grid, agenda rail, campus and personal layers in one view</a:t>
            </a:r>
            <a:endParaRPr lang="en-US" sz="850" dirty="0"/>
          </a:p>
        </p:txBody>
      </p:sp>
      <p:pic>
        <p:nvPicPr>
          <p:cNvPr id="30" name="Image 1" descr="/tmp/img_deck/s212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698" y="4169664"/>
            <a:ext cx="3931691" cy="16459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2064" y="5870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mode: identical layout, theme switched from the top bar</a:t>
            </a:r>
            <a:endParaRPr lang="en-US" sz="850" dirty="0"/>
          </a:p>
        </p:txBody>
      </p:sp>
      <p:pic>
        <p:nvPicPr>
          <p:cNvPr id="32" name="Image 2" descr="/tmp/img_deck/s2128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379" y="2103120"/>
            <a:ext cx="1350171" cy="2926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45352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Month grid becomes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dot grid</a:t>
            </a:r>
            <a:endParaRPr lang="en-US" sz="850" dirty="0"/>
          </a:p>
        </p:txBody>
      </p:sp>
      <p:pic>
        <p:nvPicPr>
          <p:cNvPr id="34" name="Image 3" descr="/tmp/img_deck/s2128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292" y="2103120"/>
            <a:ext cx="1345912" cy="29260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46136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grouped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day</a:t>
            </a:r>
            <a:endParaRPr lang="en-US" sz="850" dirty="0"/>
          </a:p>
        </p:txBody>
      </p:sp>
      <p:pic>
        <p:nvPicPr>
          <p:cNvPr id="36" name="Image 4" descr="/tmp/img_deck/s2129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2383" y="2103120"/>
            <a:ext cx="1341298" cy="29260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46920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from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6355080" y="56144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automated checks pass on every build,  </a:t>
            </a: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rule coverage, label routing, the denylist, tier precedence, the surety gate, quoted reply handling, link extraction and time formats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33856"/>
            <a:ext cx="1371600" cy="0"/>
          </a:xfrm>
          <a:prstGeom prst="line">
            <a:avLst/>
          </a:prstGeom>
          <a:noFill/>
          <a:ln w="1905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100 scattered mails to one calendar that fills itself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00784"/>
            <a:ext cx="468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running on a live inbox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97993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walkthrough of the working prototype: sign in with Google, watch 100 mails classify in seconds, open a parsed event with its registration link, and push the whole calendar to Google Calendar.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56000" y="4446017"/>
            <a:ext cx="4937760" cy="0"/>
          </a:xfrm>
          <a:prstGeom prst="line">
            <a:avLst/>
          </a:prstGeom>
          <a:noFill/>
          <a:ln w="9525">
            <a:solidFill>
              <a:srgbClr val="1E3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hlinkClick r:id="rId3"/>
          </p:cNvPr>
          <p:cNvSpPr/>
          <p:nvPr/>
        </p:nvSpPr>
        <p:spPr>
          <a:xfrm>
            <a:off x="418662" y="4674757"/>
            <a:ext cx="548640" cy="548640"/>
          </a:xfrm>
          <a:prstGeom prst="ellipse">
            <a:avLst/>
          </a:prstGeom>
          <a:solidFill>
            <a:srgbClr val="051C2C"/>
          </a:solidFill>
          <a:ln w="15875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rot="5400000">
            <a:off x="633546" y="4848493"/>
            <a:ext cx="182880" cy="201168"/>
          </a:xfrm>
          <a:prstGeom prst="triangl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68470" y="4656469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168470" y="4967365"/>
            <a:ext cx="601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https://drive.google.com/file/d/1V9spOImLvVjOKSwhh0pQ9pZnEI9uTpPA/view?usp=sharing</a:t>
            </a:r>
          </a:p>
        </p:txBody>
      </p:sp>
      <p:sp>
        <p:nvSpPr>
          <p:cNvPr id="11" name="Text 9"/>
          <p:cNvSpPr/>
          <p:nvPr/>
        </p:nvSpPr>
        <p:spPr>
          <a:xfrm>
            <a:off x="3164840" y="5466948"/>
            <a:ext cx="709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can also be run locally from the submitted repository, against any Google account.</a:t>
            </a:r>
            <a:endParaRPr lang="en-US" sz="1000" dirty="0"/>
          </a:p>
        </p:txBody>
      </p:sp>
      <p:pic>
        <p:nvPicPr>
          <p:cNvPr id="12" name="Image 0" descr="/tmp/img_deck/s212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298448"/>
            <a:ext cx="5394960" cy="24505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43600" y="1298448"/>
            <a:ext cx="5394960" cy="2258487"/>
          </a:xfrm>
          <a:prstGeom prst="rect">
            <a:avLst/>
          </a:prstGeom>
          <a:ln w="9525">
            <a:solidFill>
              <a:srgbClr val="1E3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43600" y="3960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calendar shown in the demo, built entirely from mail that was already in the inbox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22960" y="6181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prototype, live IIMA Gmail account, 5 August 2026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881360" y="6181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D68CFB7-BCB3-72A0-3275-B99996B2A4DB}"/>
              </a:ext>
            </a:extLst>
          </p:cNvPr>
          <p:cNvSpPr/>
          <p:nvPr/>
        </p:nvSpPr>
        <p:spPr>
          <a:xfrm>
            <a:off x="7181454" y="4809762"/>
            <a:ext cx="4187952" cy="57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  <a:hlinkClick r:id="rId5"/>
              </a:rPr>
              <a:t>GitHub Repo (Code files)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- Link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1575</Words>
  <Application>Microsoft Office PowerPoint</Application>
  <PresentationFormat>Widescreen</PresentationFormat>
  <Paragraphs>188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CampusCal</dc:title>
  <dc:subject>PptxGenJS Presentation</dc:subject>
  <dc:creator>Agile CCC Ideathon</dc:creator>
  <cp:lastModifiedBy>Madan P</cp:lastModifiedBy>
  <cp:revision>3</cp:revision>
  <dcterms:created xsi:type="dcterms:W3CDTF">2026-08-05T18:25:21Z</dcterms:created>
  <dcterms:modified xsi:type="dcterms:W3CDTF">2026-08-05T19:44:37Z</dcterms:modified>
</cp:coreProperties>
</file>